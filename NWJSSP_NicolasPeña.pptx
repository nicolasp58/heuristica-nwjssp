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" name="Google Shape;11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4" name="Google Shape;19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7" name="Google Shape;427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8" name="Google Shape;43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9" name="Google Shape;44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9" name="Google Shape;47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4" name="Google Shape;544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2" name="Google Shape;572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65A8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C7293">
              <a:alpha val="40000"/>
            </a:srgbClr>
          </a:solidFill>
          <a:ln cap="flat" cmpd="sng" w="12700">
            <a:solidFill>
              <a:srgbClr val="1C7293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0" y="4297680"/>
            <a:ext cx="9144000" cy="845820"/>
          </a:xfrm>
          <a:prstGeom prst="rect">
            <a:avLst/>
          </a:prstGeom>
          <a:solidFill>
            <a:srgbClr val="0A9396">
              <a:alpha val="30196"/>
            </a:srgbClr>
          </a:solidFill>
          <a:ln cap="flat" cmpd="sng" w="12700">
            <a:solidFill>
              <a:srgbClr val="0A939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457200" y="548640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4D8"/>
              </a:buClr>
              <a:buSzPts val="1400"/>
              <a:buFont typeface="Trebuchet MS"/>
              <a:buNone/>
            </a:pPr>
            <a:r>
              <a:rPr b="0" i="0" lang="en-US" sz="1400" u="none" cap="none" strike="noStrike">
                <a:solidFill>
                  <a:srgbClr val="A0C4D8"/>
                </a:solidFill>
                <a:latin typeface="Trebuchet MS"/>
                <a:ea typeface="Trebuchet MS"/>
                <a:cs typeface="Trebuchet MS"/>
                <a:sym typeface="Trebuchet MS"/>
              </a:rPr>
              <a:t>No-Wait Job Shop Scheduling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57200" y="1097280"/>
            <a:ext cx="73152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Trebuchet MS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Métodos Constructivos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Trebuchet MS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y Aleatorizados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457200" y="288036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600"/>
              <a:buFont typeface="Trebuchet MS"/>
              <a:buNone/>
            </a:pPr>
            <a:r>
              <a:rPr b="0" i="1" lang="en-US" sz="1600" u="none" cap="none" strike="noStrike">
                <a:solidFill>
                  <a:srgbClr val="0A9396"/>
                </a:solidFill>
                <a:latin typeface="Trebuchet MS"/>
                <a:ea typeface="Trebuchet MS"/>
                <a:cs typeface="Trebuchet MS"/>
                <a:sym typeface="Trebuchet MS"/>
              </a:rPr>
              <a:t>Greedy · GRASP · Noising Method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457200" y="3383280"/>
            <a:ext cx="2743200" cy="36576"/>
          </a:xfrm>
          <a:prstGeom prst="rect">
            <a:avLst/>
          </a:prstGeom>
          <a:solidFill>
            <a:srgbClr val="0A9396"/>
          </a:solidFill>
          <a:ln cap="flat" cmpd="sng" w="12700">
            <a:solidFill>
              <a:srgbClr val="0A93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3"/>
          <p:cNvSpPr/>
          <p:nvPr/>
        </p:nvSpPr>
        <p:spPr>
          <a:xfrm>
            <a:off x="457200" y="356616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Trebuchet MS"/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Trebuchet MS"/>
                <a:ea typeface="Trebuchet MS"/>
                <a:cs typeface="Trebuchet MS"/>
                <a:sym typeface="Trebuchet MS"/>
              </a:rPr>
              <a:t>Nicolás Peña  ·  Heurística  ·  Universidad EAFIT  · 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F4F4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4"/>
          <p:cNvSpPr/>
          <p:nvPr/>
        </p:nvSpPr>
        <p:spPr>
          <a:xfrm>
            <a:off x="320040" y="6400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4D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A0C4D8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320040" y="59436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Contenido de la presentación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320040" y="1170432"/>
            <a:ext cx="1097280" cy="36576"/>
          </a:xfrm>
          <a:prstGeom prst="rect">
            <a:avLst/>
          </a:prstGeom>
          <a:solidFill>
            <a:srgbClr val="0A9396"/>
          </a:solidFill>
          <a:ln cap="flat" cmpd="sng" w="12700">
            <a:solidFill>
              <a:srgbClr val="0A93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320040" y="1371600"/>
            <a:ext cx="411480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320040" y="1371600"/>
            <a:ext cx="475488" cy="621792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320040" y="1371600"/>
            <a:ext cx="47548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886968" y="1371600"/>
            <a:ext cx="3474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Definición del problema NWJSSP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320040" y="2148840"/>
            <a:ext cx="411480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320040" y="2148840"/>
            <a:ext cx="475488" cy="621792"/>
          </a:xfrm>
          <a:prstGeom prst="rect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320040" y="2148840"/>
            <a:ext cx="47548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886968" y="2148840"/>
            <a:ext cx="3474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Algoritmos implementados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320040" y="2926080"/>
            <a:ext cx="411480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320040" y="2926080"/>
            <a:ext cx="475488" cy="621792"/>
          </a:xfrm>
          <a:prstGeom prst="rect">
            <a:avLst/>
          </a:prstGeom>
          <a:solidFill>
            <a:srgbClr val="0A9396"/>
          </a:solidFill>
          <a:ln cap="flat" cmpd="sng" w="12700">
            <a:solidFill>
              <a:srgbClr val="0A93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320040" y="2926080"/>
            <a:ext cx="47548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886968" y="2926080"/>
            <a:ext cx="3474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Cota inferior (Lower Bound)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320040" y="3703320"/>
            <a:ext cx="411480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320040" y="3703320"/>
            <a:ext cx="475488" cy="621792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320040" y="3703320"/>
            <a:ext cx="47548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886968" y="3703320"/>
            <a:ext cx="3474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Comparación de parámetros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4754880" y="1371600"/>
            <a:ext cx="411480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4754880" y="1371600"/>
            <a:ext cx="475488" cy="621792"/>
          </a:xfrm>
          <a:prstGeom prst="rect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754880" y="1371600"/>
            <a:ext cx="47548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5321808" y="1371600"/>
            <a:ext cx="3474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Comparación entre métodos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4754880" y="2148840"/>
            <a:ext cx="411480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4754880" y="2148840"/>
            <a:ext cx="475488" cy="621792"/>
          </a:xfrm>
          <a:prstGeom prst="rect">
            <a:avLst/>
          </a:prstGeom>
          <a:solidFill>
            <a:srgbClr val="0A9396"/>
          </a:solidFill>
          <a:ln cap="flat" cmpd="sng" w="12700">
            <a:solidFill>
              <a:srgbClr val="0A93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4754880" y="2148840"/>
            <a:ext cx="47548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5321808" y="2148840"/>
            <a:ext cx="3474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Tiempo de cómputo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4754880" y="2926080"/>
            <a:ext cx="411480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4754880" y="2926080"/>
            <a:ext cx="475488" cy="621792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4754880" y="2926080"/>
            <a:ext cx="47548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5321808" y="2926080"/>
            <a:ext cx="3474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Conclusiones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F4F4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320040" y="6400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4D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A0C4D8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320040" y="59436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200"/>
              <a:buFont typeface="Trebuchet MS"/>
              <a:buNone/>
            </a:pPr>
            <a:r>
              <a:rPr b="1" i="0" lang="en-US" sz="22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No-Wait Job Shop Scheduling Problem (NWJSSP)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320040" y="1170432"/>
            <a:ext cx="1097280" cy="36576"/>
          </a:xfrm>
          <a:prstGeom prst="rect">
            <a:avLst/>
          </a:prstGeom>
          <a:solidFill>
            <a:srgbClr val="0A9396"/>
          </a:solidFill>
          <a:ln cap="flat" cmpd="sng" w="12700">
            <a:solidFill>
              <a:srgbClr val="0A93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274320" y="1325880"/>
            <a:ext cx="5120640" cy="3383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411480" y="1417320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Definición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411480" y="1783080"/>
            <a:ext cx="4846320" cy="2651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 trabajos, m máquinas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Cada trabajo j tiene una secuencia fija de operaciones (ruta) con tiempos p_ju en máquinas m_ju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Release date r_j: el trabajo j no puede iniciar antes de este instante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Restricción NO-WAIT: una vez iniciado, el trabajo continúa sin interrupciones entre operaciones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Cada máquina procesa un solo trabajo a la vez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5577840" y="1325880"/>
            <a:ext cx="3291840" cy="338328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5"/>
          <p:cNvSpPr/>
          <p:nvPr/>
        </p:nvSpPr>
        <p:spPr>
          <a:xfrm>
            <a:off x="5715000" y="146304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Formulación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5715000" y="192024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Variable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6903720" y="1965960"/>
            <a:ext cx="1828800" cy="384048"/>
          </a:xfrm>
          <a:prstGeom prst="rect">
            <a:avLst/>
          </a:prstGeom>
          <a:solidFill>
            <a:srgbClr val="1C7293">
              <a:alpha val="50196"/>
            </a:srgbClr>
          </a:solidFill>
          <a:ln cap="flat" cmpd="sng" w="12700">
            <a:solidFill>
              <a:srgbClr val="1C7293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6949440" y="1965960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s_j = tiempo inicio de j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715000" y="2578608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Completación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6903720" y="2624328"/>
            <a:ext cx="1828800" cy="384048"/>
          </a:xfrm>
          <a:prstGeom prst="rect">
            <a:avLst/>
          </a:prstGeom>
          <a:solidFill>
            <a:srgbClr val="1C7293">
              <a:alpha val="50196"/>
            </a:srgbClr>
          </a:solidFill>
          <a:ln cap="flat" cmpd="sng" w="12700">
            <a:solidFill>
              <a:srgbClr val="1C7293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5"/>
          <p:cNvSpPr/>
          <p:nvPr/>
        </p:nvSpPr>
        <p:spPr>
          <a:xfrm>
            <a:off x="6949440" y="2624328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C_j = s_j + Σ p_ju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5715000" y="3236976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6903720" y="3282696"/>
            <a:ext cx="1828800" cy="384048"/>
          </a:xfrm>
          <a:prstGeom prst="rect">
            <a:avLst/>
          </a:prstGeom>
          <a:solidFill>
            <a:srgbClr val="1C7293">
              <a:alpha val="50196"/>
            </a:srgbClr>
          </a:solidFill>
          <a:ln cap="flat" cmpd="sng" w="12700">
            <a:solidFill>
              <a:srgbClr val="1C7293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5"/>
          <p:cNvSpPr/>
          <p:nvPr/>
        </p:nvSpPr>
        <p:spPr>
          <a:xfrm>
            <a:off x="6949440" y="3282696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Minimizar Z = Σ C_j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5715000" y="3895344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Cota inf.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6903720" y="3941064"/>
            <a:ext cx="1828800" cy="384048"/>
          </a:xfrm>
          <a:prstGeom prst="rect">
            <a:avLst/>
          </a:prstGeom>
          <a:solidFill>
            <a:srgbClr val="1C7293">
              <a:alpha val="50196"/>
            </a:srgbClr>
          </a:solidFill>
          <a:ln cap="flat" cmpd="sng" w="12700">
            <a:solidFill>
              <a:srgbClr val="1C7293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5"/>
          <p:cNvSpPr/>
          <p:nvPr/>
        </p:nvSpPr>
        <p:spPr>
          <a:xfrm>
            <a:off x="6949440" y="3941064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LB = Σ (r_j + total_j)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F4F4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6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320040" y="6400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4D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A0C4D8"/>
                </a:solidFill>
                <a:latin typeface="Calibri"/>
                <a:ea typeface="Calibri"/>
                <a:cs typeface="Calibri"/>
                <a:sym typeface="Calibri"/>
              </a:rPr>
              <a:t>ALGORITMOS IMPLEMENTADOS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320040" y="59436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Algoritmo 1 — Greedy Determinístico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320040" y="1170432"/>
            <a:ext cx="1097280" cy="36576"/>
          </a:xfrm>
          <a:prstGeom prst="rect">
            <a:avLst/>
          </a:prstGeom>
          <a:solidFill>
            <a:srgbClr val="0A9396"/>
          </a:solidFill>
          <a:ln cap="flat" cmpd="sng" w="12700">
            <a:solidFill>
              <a:srgbClr val="0A93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6"/>
          <p:cNvSpPr/>
          <p:nvPr/>
        </p:nvSpPr>
        <p:spPr>
          <a:xfrm>
            <a:off x="274320" y="1325880"/>
            <a:ext cx="4114800" cy="3383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6"/>
          <p:cNvSpPr/>
          <p:nvPr/>
        </p:nvSpPr>
        <p:spPr>
          <a:xfrm>
            <a:off x="411480" y="141732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Estrategia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411480" y="1783080"/>
            <a:ext cx="3840480" cy="2834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Paso 1 — Primer trabajo (SPT):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Seleccionar el trabajo con menor tiempo total de procesamiento  Σ p_ju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Pasos 2 a n — Selección dinámica: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Para cada trabajo j pendiente: calcular su earliest start s_j dado el estado de las máquinas, evaluar C_j = s_j + total_j y elegir el de menor C_j.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Desempate: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Menor tiempo total de procesamiento (criterio SPT)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/>
          <p:nvPr/>
        </p:nvSpPr>
        <p:spPr>
          <a:xfrm>
            <a:off x="4572000" y="1325880"/>
            <a:ext cx="4297680" cy="3383280"/>
          </a:xfrm>
          <a:prstGeom prst="rect">
            <a:avLst/>
          </a:prstGeom>
          <a:solidFill>
            <a:srgbClr val="1A2F3F"/>
          </a:solidFill>
          <a:ln cap="flat" cmpd="sng" w="12700">
            <a:solidFill>
              <a:srgbClr val="1A2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6"/>
          <p:cNvSpPr/>
          <p:nvPr/>
        </p:nvSpPr>
        <p:spPr>
          <a:xfrm>
            <a:off x="4709160" y="141732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Pseudocódigo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4709160" y="1828800"/>
            <a:ext cx="402336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first_job ← argmin totals[j]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s_first ← earliest_start(first_job)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scheduled ← [first_job]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while unscheduled ≠ ∅: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for j in unscheduled: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  s_j ← earliest_start(j, tracker)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  C_j ← s_j + total_j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best ← argmin C_j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update_tracker(best, s_best)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scheduled.append(best)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Z ← Σ (s_j + total_j)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F4F4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7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7"/>
          <p:cNvSpPr/>
          <p:nvPr/>
        </p:nvSpPr>
        <p:spPr>
          <a:xfrm>
            <a:off x="320040" y="6400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4D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A0C4D8"/>
                </a:solidFill>
                <a:latin typeface="Calibri"/>
                <a:ea typeface="Calibri"/>
                <a:cs typeface="Calibri"/>
                <a:sym typeface="Calibri"/>
              </a:rPr>
              <a:t>ALGORITMOS IMPLEMENTADOS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7"/>
          <p:cNvSpPr/>
          <p:nvPr/>
        </p:nvSpPr>
        <p:spPr>
          <a:xfrm>
            <a:off x="320040" y="59436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Algoritmo 2 — GRASP (Greedy Randomized Adaptive Search)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/>
          <p:nvPr/>
        </p:nvSpPr>
        <p:spPr>
          <a:xfrm>
            <a:off x="274320" y="1325880"/>
            <a:ext cx="4114800" cy="3383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7"/>
          <p:cNvSpPr/>
          <p:nvPr/>
        </p:nvSpPr>
        <p:spPr>
          <a:xfrm>
            <a:off x="411480" y="141732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Estrategia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411480" y="1783080"/>
            <a:ext cx="3840480" cy="2834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Repetir nsol veces:</a:t>
            </a:r>
            <a:b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1. Para cada candidato j calcular C_j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2. Construir la RCL: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   C_j ≤ C_min + α·(C_max − C_min)</a:t>
            </a:r>
            <a:br>
              <a:rPr b="0" i="0" lang="en-US" sz="1050" u="none" cap="none" strike="noStrike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3. Elegir un trabajo al azar de la RCL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Retener la mejor solución de las nsol.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α = 0  →  solo el mejor (greedy puro)</a:t>
            </a:r>
            <a:br>
              <a:rPr b="0" i="0" lang="en-US" sz="115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α = 1  →  todos candidatos (aleatorio)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4572000" y="1325880"/>
            <a:ext cx="4297680" cy="3383280"/>
          </a:xfrm>
          <a:prstGeom prst="rect">
            <a:avLst/>
          </a:prstGeom>
          <a:solidFill>
            <a:srgbClr val="1A2F3F"/>
          </a:solidFill>
          <a:ln cap="flat" cmpd="sng" w="12700">
            <a:solidFill>
              <a:srgbClr val="1A2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7"/>
          <p:cNvSpPr/>
          <p:nvPr/>
        </p:nvSpPr>
        <p:spPr>
          <a:xfrm>
            <a:off x="4709160" y="141732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Pseudocódigo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4709160" y="1828800"/>
            <a:ext cx="402336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for it in range(nsol):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tracker ← {}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while unscheduled ≠ ∅: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  candidates ← [(j, C_j) ...]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  C_min, C_max ← min/max(C_j)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  thresh ← C_min + α*(C_max-C_min)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  RCL ← [j : C_j ≤ thresh]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  j_sel ← random.choice(RCL)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  update_tracker(j_sel)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Z ← Σ C_j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  if Z &lt; best_Z: best ← solution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D8EF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A0D8EF"/>
                </a:solidFill>
                <a:latin typeface="Consolas"/>
                <a:ea typeface="Consolas"/>
                <a:cs typeface="Consolas"/>
                <a:sym typeface="Consolas"/>
              </a:rPr>
              <a:t>return best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F4F4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8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8"/>
          <p:cNvSpPr/>
          <p:nvPr/>
        </p:nvSpPr>
        <p:spPr>
          <a:xfrm>
            <a:off x="320040" y="6400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4D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A0C4D8"/>
                </a:solidFill>
                <a:latin typeface="Calibri"/>
                <a:ea typeface="Calibri"/>
                <a:cs typeface="Calibri"/>
                <a:sym typeface="Calibri"/>
              </a:rPr>
              <a:t>ALGORITMOS IMPLEMENTADOS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8"/>
          <p:cNvSpPr/>
          <p:nvPr/>
        </p:nvSpPr>
        <p:spPr>
          <a:xfrm>
            <a:off x="320040" y="59436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Algoritmo 3 — Noising Method (Método con Ruido)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8"/>
          <p:cNvSpPr/>
          <p:nvPr/>
        </p:nvSpPr>
        <p:spPr>
          <a:xfrm>
            <a:off x="320040" y="1170432"/>
            <a:ext cx="1097280" cy="36576"/>
          </a:xfrm>
          <a:prstGeom prst="rect">
            <a:avLst/>
          </a:prstGeom>
          <a:solidFill>
            <a:srgbClr val="0A9396"/>
          </a:solidFill>
          <a:ln cap="flat" cmpd="sng" w="12700">
            <a:solidFill>
              <a:srgbClr val="0A93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8"/>
          <p:cNvSpPr/>
          <p:nvPr/>
        </p:nvSpPr>
        <p:spPr>
          <a:xfrm>
            <a:off x="274320" y="1325880"/>
            <a:ext cx="4114800" cy="3383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8"/>
          <p:cNvSpPr/>
          <p:nvPr/>
        </p:nvSpPr>
        <p:spPr>
          <a:xfrm>
            <a:off x="411492" y="1353295"/>
            <a:ext cx="3840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Estrategia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8"/>
          <p:cNvSpPr/>
          <p:nvPr/>
        </p:nvSpPr>
        <p:spPr>
          <a:xfrm>
            <a:off x="411480" y="1783080"/>
            <a:ext cx="3840480" cy="2834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Repetir nsol veces:</a:t>
            </a:r>
            <a:br>
              <a:rPr b="1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1. Para cada candidato j perturbar su costo: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   C_j* = C_j × (1 + r × U(-1,1))</a:t>
            </a:r>
            <a:br>
              <a:rPr b="0" i="0" lang="en-US" sz="1050" u="none" cap="none" strike="noStrike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b="0" i="0" lang="en-US" sz="1050" u="none" cap="none" strike="noStrike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2. Elegir el j con menor C_j* (siempre uno solo)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3. Registrar el s_j real (sin ruido)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Retener la mejor solución de las nsol.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r = 0  →  greedy puro (sin ruido)</a:t>
            </a:r>
            <a:br>
              <a:rPr b="0" i="0" lang="en-US" sz="115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r alto  →  destruye la guía greedy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8"/>
          <p:cNvSpPr/>
          <p:nvPr/>
        </p:nvSpPr>
        <p:spPr>
          <a:xfrm>
            <a:off x="4572000" y="1325880"/>
            <a:ext cx="4297680" cy="3383280"/>
          </a:xfrm>
          <a:prstGeom prst="rect">
            <a:avLst/>
          </a:prstGeom>
          <a:solidFill>
            <a:srgbClr val="1A2F3F"/>
          </a:solidFill>
          <a:ln cap="flat" cmpd="sng" w="12700">
            <a:solidFill>
              <a:srgbClr val="1A2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8"/>
          <p:cNvSpPr/>
          <p:nvPr/>
        </p:nvSpPr>
        <p:spPr>
          <a:xfrm>
            <a:off x="4709160" y="141732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Diferencia clave vs GRASP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8"/>
          <p:cNvSpPr/>
          <p:nvPr/>
        </p:nvSpPr>
        <p:spPr>
          <a:xfrm>
            <a:off x="4709160" y="1828800"/>
            <a:ext cx="402336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DD3F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7DD3FC"/>
                </a:solidFill>
                <a:latin typeface="Calibri"/>
                <a:ea typeface="Calibri"/>
                <a:cs typeface="Calibri"/>
                <a:sym typeface="Calibri"/>
              </a:rPr>
              <a:t>GRASP</a:t>
            </a:r>
            <a:br>
              <a:rPr b="1" i="0" lang="en-US" sz="1100" u="none" cap="none" strike="noStrike">
                <a:solidFill>
                  <a:srgbClr val="7DD3FC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Construye una lista de candidatos calificados y elige uniformemente entre ellos. La diversidad viene de quién entra en la RCL.</a:t>
            </a:r>
            <a:br>
              <a:rPr b="0" i="0" lang="en-US" sz="11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1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A5A5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CA5A5"/>
                </a:solidFill>
                <a:latin typeface="Calibri"/>
                <a:ea typeface="Calibri"/>
                <a:cs typeface="Calibri"/>
                <a:sym typeface="Calibri"/>
              </a:rPr>
              <a:t>Noise</a:t>
            </a:r>
            <a:br>
              <a:rPr b="1" i="0" lang="en-US" sz="1100" u="none" cap="none" strike="noStrike">
                <a:solidFill>
                  <a:srgbClr val="FCA5A5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Siempre elige un solo trabajo — el de menor costo perturbado. La diversidad viene de la distorsión aleatoria del criterio.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F4F4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9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9"/>
          <p:cNvSpPr/>
          <p:nvPr/>
        </p:nvSpPr>
        <p:spPr>
          <a:xfrm>
            <a:off x="320040" y="6400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4D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A0C4D8"/>
                </a:solidFill>
                <a:latin typeface="Calibri"/>
                <a:ea typeface="Calibri"/>
                <a:cs typeface="Calibri"/>
                <a:sym typeface="Calibri"/>
              </a:rPr>
              <a:t>COTA INFERIOR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9"/>
          <p:cNvSpPr/>
          <p:nvPr/>
        </p:nvSpPr>
        <p:spPr>
          <a:xfrm>
            <a:off x="320040" y="59436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Cota Inferior (Lower Bound)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9"/>
          <p:cNvSpPr/>
          <p:nvPr/>
        </p:nvSpPr>
        <p:spPr>
          <a:xfrm>
            <a:off x="320040" y="1170432"/>
            <a:ext cx="1097280" cy="36576"/>
          </a:xfrm>
          <a:prstGeom prst="rect">
            <a:avLst/>
          </a:prstGeom>
          <a:solidFill>
            <a:srgbClr val="0A9396"/>
          </a:solidFill>
          <a:ln cap="flat" cmpd="sng" w="12700">
            <a:solidFill>
              <a:srgbClr val="0A93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9"/>
          <p:cNvSpPr/>
          <p:nvPr/>
        </p:nvSpPr>
        <p:spPr>
          <a:xfrm>
            <a:off x="274320" y="1325880"/>
            <a:ext cx="8595360" cy="82296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9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800"/>
              <a:buFont typeface="Consolas"/>
              <a:buNone/>
            </a:pPr>
            <a:r>
              <a:rPr b="1" i="0" lang="en-US" sz="1800" u="none" cap="none" strike="noStrike">
                <a:solidFill>
                  <a:srgbClr val="0A9396"/>
                </a:solidFill>
                <a:latin typeface="Consolas"/>
                <a:ea typeface="Consolas"/>
                <a:cs typeface="Consolas"/>
                <a:sym typeface="Consolas"/>
              </a:rPr>
              <a:t>LB  =  Σ_j ( r_j + total_j )      total_j = Σ_u p_ju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274320" y="2331720"/>
            <a:ext cx="2743200" cy="23317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9"/>
          <p:cNvSpPr/>
          <p:nvPr/>
        </p:nvSpPr>
        <p:spPr>
          <a:xfrm>
            <a:off x="274320" y="2331720"/>
            <a:ext cx="2743200" cy="365760"/>
          </a:xfrm>
          <a:prstGeom prst="rect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"/>
          <p:cNvSpPr/>
          <p:nvPr/>
        </p:nvSpPr>
        <p:spPr>
          <a:xfrm>
            <a:off x="365760" y="233172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¿Qué relaja?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/>
          <p:nvPr/>
        </p:nvSpPr>
        <p:spPr>
          <a:xfrm>
            <a:off x="365760" y="2761488"/>
            <a:ext cx="25603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Ignora todos los conflictos de máquinas. Asume que cada trabajo puede procesarse en sus máquinas en paralelo sin restricción de concurrencia.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9"/>
          <p:cNvSpPr/>
          <p:nvPr/>
        </p:nvSpPr>
        <p:spPr>
          <a:xfrm>
            <a:off x="3172968" y="2331720"/>
            <a:ext cx="2743200" cy="23317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9"/>
          <p:cNvSpPr/>
          <p:nvPr/>
        </p:nvSpPr>
        <p:spPr>
          <a:xfrm>
            <a:off x="3172968" y="2331720"/>
            <a:ext cx="2743200" cy="365760"/>
          </a:xfrm>
          <a:prstGeom prst="rect">
            <a:avLst/>
          </a:prstGeom>
          <a:solidFill>
            <a:srgbClr val="0A9396"/>
          </a:solidFill>
          <a:ln cap="flat" cmpd="sng" w="12700">
            <a:solidFill>
              <a:srgbClr val="0A93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9"/>
          <p:cNvSpPr/>
          <p:nvPr/>
        </p:nvSpPr>
        <p:spPr>
          <a:xfrm>
            <a:off x="3264408" y="233172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¿Por qué sirve?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9"/>
          <p:cNvSpPr/>
          <p:nvPr/>
        </p:nvSpPr>
        <p:spPr>
          <a:xfrm>
            <a:off x="3264408" y="2761488"/>
            <a:ext cx="25603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Da un límite teórico inferior al Z óptimo: ningún algoritmo puede encontrar una solución con Z &lt; LB. Permite medir el gap de calidad.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9"/>
          <p:cNvSpPr/>
          <p:nvPr/>
        </p:nvSpPr>
        <p:spPr>
          <a:xfrm>
            <a:off x="6071616" y="2331720"/>
            <a:ext cx="2743200" cy="23317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9"/>
          <p:cNvSpPr/>
          <p:nvPr/>
        </p:nvSpPr>
        <p:spPr>
          <a:xfrm>
            <a:off x="6071616" y="2331720"/>
            <a:ext cx="2743200" cy="36576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/>
          <p:cNvSpPr/>
          <p:nvPr/>
        </p:nvSpPr>
        <p:spPr>
          <a:xfrm>
            <a:off x="6163056" y="233172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¿Por qué el gap es alto?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9"/>
          <p:cNvSpPr/>
          <p:nvPr/>
        </p:nvSpPr>
        <p:spPr>
          <a:xfrm>
            <a:off x="6163056" y="2761488"/>
            <a:ext cx="25603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En el NWJSSP con n=1000 y m=1000, los conflictos reales son enormes. La LB no captura eso, por lo que los gaps de 10.000%+ son normales y no indican algoritmos malos.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9"/>
          <p:cNvSpPr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solidFill>
            <a:srgbClr val="E2F0F7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F4F4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0"/>
          <p:cNvSpPr/>
          <p:nvPr/>
        </p:nvSpPr>
        <p:spPr>
          <a:xfrm>
            <a:off x="320040" y="6400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4D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A0C4D8"/>
                </a:solidFill>
                <a:latin typeface="Calibri"/>
                <a:ea typeface="Calibri"/>
                <a:cs typeface="Calibri"/>
                <a:sym typeface="Calibri"/>
              </a:rPr>
              <a:t>COMPARACIÓN DE PARÁMETROS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0"/>
          <p:cNvSpPr/>
          <p:nvPr/>
        </p:nvSpPr>
        <p:spPr>
          <a:xfrm>
            <a:off x="320040" y="59436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GRASP — Efecto del parámetro alpha (nsol = 20, 30, 50, 100)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2" name="Google Shape;16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280160"/>
            <a:ext cx="5303520" cy="356616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0"/>
          <p:cNvSpPr/>
          <p:nvPr/>
        </p:nvSpPr>
        <p:spPr>
          <a:xfrm>
            <a:off x="5760720" y="1280160"/>
            <a:ext cx="3108960" cy="35661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0"/>
          <p:cNvSpPr/>
          <p:nvPr/>
        </p:nvSpPr>
        <p:spPr>
          <a:xfrm>
            <a:off x="5897880" y="137160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Conclusiones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0"/>
          <p:cNvSpPr/>
          <p:nvPr/>
        </p:nvSpPr>
        <p:spPr>
          <a:xfrm>
            <a:off x="5897880" y="1783080"/>
            <a:ext cx="2834640" cy="2834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alpha = 0.03 es el más robusto en instancias grandes.</a:t>
            </a:r>
            <a:br>
              <a:rPr b="1" i="0" lang="en-US" sz="115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1" i="0" lang="en-US" sz="115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alpha &gt; 0.10 siempre empeora en instancias grandes: más aleatorización destruye la guía greedy.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En instancias pequeñas (n=100), alphas moderados (0.05–0.10) también funcionan bien.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Parámetro final elegido: alpha = 0.03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0"/>
          <p:cNvSpPr/>
          <p:nvPr/>
        </p:nvSpPr>
        <p:spPr>
          <a:xfrm>
            <a:off x="5760720" y="4617720"/>
            <a:ext cx="3108960" cy="228600"/>
          </a:xfrm>
          <a:prstGeom prst="rect">
            <a:avLst/>
          </a:prstGeom>
          <a:solidFill>
            <a:srgbClr val="E2F0F7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F4F4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1"/>
          <p:cNvSpPr/>
          <p:nvPr/>
        </p:nvSpPr>
        <p:spPr>
          <a:xfrm>
            <a:off x="320040" y="6400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4D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A0C4D8"/>
                </a:solidFill>
                <a:latin typeface="Calibri"/>
                <a:ea typeface="Calibri"/>
                <a:cs typeface="Calibri"/>
                <a:sym typeface="Calibri"/>
              </a:rPr>
              <a:t>COMPARACIÓN DE PARÁMETROS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1"/>
          <p:cNvSpPr/>
          <p:nvPr/>
        </p:nvSpPr>
        <p:spPr>
          <a:xfrm>
            <a:off x="320040" y="59436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Noise — Efecto del parámetro r (nsol = 20, 30, 50, 100)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5" name="Google Shape;175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280160"/>
            <a:ext cx="5303520" cy="356616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1"/>
          <p:cNvSpPr/>
          <p:nvPr/>
        </p:nvSpPr>
        <p:spPr>
          <a:xfrm>
            <a:off x="5760720" y="1280160"/>
            <a:ext cx="3108960" cy="35661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1"/>
          <p:cNvSpPr/>
          <p:nvPr/>
        </p:nvSpPr>
        <p:spPr>
          <a:xfrm>
            <a:off x="5897880" y="137160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Conclusiones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1"/>
          <p:cNvSpPr/>
          <p:nvPr/>
        </p:nvSpPr>
        <p:spPr>
          <a:xfrm>
            <a:off x="5897880" y="1783080"/>
            <a:ext cx="2834640" cy="2834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Ningún valor de r mejora al Greedy en ninguna instancia probada.</a:t>
            </a:r>
            <a:br>
              <a:rPr b="1" i="0" lang="en-US" sz="115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1" i="0" lang="en-US" sz="115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El deterioro aumenta monotónicamente con r: más ruido = peor solución.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El ruido multiplicativo es inapropiado para este problema: en instancias grandes los C_j difieren en miles de millones, por lo que incluso r=0.05 produce saltos masivos.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nsol=100 no rescata al Noise: el problema es estructural, no de iteraciones.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F4F4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2"/>
          <p:cNvSpPr/>
          <p:nvPr/>
        </p:nvSpPr>
        <p:spPr>
          <a:xfrm>
            <a:off x="320040" y="6400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4D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A0C4D8"/>
                </a:solidFill>
                <a:latin typeface="Calibri"/>
                <a:ea typeface="Calibri"/>
                <a:cs typeface="Calibri"/>
                <a:sym typeface="Calibri"/>
              </a:rPr>
              <a:t>COMPARACIÓN DE PARÁMETROS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2"/>
          <p:cNvSpPr/>
          <p:nvPr/>
        </p:nvSpPr>
        <p:spPr>
          <a:xfrm>
            <a:off x="320040" y="59436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GRASP — Efecto del número de iteraciones nsol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2"/>
          <p:cNvSpPr/>
          <p:nvPr/>
        </p:nvSpPr>
        <p:spPr>
          <a:xfrm>
            <a:off x="320040" y="1170432"/>
            <a:ext cx="1097280" cy="36576"/>
          </a:xfrm>
          <a:prstGeom prst="rect">
            <a:avLst/>
          </a:prstGeom>
          <a:solidFill>
            <a:srgbClr val="0A9396"/>
          </a:solidFill>
          <a:ln cap="flat" cmpd="sng" w="12700">
            <a:solidFill>
              <a:srgbClr val="0A93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8" name="Google Shape;18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280160"/>
            <a:ext cx="5486400" cy="356616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2"/>
          <p:cNvSpPr/>
          <p:nvPr/>
        </p:nvSpPr>
        <p:spPr>
          <a:xfrm>
            <a:off x="5943600" y="1280160"/>
            <a:ext cx="2926080" cy="35661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2"/>
          <p:cNvSpPr/>
          <p:nvPr/>
        </p:nvSpPr>
        <p:spPr>
          <a:xfrm>
            <a:off x="6080760" y="137160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Observaciones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2"/>
          <p:cNvSpPr/>
          <p:nvPr/>
        </p:nvSpPr>
        <p:spPr>
          <a:xfrm>
            <a:off x="6080760" y="1783080"/>
            <a:ext cx="2651760" cy="2834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Más iteraciones siempre ayudan a GRASP, pero con rendimientos decrecientes.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De nsol=5 a nsol=50 la mejora es consistente y significativa.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De nsol=50 a nsol=100 la mejora marginal es pequeña vs el tiempo adicional.</a:t>
            </a: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Parámetro final: nsol = 100 para el run definitivo.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F4F4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3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3"/>
          <p:cNvSpPr/>
          <p:nvPr/>
        </p:nvSpPr>
        <p:spPr>
          <a:xfrm>
            <a:off x="320040" y="6400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4D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A0C4D8"/>
                </a:solidFill>
                <a:latin typeface="Calibri"/>
                <a:ea typeface="Calibri"/>
                <a:cs typeface="Calibri"/>
                <a:sym typeface="Calibri"/>
              </a:rPr>
              <a:t>COMPARACIÓN ENTRE MÉTODOS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3"/>
          <p:cNvSpPr/>
          <p:nvPr/>
        </p:nvSpPr>
        <p:spPr>
          <a:xfrm>
            <a:off x="320040" y="59436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000"/>
              <a:buFont typeface="Trebuchet MS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Resultados definitivos — nsol=100, alpha=0.03, r=0.05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3"/>
          <p:cNvSpPr/>
          <p:nvPr/>
        </p:nvSpPr>
        <p:spPr>
          <a:xfrm>
            <a:off x="320040" y="1170432"/>
            <a:ext cx="1097280" cy="36576"/>
          </a:xfrm>
          <a:prstGeom prst="rect">
            <a:avLst/>
          </a:prstGeom>
          <a:solidFill>
            <a:srgbClr val="0A9396"/>
          </a:solidFill>
          <a:ln cap="flat" cmpd="sng" w="12700">
            <a:solidFill>
              <a:srgbClr val="0A93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3"/>
          <p:cNvSpPr/>
          <p:nvPr/>
        </p:nvSpPr>
        <p:spPr>
          <a:xfrm>
            <a:off x="137160" y="1261872"/>
            <a:ext cx="2103120" cy="292608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3"/>
          <p:cNvSpPr/>
          <p:nvPr/>
        </p:nvSpPr>
        <p:spPr>
          <a:xfrm>
            <a:off x="192024" y="1261872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Instancia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3"/>
          <p:cNvSpPr/>
          <p:nvPr/>
        </p:nvSpPr>
        <p:spPr>
          <a:xfrm>
            <a:off x="2240280" y="1261872"/>
            <a:ext cx="731520" cy="292608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3"/>
          <p:cNvSpPr/>
          <p:nvPr/>
        </p:nvSpPr>
        <p:spPr>
          <a:xfrm>
            <a:off x="2295144" y="126187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3"/>
          <p:cNvSpPr/>
          <p:nvPr/>
        </p:nvSpPr>
        <p:spPr>
          <a:xfrm>
            <a:off x="2971800" y="1261872"/>
            <a:ext cx="731520" cy="292608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3"/>
          <p:cNvSpPr/>
          <p:nvPr/>
        </p:nvSpPr>
        <p:spPr>
          <a:xfrm>
            <a:off x="3026664" y="126187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3"/>
          <p:cNvSpPr/>
          <p:nvPr/>
        </p:nvSpPr>
        <p:spPr>
          <a:xfrm>
            <a:off x="3703320" y="1261872"/>
            <a:ext cx="1188720" cy="292608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3"/>
          <p:cNvSpPr/>
          <p:nvPr/>
        </p:nvSpPr>
        <p:spPr>
          <a:xfrm>
            <a:off x="3758184" y="1261872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Greedy Z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3"/>
          <p:cNvSpPr/>
          <p:nvPr/>
        </p:nvSpPr>
        <p:spPr>
          <a:xfrm>
            <a:off x="4892040" y="1261872"/>
            <a:ext cx="1188720" cy="292608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3"/>
          <p:cNvSpPr/>
          <p:nvPr/>
        </p:nvSpPr>
        <p:spPr>
          <a:xfrm>
            <a:off x="4946904" y="1261872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GRASP Z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3"/>
          <p:cNvSpPr/>
          <p:nvPr/>
        </p:nvSpPr>
        <p:spPr>
          <a:xfrm>
            <a:off x="6080760" y="1261872"/>
            <a:ext cx="1097280" cy="292608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3"/>
          <p:cNvSpPr/>
          <p:nvPr/>
        </p:nvSpPr>
        <p:spPr>
          <a:xfrm>
            <a:off x="6135624" y="1261872"/>
            <a:ext cx="10058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vs Greedy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3"/>
          <p:cNvSpPr/>
          <p:nvPr/>
        </p:nvSpPr>
        <p:spPr>
          <a:xfrm>
            <a:off x="7178040" y="1261872"/>
            <a:ext cx="1188720" cy="292608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3"/>
          <p:cNvSpPr/>
          <p:nvPr/>
        </p:nvSpPr>
        <p:spPr>
          <a:xfrm>
            <a:off x="7232904" y="1261872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Noise Z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3"/>
          <p:cNvSpPr/>
          <p:nvPr/>
        </p:nvSpPr>
        <p:spPr>
          <a:xfrm>
            <a:off x="137160" y="1554480"/>
            <a:ext cx="21031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3"/>
          <p:cNvSpPr/>
          <p:nvPr/>
        </p:nvSpPr>
        <p:spPr>
          <a:xfrm>
            <a:off x="182880" y="1554480"/>
            <a:ext cx="20299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ft06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3"/>
          <p:cNvSpPr/>
          <p:nvPr/>
        </p:nvSpPr>
        <p:spPr>
          <a:xfrm>
            <a:off x="2240280" y="1554480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3"/>
          <p:cNvSpPr/>
          <p:nvPr/>
        </p:nvSpPr>
        <p:spPr>
          <a:xfrm>
            <a:off x="2286000" y="1554480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3"/>
          <p:cNvSpPr/>
          <p:nvPr/>
        </p:nvSpPr>
        <p:spPr>
          <a:xfrm>
            <a:off x="2971800" y="1554480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3"/>
          <p:cNvSpPr/>
          <p:nvPr/>
        </p:nvSpPr>
        <p:spPr>
          <a:xfrm>
            <a:off x="3017520" y="1554480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3"/>
          <p:cNvSpPr/>
          <p:nvPr/>
        </p:nvSpPr>
        <p:spPr>
          <a:xfrm>
            <a:off x="3703320" y="1554480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3"/>
          <p:cNvSpPr/>
          <p:nvPr/>
        </p:nvSpPr>
        <p:spPr>
          <a:xfrm>
            <a:off x="3749040" y="1554480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507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3"/>
          <p:cNvSpPr/>
          <p:nvPr/>
        </p:nvSpPr>
        <p:spPr>
          <a:xfrm>
            <a:off x="4892040" y="1554480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3"/>
          <p:cNvSpPr/>
          <p:nvPr/>
        </p:nvSpPr>
        <p:spPr>
          <a:xfrm>
            <a:off x="4937760" y="1554480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496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3"/>
          <p:cNvSpPr/>
          <p:nvPr/>
        </p:nvSpPr>
        <p:spPr>
          <a:xfrm>
            <a:off x="6080760" y="1554480"/>
            <a:ext cx="1097280" cy="224028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3"/>
          <p:cNvSpPr/>
          <p:nvPr/>
        </p:nvSpPr>
        <p:spPr>
          <a:xfrm>
            <a:off x="6126480" y="1554480"/>
            <a:ext cx="102412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-2.2%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3"/>
          <p:cNvSpPr/>
          <p:nvPr/>
        </p:nvSpPr>
        <p:spPr>
          <a:xfrm>
            <a:off x="7178040" y="1554480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3"/>
          <p:cNvSpPr/>
          <p:nvPr/>
        </p:nvSpPr>
        <p:spPr>
          <a:xfrm>
            <a:off x="7223760" y="1554480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483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3"/>
          <p:cNvSpPr/>
          <p:nvPr/>
        </p:nvSpPr>
        <p:spPr>
          <a:xfrm>
            <a:off x="137160" y="1778508"/>
            <a:ext cx="21031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3"/>
          <p:cNvSpPr/>
          <p:nvPr/>
        </p:nvSpPr>
        <p:spPr>
          <a:xfrm>
            <a:off x="182880" y="1778508"/>
            <a:ext cx="20299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ft06r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3"/>
          <p:cNvSpPr/>
          <p:nvPr/>
        </p:nvSpPr>
        <p:spPr>
          <a:xfrm>
            <a:off x="2240280" y="1778508"/>
            <a:ext cx="7315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3"/>
          <p:cNvSpPr/>
          <p:nvPr/>
        </p:nvSpPr>
        <p:spPr>
          <a:xfrm>
            <a:off x="2286000" y="1778508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3"/>
          <p:cNvSpPr/>
          <p:nvPr/>
        </p:nvSpPr>
        <p:spPr>
          <a:xfrm>
            <a:off x="2971800" y="1778508"/>
            <a:ext cx="7315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3"/>
          <p:cNvSpPr/>
          <p:nvPr/>
        </p:nvSpPr>
        <p:spPr>
          <a:xfrm>
            <a:off x="3017520" y="1778508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3"/>
          <p:cNvSpPr/>
          <p:nvPr/>
        </p:nvSpPr>
        <p:spPr>
          <a:xfrm>
            <a:off x="3703320" y="1778508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3"/>
          <p:cNvSpPr/>
          <p:nvPr/>
        </p:nvSpPr>
        <p:spPr>
          <a:xfrm>
            <a:off x="3749040" y="1778508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494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3"/>
          <p:cNvSpPr/>
          <p:nvPr/>
        </p:nvSpPr>
        <p:spPr>
          <a:xfrm>
            <a:off x="4892040" y="1778508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3"/>
          <p:cNvSpPr/>
          <p:nvPr/>
        </p:nvSpPr>
        <p:spPr>
          <a:xfrm>
            <a:off x="4937760" y="1778508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481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3"/>
          <p:cNvSpPr/>
          <p:nvPr/>
        </p:nvSpPr>
        <p:spPr>
          <a:xfrm>
            <a:off x="6080760" y="1778508"/>
            <a:ext cx="1097280" cy="224028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3"/>
          <p:cNvSpPr/>
          <p:nvPr/>
        </p:nvSpPr>
        <p:spPr>
          <a:xfrm>
            <a:off x="6126480" y="1778508"/>
            <a:ext cx="102412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-2.6%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3"/>
          <p:cNvSpPr/>
          <p:nvPr/>
        </p:nvSpPr>
        <p:spPr>
          <a:xfrm>
            <a:off x="7178040" y="1778508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3"/>
          <p:cNvSpPr/>
          <p:nvPr/>
        </p:nvSpPr>
        <p:spPr>
          <a:xfrm>
            <a:off x="7223760" y="1778508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481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3"/>
          <p:cNvSpPr/>
          <p:nvPr/>
        </p:nvSpPr>
        <p:spPr>
          <a:xfrm>
            <a:off x="137160" y="2002536"/>
            <a:ext cx="21031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3"/>
          <p:cNvSpPr/>
          <p:nvPr/>
        </p:nvSpPr>
        <p:spPr>
          <a:xfrm>
            <a:off x="182880" y="2002536"/>
            <a:ext cx="20299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ft10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3"/>
          <p:cNvSpPr/>
          <p:nvPr/>
        </p:nvSpPr>
        <p:spPr>
          <a:xfrm>
            <a:off x="2240280" y="2002536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3"/>
          <p:cNvSpPr/>
          <p:nvPr/>
        </p:nvSpPr>
        <p:spPr>
          <a:xfrm>
            <a:off x="2286000" y="2002536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3"/>
          <p:cNvSpPr/>
          <p:nvPr/>
        </p:nvSpPr>
        <p:spPr>
          <a:xfrm>
            <a:off x="2971800" y="2002536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3"/>
          <p:cNvSpPr/>
          <p:nvPr/>
        </p:nvSpPr>
        <p:spPr>
          <a:xfrm>
            <a:off x="3017520" y="2002536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3"/>
          <p:cNvSpPr/>
          <p:nvPr/>
        </p:nvSpPr>
        <p:spPr>
          <a:xfrm>
            <a:off x="3703320" y="2002536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3"/>
          <p:cNvSpPr/>
          <p:nvPr/>
        </p:nvSpPr>
        <p:spPr>
          <a:xfrm>
            <a:off x="3749040" y="2002536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13,851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3"/>
          <p:cNvSpPr/>
          <p:nvPr/>
        </p:nvSpPr>
        <p:spPr>
          <a:xfrm>
            <a:off x="4892040" y="2002536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3"/>
          <p:cNvSpPr/>
          <p:nvPr/>
        </p:nvSpPr>
        <p:spPr>
          <a:xfrm>
            <a:off x="4937760" y="2002536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13,851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3"/>
          <p:cNvSpPr/>
          <p:nvPr/>
        </p:nvSpPr>
        <p:spPr>
          <a:xfrm>
            <a:off x="6080760" y="2002536"/>
            <a:ext cx="1097280" cy="224028"/>
          </a:xfrm>
          <a:prstGeom prst="rect">
            <a:avLst/>
          </a:prstGeom>
          <a:solidFill>
            <a:srgbClr val="FFF1F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3"/>
          <p:cNvSpPr/>
          <p:nvPr/>
        </p:nvSpPr>
        <p:spPr>
          <a:xfrm>
            <a:off x="6126480" y="2002536"/>
            <a:ext cx="102412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0.0%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3"/>
          <p:cNvSpPr/>
          <p:nvPr/>
        </p:nvSpPr>
        <p:spPr>
          <a:xfrm>
            <a:off x="7178040" y="2002536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3"/>
          <p:cNvSpPr/>
          <p:nvPr/>
        </p:nvSpPr>
        <p:spPr>
          <a:xfrm>
            <a:off x="7223760" y="2002536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13,628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3"/>
          <p:cNvSpPr/>
          <p:nvPr/>
        </p:nvSpPr>
        <p:spPr>
          <a:xfrm>
            <a:off x="137160" y="2226564"/>
            <a:ext cx="21031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3"/>
          <p:cNvSpPr/>
          <p:nvPr/>
        </p:nvSpPr>
        <p:spPr>
          <a:xfrm>
            <a:off x="182880" y="2226564"/>
            <a:ext cx="20299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ft20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3"/>
          <p:cNvSpPr/>
          <p:nvPr/>
        </p:nvSpPr>
        <p:spPr>
          <a:xfrm>
            <a:off x="2240280" y="2226564"/>
            <a:ext cx="7315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3"/>
          <p:cNvSpPr/>
          <p:nvPr/>
        </p:nvSpPr>
        <p:spPr>
          <a:xfrm>
            <a:off x="2286000" y="2226564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3"/>
          <p:cNvSpPr/>
          <p:nvPr/>
        </p:nvSpPr>
        <p:spPr>
          <a:xfrm>
            <a:off x="2971800" y="2226564"/>
            <a:ext cx="7315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3"/>
          <p:cNvSpPr/>
          <p:nvPr/>
        </p:nvSpPr>
        <p:spPr>
          <a:xfrm>
            <a:off x="3017520" y="2226564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3"/>
          <p:cNvSpPr/>
          <p:nvPr/>
        </p:nvSpPr>
        <p:spPr>
          <a:xfrm>
            <a:off x="3703320" y="2226564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3"/>
          <p:cNvSpPr/>
          <p:nvPr/>
        </p:nvSpPr>
        <p:spPr>
          <a:xfrm>
            <a:off x="3749040" y="2226564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22,150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3"/>
          <p:cNvSpPr/>
          <p:nvPr/>
        </p:nvSpPr>
        <p:spPr>
          <a:xfrm>
            <a:off x="4892040" y="2226564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3"/>
          <p:cNvSpPr/>
          <p:nvPr/>
        </p:nvSpPr>
        <p:spPr>
          <a:xfrm>
            <a:off x="4937760" y="2226564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22,150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3"/>
          <p:cNvSpPr/>
          <p:nvPr/>
        </p:nvSpPr>
        <p:spPr>
          <a:xfrm>
            <a:off x="6080760" y="2226564"/>
            <a:ext cx="1097280" cy="224028"/>
          </a:xfrm>
          <a:prstGeom prst="rect">
            <a:avLst/>
          </a:prstGeom>
          <a:solidFill>
            <a:srgbClr val="FFF1F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3"/>
          <p:cNvSpPr/>
          <p:nvPr/>
        </p:nvSpPr>
        <p:spPr>
          <a:xfrm>
            <a:off x="6126480" y="2226564"/>
            <a:ext cx="102412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0.0%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3"/>
          <p:cNvSpPr/>
          <p:nvPr/>
        </p:nvSpPr>
        <p:spPr>
          <a:xfrm>
            <a:off x="7178040" y="2226564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3"/>
          <p:cNvSpPr/>
          <p:nvPr/>
        </p:nvSpPr>
        <p:spPr>
          <a:xfrm>
            <a:off x="7223760" y="2226564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21,584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3"/>
          <p:cNvSpPr/>
          <p:nvPr/>
        </p:nvSpPr>
        <p:spPr>
          <a:xfrm>
            <a:off x="137160" y="2450592"/>
            <a:ext cx="21031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3"/>
          <p:cNvSpPr/>
          <p:nvPr/>
        </p:nvSpPr>
        <p:spPr>
          <a:xfrm>
            <a:off x="182880" y="2450592"/>
            <a:ext cx="20299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ft20r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3"/>
          <p:cNvSpPr/>
          <p:nvPr/>
        </p:nvSpPr>
        <p:spPr>
          <a:xfrm>
            <a:off x="2240280" y="2450592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3"/>
          <p:cNvSpPr/>
          <p:nvPr/>
        </p:nvSpPr>
        <p:spPr>
          <a:xfrm>
            <a:off x="2286000" y="2450592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3"/>
          <p:cNvSpPr/>
          <p:nvPr/>
        </p:nvSpPr>
        <p:spPr>
          <a:xfrm>
            <a:off x="2971800" y="2450592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3"/>
          <p:cNvSpPr/>
          <p:nvPr/>
        </p:nvSpPr>
        <p:spPr>
          <a:xfrm>
            <a:off x="3017520" y="2450592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3"/>
          <p:cNvSpPr/>
          <p:nvPr/>
        </p:nvSpPr>
        <p:spPr>
          <a:xfrm>
            <a:off x="3703320" y="2450592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3"/>
          <p:cNvSpPr/>
          <p:nvPr/>
        </p:nvSpPr>
        <p:spPr>
          <a:xfrm>
            <a:off x="3749040" y="2450592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22,015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3"/>
          <p:cNvSpPr/>
          <p:nvPr/>
        </p:nvSpPr>
        <p:spPr>
          <a:xfrm>
            <a:off x="4892040" y="2450592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3"/>
          <p:cNvSpPr/>
          <p:nvPr/>
        </p:nvSpPr>
        <p:spPr>
          <a:xfrm>
            <a:off x="4937760" y="2450592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21,584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3"/>
          <p:cNvSpPr/>
          <p:nvPr/>
        </p:nvSpPr>
        <p:spPr>
          <a:xfrm>
            <a:off x="6080760" y="2450592"/>
            <a:ext cx="1097280" cy="224028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3"/>
          <p:cNvSpPr/>
          <p:nvPr/>
        </p:nvSpPr>
        <p:spPr>
          <a:xfrm>
            <a:off x="6126480" y="2450592"/>
            <a:ext cx="102412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-2.0%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3"/>
          <p:cNvSpPr/>
          <p:nvPr/>
        </p:nvSpPr>
        <p:spPr>
          <a:xfrm>
            <a:off x="7178040" y="2450592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3"/>
          <p:cNvSpPr/>
          <p:nvPr/>
        </p:nvSpPr>
        <p:spPr>
          <a:xfrm>
            <a:off x="7223760" y="2450592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21,290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3"/>
          <p:cNvSpPr/>
          <p:nvPr/>
        </p:nvSpPr>
        <p:spPr>
          <a:xfrm>
            <a:off x="137160" y="2674620"/>
            <a:ext cx="21031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3"/>
          <p:cNvSpPr/>
          <p:nvPr/>
        </p:nvSpPr>
        <p:spPr>
          <a:xfrm>
            <a:off x="182880" y="2674620"/>
            <a:ext cx="20299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j10_m10_1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3"/>
          <p:cNvSpPr/>
          <p:nvPr/>
        </p:nvSpPr>
        <p:spPr>
          <a:xfrm>
            <a:off x="2240280" y="2674620"/>
            <a:ext cx="7315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3"/>
          <p:cNvSpPr/>
          <p:nvPr/>
        </p:nvSpPr>
        <p:spPr>
          <a:xfrm>
            <a:off x="2286000" y="2674620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3"/>
          <p:cNvSpPr/>
          <p:nvPr/>
        </p:nvSpPr>
        <p:spPr>
          <a:xfrm>
            <a:off x="2971800" y="2674620"/>
            <a:ext cx="7315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3"/>
          <p:cNvSpPr/>
          <p:nvPr/>
        </p:nvSpPr>
        <p:spPr>
          <a:xfrm>
            <a:off x="3017520" y="2674620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3"/>
          <p:cNvSpPr/>
          <p:nvPr/>
        </p:nvSpPr>
        <p:spPr>
          <a:xfrm>
            <a:off x="3703320" y="2674620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3"/>
          <p:cNvSpPr/>
          <p:nvPr/>
        </p:nvSpPr>
        <p:spPr>
          <a:xfrm>
            <a:off x="3749040" y="2674620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176,724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3"/>
          <p:cNvSpPr/>
          <p:nvPr/>
        </p:nvSpPr>
        <p:spPr>
          <a:xfrm>
            <a:off x="4892040" y="2674620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3"/>
          <p:cNvSpPr/>
          <p:nvPr/>
        </p:nvSpPr>
        <p:spPr>
          <a:xfrm>
            <a:off x="4937760" y="2674620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176,724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3"/>
          <p:cNvSpPr/>
          <p:nvPr/>
        </p:nvSpPr>
        <p:spPr>
          <a:xfrm>
            <a:off x="6080760" y="2674620"/>
            <a:ext cx="1097280" cy="224028"/>
          </a:xfrm>
          <a:prstGeom prst="rect">
            <a:avLst/>
          </a:prstGeom>
          <a:solidFill>
            <a:srgbClr val="FFF1F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3"/>
          <p:cNvSpPr/>
          <p:nvPr/>
        </p:nvSpPr>
        <p:spPr>
          <a:xfrm>
            <a:off x="6126480" y="2674620"/>
            <a:ext cx="102412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0.0%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3"/>
          <p:cNvSpPr/>
          <p:nvPr/>
        </p:nvSpPr>
        <p:spPr>
          <a:xfrm>
            <a:off x="7178040" y="2674620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3"/>
          <p:cNvSpPr/>
          <p:nvPr/>
        </p:nvSpPr>
        <p:spPr>
          <a:xfrm>
            <a:off x="7223760" y="2674620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174,358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3"/>
          <p:cNvSpPr/>
          <p:nvPr/>
        </p:nvSpPr>
        <p:spPr>
          <a:xfrm>
            <a:off x="137160" y="2898648"/>
            <a:ext cx="21031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3"/>
          <p:cNvSpPr/>
          <p:nvPr/>
        </p:nvSpPr>
        <p:spPr>
          <a:xfrm>
            <a:off x="182880" y="2898648"/>
            <a:ext cx="20299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j10_m10_1r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3"/>
          <p:cNvSpPr/>
          <p:nvPr/>
        </p:nvSpPr>
        <p:spPr>
          <a:xfrm>
            <a:off x="2240280" y="2898648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3"/>
          <p:cNvSpPr/>
          <p:nvPr/>
        </p:nvSpPr>
        <p:spPr>
          <a:xfrm>
            <a:off x="2286000" y="2898648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3"/>
          <p:cNvSpPr/>
          <p:nvPr/>
        </p:nvSpPr>
        <p:spPr>
          <a:xfrm>
            <a:off x="2971800" y="2898648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3"/>
          <p:cNvSpPr/>
          <p:nvPr/>
        </p:nvSpPr>
        <p:spPr>
          <a:xfrm>
            <a:off x="3017520" y="2898648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3"/>
          <p:cNvSpPr/>
          <p:nvPr/>
        </p:nvSpPr>
        <p:spPr>
          <a:xfrm>
            <a:off x="3703320" y="2898648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3"/>
          <p:cNvSpPr/>
          <p:nvPr/>
        </p:nvSpPr>
        <p:spPr>
          <a:xfrm>
            <a:off x="3749040" y="2898648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176,724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3"/>
          <p:cNvSpPr/>
          <p:nvPr/>
        </p:nvSpPr>
        <p:spPr>
          <a:xfrm>
            <a:off x="4892040" y="2898648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3"/>
          <p:cNvSpPr/>
          <p:nvPr/>
        </p:nvSpPr>
        <p:spPr>
          <a:xfrm>
            <a:off x="4937760" y="2898648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176,724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3"/>
          <p:cNvSpPr/>
          <p:nvPr/>
        </p:nvSpPr>
        <p:spPr>
          <a:xfrm>
            <a:off x="6080760" y="2898648"/>
            <a:ext cx="1097280" cy="224028"/>
          </a:xfrm>
          <a:prstGeom prst="rect">
            <a:avLst/>
          </a:prstGeom>
          <a:solidFill>
            <a:srgbClr val="FFF1F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3"/>
          <p:cNvSpPr/>
          <p:nvPr/>
        </p:nvSpPr>
        <p:spPr>
          <a:xfrm>
            <a:off x="6126480" y="2898648"/>
            <a:ext cx="102412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0.0%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3"/>
          <p:cNvSpPr/>
          <p:nvPr/>
        </p:nvSpPr>
        <p:spPr>
          <a:xfrm>
            <a:off x="7178040" y="2898648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3"/>
          <p:cNvSpPr/>
          <p:nvPr/>
        </p:nvSpPr>
        <p:spPr>
          <a:xfrm>
            <a:off x="7223760" y="2898648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174,358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3"/>
          <p:cNvSpPr/>
          <p:nvPr/>
        </p:nvSpPr>
        <p:spPr>
          <a:xfrm>
            <a:off x="137160" y="3122676"/>
            <a:ext cx="21031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3"/>
          <p:cNvSpPr/>
          <p:nvPr/>
        </p:nvSpPr>
        <p:spPr>
          <a:xfrm>
            <a:off x="182880" y="3122676"/>
            <a:ext cx="20299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j100_m10_1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3"/>
          <p:cNvSpPr/>
          <p:nvPr/>
        </p:nvSpPr>
        <p:spPr>
          <a:xfrm>
            <a:off x="2240280" y="3122676"/>
            <a:ext cx="7315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3"/>
          <p:cNvSpPr/>
          <p:nvPr/>
        </p:nvSpPr>
        <p:spPr>
          <a:xfrm>
            <a:off x="2286000" y="3122676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2971800" y="3122676"/>
            <a:ext cx="7315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3"/>
          <p:cNvSpPr/>
          <p:nvPr/>
        </p:nvSpPr>
        <p:spPr>
          <a:xfrm>
            <a:off x="3017520" y="3122676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3703320" y="3122676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3"/>
          <p:cNvSpPr/>
          <p:nvPr/>
        </p:nvSpPr>
        <p:spPr>
          <a:xfrm>
            <a:off x="3749040" y="3122676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11,064,457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3"/>
          <p:cNvSpPr/>
          <p:nvPr/>
        </p:nvSpPr>
        <p:spPr>
          <a:xfrm>
            <a:off x="4892040" y="3122676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3"/>
          <p:cNvSpPr/>
          <p:nvPr/>
        </p:nvSpPr>
        <p:spPr>
          <a:xfrm>
            <a:off x="4937760" y="3122676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10,860,689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3"/>
          <p:cNvSpPr/>
          <p:nvPr/>
        </p:nvSpPr>
        <p:spPr>
          <a:xfrm>
            <a:off x="6080760" y="3122676"/>
            <a:ext cx="1097280" cy="224028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3"/>
          <p:cNvSpPr/>
          <p:nvPr/>
        </p:nvSpPr>
        <p:spPr>
          <a:xfrm>
            <a:off x="6126480" y="3122676"/>
            <a:ext cx="102412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-1.8%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3"/>
          <p:cNvSpPr/>
          <p:nvPr/>
        </p:nvSpPr>
        <p:spPr>
          <a:xfrm>
            <a:off x="7178040" y="3122676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3"/>
          <p:cNvSpPr/>
          <p:nvPr/>
        </p:nvSpPr>
        <p:spPr>
          <a:xfrm>
            <a:off x="7223760" y="3122676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13,071,641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3"/>
          <p:cNvSpPr/>
          <p:nvPr/>
        </p:nvSpPr>
        <p:spPr>
          <a:xfrm>
            <a:off x="137160" y="3346704"/>
            <a:ext cx="21031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3"/>
          <p:cNvSpPr/>
          <p:nvPr/>
        </p:nvSpPr>
        <p:spPr>
          <a:xfrm>
            <a:off x="182880" y="3346704"/>
            <a:ext cx="20299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j100_m100_1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3"/>
          <p:cNvSpPr/>
          <p:nvPr/>
        </p:nvSpPr>
        <p:spPr>
          <a:xfrm>
            <a:off x="2240280" y="3346704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3"/>
          <p:cNvSpPr/>
          <p:nvPr/>
        </p:nvSpPr>
        <p:spPr>
          <a:xfrm>
            <a:off x="2286000" y="3346704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3"/>
          <p:cNvSpPr/>
          <p:nvPr/>
        </p:nvSpPr>
        <p:spPr>
          <a:xfrm>
            <a:off x="2971800" y="3346704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3"/>
          <p:cNvSpPr/>
          <p:nvPr/>
        </p:nvSpPr>
        <p:spPr>
          <a:xfrm>
            <a:off x="3017520" y="3346704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3"/>
          <p:cNvSpPr/>
          <p:nvPr/>
        </p:nvSpPr>
        <p:spPr>
          <a:xfrm>
            <a:off x="3703320" y="3346704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3"/>
          <p:cNvSpPr/>
          <p:nvPr/>
        </p:nvSpPr>
        <p:spPr>
          <a:xfrm>
            <a:off x="3749040" y="3346704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188,838,417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3"/>
          <p:cNvSpPr/>
          <p:nvPr/>
        </p:nvSpPr>
        <p:spPr>
          <a:xfrm>
            <a:off x="4892040" y="3346704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3"/>
          <p:cNvSpPr/>
          <p:nvPr/>
        </p:nvSpPr>
        <p:spPr>
          <a:xfrm>
            <a:off x="4937760" y="3346704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187,208,401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3"/>
          <p:cNvSpPr/>
          <p:nvPr/>
        </p:nvSpPr>
        <p:spPr>
          <a:xfrm>
            <a:off x="6080760" y="3346704"/>
            <a:ext cx="1097280" cy="224028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3"/>
          <p:cNvSpPr/>
          <p:nvPr/>
        </p:nvSpPr>
        <p:spPr>
          <a:xfrm>
            <a:off x="6126480" y="3346704"/>
            <a:ext cx="102412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-0.9%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3"/>
          <p:cNvSpPr/>
          <p:nvPr/>
        </p:nvSpPr>
        <p:spPr>
          <a:xfrm>
            <a:off x="7178040" y="3346704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3"/>
          <p:cNvSpPr/>
          <p:nvPr/>
        </p:nvSpPr>
        <p:spPr>
          <a:xfrm>
            <a:off x="7223760" y="3346704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205,735,063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3"/>
          <p:cNvSpPr/>
          <p:nvPr/>
        </p:nvSpPr>
        <p:spPr>
          <a:xfrm>
            <a:off x="137160" y="3570732"/>
            <a:ext cx="21031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3"/>
          <p:cNvSpPr/>
          <p:nvPr/>
        </p:nvSpPr>
        <p:spPr>
          <a:xfrm>
            <a:off x="182880" y="3570732"/>
            <a:ext cx="20299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j100_m100_1r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3"/>
          <p:cNvSpPr/>
          <p:nvPr/>
        </p:nvSpPr>
        <p:spPr>
          <a:xfrm>
            <a:off x="2240280" y="3570732"/>
            <a:ext cx="7315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3"/>
          <p:cNvSpPr/>
          <p:nvPr/>
        </p:nvSpPr>
        <p:spPr>
          <a:xfrm>
            <a:off x="2286000" y="3570732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3"/>
          <p:cNvSpPr/>
          <p:nvPr/>
        </p:nvSpPr>
        <p:spPr>
          <a:xfrm>
            <a:off x="2971800" y="3570732"/>
            <a:ext cx="7315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3"/>
          <p:cNvSpPr/>
          <p:nvPr/>
        </p:nvSpPr>
        <p:spPr>
          <a:xfrm>
            <a:off x="3017520" y="3570732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3"/>
          <p:cNvSpPr/>
          <p:nvPr/>
        </p:nvSpPr>
        <p:spPr>
          <a:xfrm>
            <a:off x="3703320" y="3570732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3"/>
          <p:cNvSpPr/>
          <p:nvPr/>
        </p:nvSpPr>
        <p:spPr>
          <a:xfrm>
            <a:off x="3749040" y="3570732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194,566,417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3"/>
          <p:cNvSpPr/>
          <p:nvPr/>
        </p:nvSpPr>
        <p:spPr>
          <a:xfrm>
            <a:off x="4892040" y="3570732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4937760" y="3570732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187,153,946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3"/>
          <p:cNvSpPr/>
          <p:nvPr/>
        </p:nvSpPr>
        <p:spPr>
          <a:xfrm>
            <a:off x="6080760" y="3570732"/>
            <a:ext cx="1097280" cy="224028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6126480" y="3570732"/>
            <a:ext cx="102412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-3.8%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3"/>
          <p:cNvSpPr/>
          <p:nvPr/>
        </p:nvSpPr>
        <p:spPr>
          <a:xfrm>
            <a:off x="7178040" y="3570732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223760" y="3570732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204,813,250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3"/>
          <p:cNvSpPr/>
          <p:nvPr/>
        </p:nvSpPr>
        <p:spPr>
          <a:xfrm>
            <a:off x="137160" y="3794760"/>
            <a:ext cx="21031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182880" y="3794760"/>
            <a:ext cx="20299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j1000_m10_1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3"/>
          <p:cNvSpPr/>
          <p:nvPr/>
        </p:nvSpPr>
        <p:spPr>
          <a:xfrm>
            <a:off x="2240280" y="3794760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2286000" y="3794760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3"/>
          <p:cNvSpPr/>
          <p:nvPr/>
        </p:nvSpPr>
        <p:spPr>
          <a:xfrm>
            <a:off x="2971800" y="3794760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3"/>
          <p:cNvSpPr/>
          <p:nvPr/>
        </p:nvSpPr>
        <p:spPr>
          <a:xfrm>
            <a:off x="3017520" y="3794760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3"/>
          <p:cNvSpPr/>
          <p:nvPr/>
        </p:nvSpPr>
        <p:spPr>
          <a:xfrm>
            <a:off x="3703320" y="3794760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3"/>
          <p:cNvSpPr/>
          <p:nvPr/>
        </p:nvSpPr>
        <p:spPr>
          <a:xfrm>
            <a:off x="3749040" y="3794760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861,308,870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3"/>
          <p:cNvSpPr/>
          <p:nvPr/>
        </p:nvSpPr>
        <p:spPr>
          <a:xfrm>
            <a:off x="4892040" y="3794760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3"/>
          <p:cNvSpPr/>
          <p:nvPr/>
        </p:nvSpPr>
        <p:spPr>
          <a:xfrm>
            <a:off x="4937760" y="3794760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867,338,542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6080760" y="3794760"/>
            <a:ext cx="1097280" cy="224028"/>
          </a:xfrm>
          <a:prstGeom prst="rect">
            <a:avLst/>
          </a:prstGeom>
          <a:solidFill>
            <a:srgbClr val="FFF1F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3"/>
          <p:cNvSpPr/>
          <p:nvPr/>
        </p:nvSpPr>
        <p:spPr>
          <a:xfrm>
            <a:off x="6126480" y="3794760"/>
            <a:ext cx="102412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+0.7%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7178040" y="3794760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3"/>
          <p:cNvSpPr/>
          <p:nvPr/>
        </p:nvSpPr>
        <p:spPr>
          <a:xfrm>
            <a:off x="7223760" y="3794760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1,318,197,414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137160" y="4018788"/>
            <a:ext cx="21031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3"/>
          <p:cNvSpPr/>
          <p:nvPr/>
        </p:nvSpPr>
        <p:spPr>
          <a:xfrm>
            <a:off x="182880" y="4018788"/>
            <a:ext cx="20299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j1000_m100_1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2240280" y="4018788"/>
            <a:ext cx="7315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3"/>
          <p:cNvSpPr/>
          <p:nvPr/>
        </p:nvSpPr>
        <p:spPr>
          <a:xfrm>
            <a:off x="2286000" y="4018788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3"/>
          <p:cNvSpPr/>
          <p:nvPr/>
        </p:nvSpPr>
        <p:spPr>
          <a:xfrm>
            <a:off x="2971800" y="4018788"/>
            <a:ext cx="7315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3"/>
          <p:cNvSpPr/>
          <p:nvPr/>
        </p:nvSpPr>
        <p:spPr>
          <a:xfrm>
            <a:off x="3017520" y="4018788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3"/>
          <p:cNvSpPr/>
          <p:nvPr/>
        </p:nvSpPr>
        <p:spPr>
          <a:xfrm>
            <a:off x="3703320" y="4018788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3"/>
          <p:cNvSpPr/>
          <p:nvPr/>
        </p:nvSpPr>
        <p:spPr>
          <a:xfrm>
            <a:off x="3749040" y="4018788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17,208,976,361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3"/>
          <p:cNvSpPr/>
          <p:nvPr/>
        </p:nvSpPr>
        <p:spPr>
          <a:xfrm>
            <a:off x="4892040" y="4018788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13"/>
          <p:cNvSpPr/>
          <p:nvPr/>
        </p:nvSpPr>
        <p:spPr>
          <a:xfrm>
            <a:off x="4937760" y="4018788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17,174,281,070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6080760" y="4018788"/>
            <a:ext cx="1097280" cy="224028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3"/>
          <p:cNvSpPr/>
          <p:nvPr/>
        </p:nvSpPr>
        <p:spPr>
          <a:xfrm>
            <a:off x="6126480" y="4018788"/>
            <a:ext cx="102412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-0.2%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3"/>
          <p:cNvSpPr/>
          <p:nvPr/>
        </p:nvSpPr>
        <p:spPr>
          <a:xfrm>
            <a:off x="7178040" y="4018788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3"/>
          <p:cNvSpPr/>
          <p:nvPr/>
        </p:nvSpPr>
        <p:spPr>
          <a:xfrm>
            <a:off x="7223760" y="4018788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20,521,431,482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3"/>
          <p:cNvSpPr/>
          <p:nvPr/>
        </p:nvSpPr>
        <p:spPr>
          <a:xfrm>
            <a:off x="137160" y="4242816"/>
            <a:ext cx="21031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3"/>
          <p:cNvSpPr/>
          <p:nvPr/>
        </p:nvSpPr>
        <p:spPr>
          <a:xfrm>
            <a:off x="182880" y="4242816"/>
            <a:ext cx="20299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j1000_m100_1r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2240280" y="4242816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3"/>
          <p:cNvSpPr/>
          <p:nvPr/>
        </p:nvSpPr>
        <p:spPr>
          <a:xfrm>
            <a:off x="2286000" y="4242816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3"/>
          <p:cNvSpPr/>
          <p:nvPr/>
        </p:nvSpPr>
        <p:spPr>
          <a:xfrm>
            <a:off x="2971800" y="4242816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13"/>
          <p:cNvSpPr/>
          <p:nvPr/>
        </p:nvSpPr>
        <p:spPr>
          <a:xfrm>
            <a:off x="3017520" y="4242816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3"/>
          <p:cNvSpPr/>
          <p:nvPr/>
        </p:nvSpPr>
        <p:spPr>
          <a:xfrm>
            <a:off x="3703320" y="4242816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3"/>
          <p:cNvSpPr/>
          <p:nvPr/>
        </p:nvSpPr>
        <p:spPr>
          <a:xfrm>
            <a:off x="3749040" y="4242816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17,208,976,361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3"/>
          <p:cNvSpPr/>
          <p:nvPr/>
        </p:nvSpPr>
        <p:spPr>
          <a:xfrm>
            <a:off x="4892040" y="4242816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3"/>
          <p:cNvSpPr/>
          <p:nvPr/>
        </p:nvSpPr>
        <p:spPr>
          <a:xfrm>
            <a:off x="4937760" y="4242816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17,187,952,655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3"/>
          <p:cNvSpPr/>
          <p:nvPr/>
        </p:nvSpPr>
        <p:spPr>
          <a:xfrm>
            <a:off x="6080760" y="4242816"/>
            <a:ext cx="1097280" cy="224028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3"/>
          <p:cNvSpPr/>
          <p:nvPr/>
        </p:nvSpPr>
        <p:spPr>
          <a:xfrm>
            <a:off x="6126480" y="4242816"/>
            <a:ext cx="102412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-0.1%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3"/>
          <p:cNvSpPr/>
          <p:nvPr/>
        </p:nvSpPr>
        <p:spPr>
          <a:xfrm>
            <a:off x="7178040" y="4242816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13"/>
          <p:cNvSpPr/>
          <p:nvPr/>
        </p:nvSpPr>
        <p:spPr>
          <a:xfrm>
            <a:off x="7223760" y="4242816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20,446,633,381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/>
          <p:nvPr/>
        </p:nvSpPr>
        <p:spPr>
          <a:xfrm>
            <a:off x="137160" y="4466844"/>
            <a:ext cx="21031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182880" y="4466844"/>
            <a:ext cx="20299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j1000_m1000_1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3"/>
          <p:cNvSpPr/>
          <p:nvPr/>
        </p:nvSpPr>
        <p:spPr>
          <a:xfrm>
            <a:off x="2240280" y="4466844"/>
            <a:ext cx="7315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3"/>
          <p:cNvSpPr/>
          <p:nvPr/>
        </p:nvSpPr>
        <p:spPr>
          <a:xfrm>
            <a:off x="2286000" y="4466844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3"/>
          <p:cNvSpPr/>
          <p:nvPr/>
        </p:nvSpPr>
        <p:spPr>
          <a:xfrm>
            <a:off x="2971800" y="4466844"/>
            <a:ext cx="7315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3"/>
          <p:cNvSpPr/>
          <p:nvPr/>
        </p:nvSpPr>
        <p:spPr>
          <a:xfrm>
            <a:off x="3017520" y="4466844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3"/>
          <p:cNvSpPr/>
          <p:nvPr/>
        </p:nvSpPr>
        <p:spPr>
          <a:xfrm>
            <a:off x="3703320" y="4466844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3"/>
          <p:cNvSpPr/>
          <p:nvPr/>
        </p:nvSpPr>
        <p:spPr>
          <a:xfrm>
            <a:off x="3749040" y="4466844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222,332M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3"/>
          <p:cNvSpPr/>
          <p:nvPr/>
        </p:nvSpPr>
        <p:spPr>
          <a:xfrm>
            <a:off x="4892040" y="4466844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13"/>
          <p:cNvSpPr/>
          <p:nvPr/>
        </p:nvSpPr>
        <p:spPr>
          <a:xfrm>
            <a:off x="4937760" y="4466844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222,316M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3"/>
          <p:cNvSpPr/>
          <p:nvPr/>
        </p:nvSpPr>
        <p:spPr>
          <a:xfrm>
            <a:off x="6080760" y="4466844"/>
            <a:ext cx="1097280" cy="224028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13"/>
          <p:cNvSpPr/>
          <p:nvPr/>
        </p:nvSpPr>
        <p:spPr>
          <a:xfrm>
            <a:off x="6126480" y="4466844"/>
            <a:ext cx="102412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-0.007%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3"/>
          <p:cNvSpPr/>
          <p:nvPr/>
        </p:nvSpPr>
        <p:spPr>
          <a:xfrm>
            <a:off x="7178040" y="4466844"/>
            <a:ext cx="1188720" cy="224028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3"/>
          <p:cNvSpPr/>
          <p:nvPr/>
        </p:nvSpPr>
        <p:spPr>
          <a:xfrm>
            <a:off x="7223760" y="4466844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237,130M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3"/>
          <p:cNvSpPr/>
          <p:nvPr/>
        </p:nvSpPr>
        <p:spPr>
          <a:xfrm>
            <a:off x="137160" y="4690872"/>
            <a:ext cx="21031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13"/>
          <p:cNvSpPr/>
          <p:nvPr/>
        </p:nvSpPr>
        <p:spPr>
          <a:xfrm>
            <a:off x="182880" y="4690872"/>
            <a:ext cx="20299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j1000_m1000_1r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3"/>
          <p:cNvSpPr/>
          <p:nvPr/>
        </p:nvSpPr>
        <p:spPr>
          <a:xfrm>
            <a:off x="2240280" y="4690872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3"/>
          <p:cNvSpPr/>
          <p:nvPr/>
        </p:nvSpPr>
        <p:spPr>
          <a:xfrm>
            <a:off x="2286000" y="4690872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3"/>
          <p:cNvSpPr/>
          <p:nvPr/>
        </p:nvSpPr>
        <p:spPr>
          <a:xfrm>
            <a:off x="2971800" y="4690872"/>
            <a:ext cx="7315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3"/>
          <p:cNvSpPr/>
          <p:nvPr/>
        </p:nvSpPr>
        <p:spPr>
          <a:xfrm>
            <a:off x="3017520" y="4690872"/>
            <a:ext cx="6583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1000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3"/>
          <p:cNvSpPr/>
          <p:nvPr/>
        </p:nvSpPr>
        <p:spPr>
          <a:xfrm>
            <a:off x="3703320" y="4690872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3"/>
          <p:cNvSpPr/>
          <p:nvPr/>
        </p:nvSpPr>
        <p:spPr>
          <a:xfrm>
            <a:off x="3749040" y="4690872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222,332M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3"/>
          <p:cNvSpPr/>
          <p:nvPr/>
        </p:nvSpPr>
        <p:spPr>
          <a:xfrm>
            <a:off x="4892040" y="4690872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3"/>
          <p:cNvSpPr/>
          <p:nvPr/>
        </p:nvSpPr>
        <p:spPr>
          <a:xfrm>
            <a:off x="4937760" y="4690872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222,239M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3"/>
          <p:cNvSpPr/>
          <p:nvPr/>
        </p:nvSpPr>
        <p:spPr>
          <a:xfrm>
            <a:off x="6080760" y="4690872"/>
            <a:ext cx="1097280" cy="224028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3"/>
          <p:cNvSpPr/>
          <p:nvPr/>
        </p:nvSpPr>
        <p:spPr>
          <a:xfrm>
            <a:off x="6126480" y="4690872"/>
            <a:ext cx="102412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-0.04%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3"/>
          <p:cNvSpPr/>
          <p:nvPr/>
        </p:nvSpPr>
        <p:spPr>
          <a:xfrm>
            <a:off x="7178040" y="4690872"/>
            <a:ext cx="1188720" cy="2240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3"/>
          <p:cNvSpPr/>
          <p:nvPr/>
        </p:nvSpPr>
        <p:spPr>
          <a:xfrm>
            <a:off x="7223760" y="4690872"/>
            <a:ext cx="1115568" cy="224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237,063M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F4F4"/>
        </a:solidFill>
      </p:bgPr>
    </p:bg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14"/>
          <p:cNvSpPr/>
          <p:nvPr/>
        </p:nvSpPr>
        <p:spPr>
          <a:xfrm>
            <a:off x="320040" y="6400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4D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A0C4D8"/>
                </a:solidFill>
                <a:latin typeface="Calibri"/>
                <a:ea typeface="Calibri"/>
                <a:cs typeface="Calibri"/>
                <a:sym typeface="Calibri"/>
              </a:rPr>
              <a:t>COMPARACIÓN ENTRE MÉTODOS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4"/>
          <p:cNvSpPr/>
          <p:nvPr/>
        </p:nvSpPr>
        <p:spPr>
          <a:xfrm>
            <a:off x="320040" y="59436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GRASP vs Greedy — mejora porcentual por instancia (nsol=100)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33" name="Google Shape;43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280160"/>
            <a:ext cx="8595360" cy="3474720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14"/>
          <p:cNvSpPr/>
          <p:nvPr/>
        </p:nvSpPr>
        <p:spPr>
          <a:xfrm>
            <a:off x="274320" y="4754880"/>
            <a:ext cx="8595360" cy="228600"/>
          </a:xfrm>
          <a:prstGeom prst="rect">
            <a:avLst/>
          </a:prstGeom>
          <a:solidFill>
            <a:srgbClr val="E2F0F7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14"/>
          <p:cNvSpPr/>
          <p:nvPr/>
        </p:nvSpPr>
        <p:spPr>
          <a:xfrm>
            <a:off x="320040" y="4764024"/>
            <a:ext cx="850392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Único caso donde GRASP es peor: j1000_m10_1 (+0.7%) — variación estocástica menor. En 10 de 11 instancias con diferencias notables, GRASP mejora al Greedy.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F4F4"/>
        </a:solidFill>
      </p:bgPr>
    </p:bg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15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15"/>
          <p:cNvSpPr/>
          <p:nvPr/>
        </p:nvSpPr>
        <p:spPr>
          <a:xfrm>
            <a:off x="320040" y="6400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4D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A0C4D8"/>
                </a:solidFill>
                <a:latin typeface="Calibri"/>
                <a:ea typeface="Calibri"/>
                <a:cs typeface="Calibri"/>
                <a:sym typeface="Calibri"/>
              </a:rPr>
              <a:t>COMPARACIÓN ENTRE MÉTODOS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5"/>
          <p:cNvSpPr/>
          <p:nvPr/>
        </p:nvSpPr>
        <p:spPr>
          <a:xfrm>
            <a:off x="320040" y="59436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Noise vs Greedy — deterioro por instancia (nsol=100, r=0.05)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4" name="Google Shape;44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280160"/>
            <a:ext cx="8595360" cy="3474720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15"/>
          <p:cNvSpPr/>
          <p:nvPr/>
        </p:nvSpPr>
        <p:spPr>
          <a:xfrm>
            <a:off x="274320" y="4754880"/>
            <a:ext cx="8595360" cy="228600"/>
          </a:xfrm>
          <a:prstGeom prst="rect">
            <a:avLst/>
          </a:prstGeom>
          <a:solidFill>
            <a:srgbClr val="E2F0F7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15"/>
          <p:cNvSpPr/>
          <p:nvPr/>
        </p:nvSpPr>
        <p:spPr>
          <a:xfrm>
            <a:off x="320040" y="4764024"/>
            <a:ext cx="850392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En instancias pequeñas (ft, j10) Noise puede ser competitivo. En instancias grandes el deterioro es severo: j1000_m10_1 llega a +53%. El problema es el ruido multiplicativo sobre C_j de gran magnitud.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F4F4"/>
        </a:solidFill>
      </p:bgPr>
    </p:bg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6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16"/>
          <p:cNvSpPr/>
          <p:nvPr/>
        </p:nvSpPr>
        <p:spPr>
          <a:xfrm>
            <a:off x="320040" y="6400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4D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A0C4D8"/>
                </a:solidFill>
                <a:latin typeface="Calibri"/>
                <a:ea typeface="Calibri"/>
                <a:cs typeface="Calibri"/>
                <a:sym typeface="Calibri"/>
              </a:rPr>
              <a:t>TIEMPO DE CÓMPUTO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6"/>
          <p:cNvSpPr/>
          <p:nvPr/>
        </p:nvSpPr>
        <p:spPr>
          <a:xfrm>
            <a:off x="320040" y="59436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Tiempo de cómputo — run definitivo (nsol=100)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6"/>
          <p:cNvSpPr/>
          <p:nvPr/>
        </p:nvSpPr>
        <p:spPr>
          <a:xfrm>
            <a:off x="320040" y="1170432"/>
            <a:ext cx="1097280" cy="36576"/>
          </a:xfrm>
          <a:prstGeom prst="rect">
            <a:avLst/>
          </a:prstGeom>
          <a:solidFill>
            <a:srgbClr val="0A9396"/>
          </a:solidFill>
          <a:ln cap="flat" cmpd="sng" w="12700">
            <a:solidFill>
              <a:srgbClr val="0A93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56" name="Google Shape;45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280160"/>
            <a:ext cx="5943600" cy="3474720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16"/>
          <p:cNvSpPr/>
          <p:nvPr/>
        </p:nvSpPr>
        <p:spPr>
          <a:xfrm>
            <a:off x="6400800" y="1280160"/>
            <a:ext cx="2468880" cy="34747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F0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16"/>
          <p:cNvSpPr/>
          <p:nvPr/>
        </p:nvSpPr>
        <p:spPr>
          <a:xfrm>
            <a:off x="6492240" y="137160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Resumen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6"/>
          <p:cNvSpPr/>
          <p:nvPr/>
        </p:nvSpPr>
        <p:spPr>
          <a:xfrm>
            <a:off x="6492240" y="1737360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Greedy total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6"/>
          <p:cNvSpPr/>
          <p:nvPr/>
        </p:nvSpPr>
        <p:spPr>
          <a:xfrm>
            <a:off x="7955280" y="1737360"/>
            <a:ext cx="822960" cy="347472"/>
          </a:xfrm>
          <a:prstGeom prst="rect">
            <a:avLst/>
          </a:prstGeom>
          <a:solidFill>
            <a:srgbClr val="065A82">
              <a:alpha val="14901"/>
            </a:srgbClr>
          </a:solidFill>
          <a:ln cap="flat" cmpd="sng" w="12700">
            <a:solidFill>
              <a:srgbClr val="065A82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16"/>
          <p:cNvSpPr/>
          <p:nvPr/>
        </p:nvSpPr>
        <p:spPr>
          <a:xfrm>
            <a:off x="7955280" y="173736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~14 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6"/>
          <p:cNvSpPr/>
          <p:nvPr/>
        </p:nvSpPr>
        <p:spPr>
          <a:xfrm>
            <a:off x="6492240" y="2167128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GRASP total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6"/>
          <p:cNvSpPr/>
          <p:nvPr/>
        </p:nvSpPr>
        <p:spPr>
          <a:xfrm>
            <a:off x="7955280" y="2167128"/>
            <a:ext cx="822960" cy="347472"/>
          </a:xfrm>
          <a:prstGeom prst="rect">
            <a:avLst/>
          </a:prstGeom>
          <a:solidFill>
            <a:srgbClr val="1C7293">
              <a:alpha val="14901"/>
            </a:srgbClr>
          </a:solidFill>
          <a:ln cap="flat" cmpd="sng" w="12700">
            <a:solidFill>
              <a:srgbClr val="1C7293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6"/>
          <p:cNvSpPr/>
          <p:nvPr/>
        </p:nvSpPr>
        <p:spPr>
          <a:xfrm>
            <a:off x="7955280" y="2167128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~3.5 h/inst.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6"/>
          <p:cNvSpPr/>
          <p:nvPr/>
        </p:nvSpPr>
        <p:spPr>
          <a:xfrm>
            <a:off x="6492240" y="2596896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Noise total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6"/>
          <p:cNvSpPr/>
          <p:nvPr/>
        </p:nvSpPr>
        <p:spPr>
          <a:xfrm>
            <a:off x="7955280" y="2596896"/>
            <a:ext cx="822960" cy="347472"/>
          </a:xfrm>
          <a:prstGeom prst="rect">
            <a:avLst/>
          </a:prstGeom>
          <a:solidFill>
            <a:srgbClr val="0A9396">
              <a:alpha val="14901"/>
            </a:srgbClr>
          </a:solidFill>
          <a:ln cap="flat" cmpd="sng" w="12700">
            <a:solidFill>
              <a:srgbClr val="0A9396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16"/>
          <p:cNvSpPr/>
          <p:nvPr/>
        </p:nvSpPr>
        <p:spPr>
          <a:xfrm>
            <a:off x="7955280" y="2596896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9396"/>
                </a:solidFill>
                <a:latin typeface="Calibri"/>
                <a:ea typeface="Calibri"/>
                <a:cs typeface="Calibri"/>
                <a:sym typeface="Calibri"/>
              </a:rPr>
              <a:t>~3.5 h/inst.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6"/>
          <p:cNvSpPr/>
          <p:nvPr/>
        </p:nvSpPr>
        <p:spPr>
          <a:xfrm>
            <a:off x="6492240" y="3026664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Run completo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6"/>
          <p:cNvSpPr/>
          <p:nvPr/>
        </p:nvSpPr>
        <p:spPr>
          <a:xfrm>
            <a:off x="7955280" y="3026664"/>
            <a:ext cx="822960" cy="347472"/>
          </a:xfrm>
          <a:prstGeom prst="rect">
            <a:avLst/>
          </a:prstGeom>
          <a:solidFill>
            <a:srgbClr val="DC2626">
              <a:alpha val="14901"/>
            </a:srgbClr>
          </a:solidFill>
          <a:ln cap="flat" cmpd="sng" w="12700">
            <a:solidFill>
              <a:srgbClr val="DC2626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16"/>
          <p:cNvSpPr/>
          <p:nvPr/>
        </p:nvSpPr>
        <p:spPr>
          <a:xfrm>
            <a:off x="7955280" y="3026664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845 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6"/>
          <p:cNvSpPr/>
          <p:nvPr/>
        </p:nvSpPr>
        <p:spPr>
          <a:xfrm>
            <a:off x="6492240" y="3456432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Greedy t lineal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6"/>
          <p:cNvSpPr/>
          <p:nvPr/>
        </p:nvSpPr>
        <p:spPr>
          <a:xfrm>
            <a:off x="7955280" y="3456432"/>
            <a:ext cx="822960" cy="347472"/>
          </a:xfrm>
          <a:prstGeom prst="rect">
            <a:avLst/>
          </a:prstGeom>
          <a:solidFill>
            <a:srgbClr val="065A82">
              <a:alpha val="14901"/>
            </a:srgbClr>
          </a:solidFill>
          <a:ln cap="flat" cmpd="sng" w="12700">
            <a:solidFill>
              <a:srgbClr val="065A82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6"/>
          <p:cNvSpPr/>
          <p:nvPr/>
        </p:nvSpPr>
        <p:spPr>
          <a:xfrm>
            <a:off x="7955280" y="3456432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O(n²·m)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6"/>
          <p:cNvSpPr/>
          <p:nvPr/>
        </p:nvSpPr>
        <p:spPr>
          <a:xfrm>
            <a:off x="6492240" y="3886200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GRASP t = nsol×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6"/>
          <p:cNvSpPr/>
          <p:nvPr/>
        </p:nvSpPr>
        <p:spPr>
          <a:xfrm>
            <a:off x="7955280" y="3886200"/>
            <a:ext cx="822960" cy="347472"/>
          </a:xfrm>
          <a:prstGeom prst="rect">
            <a:avLst/>
          </a:prstGeom>
          <a:solidFill>
            <a:srgbClr val="1C7293">
              <a:alpha val="14901"/>
            </a:srgbClr>
          </a:solidFill>
          <a:ln cap="flat" cmpd="sng" w="12700">
            <a:solidFill>
              <a:srgbClr val="1C7293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16"/>
          <p:cNvSpPr/>
          <p:nvPr/>
        </p:nvSpPr>
        <p:spPr>
          <a:xfrm>
            <a:off x="7955280" y="388620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O(n²·m)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F4F4"/>
        </a:soli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17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17"/>
          <p:cNvSpPr/>
          <p:nvPr/>
        </p:nvSpPr>
        <p:spPr>
          <a:xfrm>
            <a:off x="320040" y="6400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4D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A0C4D8"/>
                </a:solidFill>
                <a:latin typeface="Calibri"/>
                <a:ea typeface="Calibri"/>
                <a:cs typeface="Calibri"/>
                <a:sym typeface="Calibri"/>
              </a:rPr>
              <a:t>COMPARACIÓN ENTRE MÉTODOS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7"/>
          <p:cNvSpPr/>
          <p:nvPr/>
        </p:nvSpPr>
        <p:spPr>
          <a:xfrm>
            <a:off x="320040" y="59436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200"/>
              <a:buFont typeface="Trebuchet MS"/>
              <a:buNone/>
            </a:pPr>
            <a:r>
              <a:rPr b="1" i="0" lang="en-US" sz="22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Resumen comparativo — Greedy vs GRASP vs Noise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320040" y="1170432"/>
            <a:ext cx="1097280" cy="36576"/>
          </a:xfrm>
          <a:prstGeom prst="rect">
            <a:avLst/>
          </a:prstGeom>
          <a:solidFill>
            <a:srgbClr val="0A9396"/>
          </a:solidFill>
          <a:ln cap="flat" cmpd="sng" w="12700">
            <a:solidFill>
              <a:srgbClr val="0A93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17"/>
          <p:cNvSpPr/>
          <p:nvPr/>
        </p:nvSpPr>
        <p:spPr>
          <a:xfrm>
            <a:off x="137160" y="1325880"/>
            <a:ext cx="2103120" cy="45720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17"/>
          <p:cNvSpPr/>
          <p:nvPr/>
        </p:nvSpPr>
        <p:spPr>
          <a:xfrm>
            <a:off x="201168" y="132588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Criterio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7"/>
          <p:cNvSpPr/>
          <p:nvPr/>
        </p:nvSpPr>
        <p:spPr>
          <a:xfrm>
            <a:off x="2240280" y="1325880"/>
            <a:ext cx="2103120" cy="45720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17"/>
          <p:cNvSpPr/>
          <p:nvPr/>
        </p:nvSpPr>
        <p:spPr>
          <a:xfrm>
            <a:off x="2304288" y="132588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Greedy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7"/>
          <p:cNvSpPr/>
          <p:nvPr/>
        </p:nvSpPr>
        <p:spPr>
          <a:xfrm>
            <a:off x="4343400" y="1325880"/>
            <a:ext cx="2377440" cy="45720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17"/>
          <p:cNvSpPr/>
          <p:nvPr/>
        </p:nvSpPr>
        <p:spPr>
          <a:xfrm>
            <a:off x="4407408" y="132588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GRASP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7"/>
          <p:cNvSpPr/>
          <p:nvPr/>
        </p:nvSpPr>
        <p:spPr>
          <a:xfrm>
            <a:off x="6720840" y="1325880"/>
            <a:ext cx="2560320" cy="45720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7"/>
          <p:cNvSpPr/>
          <p:nvPr/>
        </p:nvSpPr>
        <p:spPr>
          <a:xfrm>
            <a:off x="6784848" y="132588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Noise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7"/>
          <p:cNvSpPr/>
          <p:nvPr/>
        </p:nvSpPr>
        <p:spPr>
          <a:xfrm>
            <a:off x="137160" y="1810512"/>
            <a:ext cx="2103120" cy="457200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17"/>
          <p:cNvSpPr/>
          <p:nvPr/>
        </p:nvSpPr>
        <p:spPr>
          <a:xfrm>
            <a:off x="201168" y="1810512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Determinismo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7"/>
          <p:cNvSpPr/>
          <p:nvPr/>
        </p:nvSpPr>
        <p:spPr>
          <a:xfrm>
            <a:off x="2240280" y="1810512"/>
            <a:ext cx="2103120" cy="457200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17"/>
          <p:cNvSpPr/>
          <p:nvPr/>
        </p:nvSpPr>
        <p:spPr>
          <a:xfrm>
            <a:off x="2304288" y="1810512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Siempre igual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7"/>
          <p:cNvSpPr/>
          <p:nvPr/>
        </p:nvSpPr>
        <p:spPr>
          <a:xfrm>
            <a:off x="4343400" y="1810512"/>
            <a:ext cx="2377440" cy="457200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7"/>
          <p:cNvSpPr/>
          <p:nvPr/>
        </p:nvSpPr>
        <p:spPr>
          <a:xfrm>
            <a:off x="4407408" y="1810512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Varía por seed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7"/>
          <p:cNvSpPr/>
          <p:nvPr/>
        </p:nvSpPr>
        <p:spPr>
          <a:xfrm>
            <a:off x="6720840" y="1810512"/>
            <a:ext cx="2560320" cy="457200"/>
          </a:xfrm>
          <a:prstGeom prst="rect">
            <a:avLst/>
          </a:prstGeom>
          <a:solidFill>
            <a:srgbClr val="FFF7ED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17"/>
          <p:cNvSpPr/>
          <p:nvPr/>
        </p:nvSpPr>
        <p:spPr>
          <a:xfrm>
            <a:off x="6784848" y="1810512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Varía por seed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7"/>
          <p:cNvSpPr/>
          <p:nvPr/>
        </p:nvSpPr>
        <p:spPr>
          <a:xfrm>
            <a:off x="137160" y="2295144"/>
            <a:ext cx="210312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17"/>
          <p:cNvSpPr/>
          <p:nvPr/>
        </p:nvSpPr>
        <p:spPr>
          <a:xfrm>
            <a:off x="201168" y="2295144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Calidad (n=1000)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7"/>
          <p:cNvSpPr/>
          <p:nvPr/>
        </p:nvSpPr>
        <p:spPr>
          <a:xfrm>
            <a:off x="2240280" y="2295144"/>
            <a:ext cx="210312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17"/>
          <p:cNvSpPr/>
          <p:nvPr/>
        </p:nvSpPr>
        <p:spPr>
          <a:xfrm>
            <a:off x="2304288" y="2295144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Base referencia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7"/>
          <p:cNvSpPr/>
          <p:nvPr/>
        </p:nvSpPr>
        <p:spPr>
          <a:xfrm>
            <a:off x="4343400" y="2295144"/>
            <a:ext cx="2377440" cy="457200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17"/>
          <p:cNvSpPr/>
          <p:nvPr/>
        </p:nvSpPr>
        <p:spPr>
          <a:xfrm>
            <a:off x="4407408" y="2295144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≈ Base / leve mejora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7"/>
          <p:cNvSpPr/>
          <p:nvPr/>
        </p:nvSpPr>
        <p:spPr>
          <a:xfrm>
            <a:off x="6720840" y="2295144"/>
            <a:ext cx="2560320" cy="457200"/>
          </a:xfrm>
          <a:prstGeom prst="rect">
            <a:avLst/>
          </a:prstGeom>
          <a:solidFill>
            <a:srgbClr val="FFF7ED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17"/>
          <p:cNvSpPr/>
          <p:nvPr/>
        </p:nvSpPr>
        <p:spPr>
          <a:xfrm>
            <a:off x="6784848" y="2295144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Peor (+6% a +53%)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7"/>
          <p:cNvSpPr/>
          <p:nvPr/>
        </p:nvSpPr>
        <p:spPr>
          <a:xfrm>
            <a:off x="137160" y="2779776"/>
            <a:ext cx="2103120" cy="457200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17"/>
          <p:cNvSpPr/>
          <p:nvPr/>
        </p:nvSpPr>
        <p:spPr>
          <a:xfrm>
            <a:off x="201168" y="2779776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Calidad (n≤100)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7"/>
          <p:cNvSpPr/>
          <p:nvPr/>
        </p:nvSpPr>
        <p:spPr>
          <a:xfrm>
            <a:off x="2240280" y="2779776"/>
            <a:ext cx="2103120" cy="457200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17"/>
          <p:cNvSpPr/>
          <p:nvPr/>
        </p:nvSpPr>
        <p:spPr>
          <a:xfrm>
            <a:off x="2304288" y="2779776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Base referencia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7"/>
          <p:cNvSpPr/>
          <p:nvPr/>
        </p:nvSpPr>
        <p:spPr>
          <a:xfrm>
            <a:off x="4343400" y="2779776"/>
            <a:ext cx="2377440" cy="457200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17"/>
          <p:cNvSpPr/>
          <p:nvPr/>
        </p:nvSpPr>
        <p:spPr>
          <a:xfrm>
            <a:off x="4407408" y="2779776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Mejor (−0.9% a −3.8%)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7"/>
          <p:cNvSpPr/>
          <p:nvPr/>
        </p:nvSpPr>
        <p:spPr>
          <a:xfrm>
            <a:off x="6720840" y="2779776"/>
            <a:ext cx="2560320" cy="457200"/>
          </a:xfrm>
          <a:prstGeom prst="rect">
            <a:avLst/>
          </a:prstGeom>
          <a:solidFill>
            <a:srgbClr val="FFF7ED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17"/>
          <p:cNvSpPr/>
          <p:nvPr/>
        </p:nvSpPr>
        <p:spPr>
          <a:xfrm>
            <a:off x="6784848" y="277977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Variable (−5% a +18%)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7"/>
          <p:cNvSpPr/>
          <p:nvPr/>
        </p:nvSpPr>
        <p:spPr>
          <a:xfrm>
            <a:off x="137160" y="3264408"/>
            <a:ext cx="210312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17"/>
          <p:cNvSpPr/>
          <p:nvPr/>
        </p:nvSpPr>
        <p:spPr>
          <a:xfrm>
            <a:off x="201168" y="3264408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Tiempo relativo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7"/>
          <p:cNvSpPr/>
          <p:nvPr/>
        </p:nvSpPr>
        <p:spPr>
          <a:xfrm>
            <a:off x="2240280" y="3264408"/>
            <a:ext cx="210312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17"/>
          <p:cNvSpPr/>
          <p:nvPr/>
        </p:nvSpPr>
        <p:spPr>
          <a:xfrm>
            <a:off x="2304288" y="3264408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7"/>
          <p:cNvSpPr/>
          <p:nvPr/>
        </p:nvSpPr>
        <p:spPr>
          <a:xfrm>
            <a:off x="4343400" y="3264408"/>
            <a:ext cx="2377440" cy="457200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3" name="Google Shape;523;p17"/>
          <p:cNvSpPr/>
          <p:nvPr/>
        </p:nvSpPr>
        <p:spPr>
          <a:xfrm>
            <a:off x="4407408" y="3264408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~nsol× más lento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7"/>
          <p:cNvSpPr/>
          <p:nvPr/>
        </p:nvSpPr>
        <p:spPr>
          <a:xfrm>
            <a:off x="6720840" y="3264408"/>
            <a:ext cx="2560320" cy="457200"/>
          </a:xfrm>
          <a:prstGeom prst="rect">
            <a:avLst/>
          </a:prstGeom>
          <a:solidFill>
            <a:srgbClr val="FFF7ED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17"/>
          <p:cNvSpPr/>
          <p:nvPr/>
        </p:nvSpPr>
        <p:spPr>
          <a:xfrm>
            <a:off x="6784848" y="326440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~nsol× más lento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7"/>
          <p:cNvSpPr/>
          <p:nvPr/>
        </p:nvSpPr>
        <p:spPr>
          <a:xfrm>
            <a:off x="137160" y="3749040"/>
            <a:ext cx="2103120" cy="457200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17"/>
          <p:cNvSpPr/>
          <p:nvPr/>
        </p:nvSpPr>
        <p:spPr>
          <a:xfrm>
            <a:off x="201168" y="37490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Parámetros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7"/>
          <p:cNvSpPr/>
          <p:nvPr/>
        </p:nvSpPr>
        <p:spPr>
          <a:xfrm>
            <a:off x="2240280" y="3749040"/>
            <a:ext cx="2103120" cy="457200"/>
          </a:xfrm>
          <a:prstGeom prst="rect">
            <a:avLst/>
          </a:prstGeom>
          <a:solidFill>
            <a:srgbClr val="F7FAFC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17"/>
          <p:cNvSpPr/>
          <p:nvPr/>
        </p:nvSpPr>
        <p:spPr>
          <a:xfrm>
            <a:off x="2304288" y="37490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Ninguno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7"/>
          <p:cNvSpPr/>
          <p:nvPr/>
        </p:nvSpPr>
        <p:spPr>
          <a:xfrm>
            <a:off x="4343400" y="3749040"/>
            <a:ext cx="2377440" cy="457200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17"/>
          <p:cNvSpPr/>
          <p:nvPr/>
        </p:nvSpPr>
        <p:spPr>
          <a:xfrm>
            <a:off x="4407408" y="37490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alpha, nsol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7"/>
          <p:cNvSpPr/>
          <p:nvPr/>
        </p:nvSpPr>
        <p:spPr>
          <a:xfrm>
            <a:off x="6720840" y="3749040"/>
            <a:ext cx="2560320" cy="457200"/>
          </a:xfrm>
          <a:prstGeom prst="rect">
            <a:avLst/>
          </a:prstGeom>
          <a:solidFill>
            <a:srgbClr val="FFF7ED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17"/>
          <p:cNvSpPr/>
          <p:nvPr/>
        </p:nvSpPr>
        <p:spPr>
          <a:xfrm>
            <a:off x="6784848" y="374904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r, nsol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7"/>
          <p:cNvSpPr/>
          <p:nvPr/>
        </p:nvSpPr>
        <p:spPr>
          <a:xfrm>
            <a:off x="137160" y="4233672"/>
            <a:ext cx="210312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17"/>
          <p:cNvSpPr/>
          <p:nvPr/>
        </p:nvSpPr>
        <p:spPr>
          <a:xfrm>
            <a:off x="201168" y="4233672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¿Recomendado?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7"/>
          <p:cNvSpPr/>
          <p:nvPr/>
        </p:nvSpPr>
        <p:spPr>
          <a:xfrm>
            <a:off x="2240280" y="4233672"/>
            <a:ext cx="210312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17"/>
          <p:cNvSpPr/>
          <p:nvPr/>
        </p:nvSpPr>
        <p:spPr>
          <a:xfrm>
            <a:off x="2304288" y="4233672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Referencia / instancias rápidas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7"/>
          <p:cNvSpPr/>
          <p:nvPr/>
        </p:nvSpPr>
        <p:spPr>
          <a:xfrm>
            <a:off x="4343400" y="4233672"/>
            <a:ext cx="2377440" cy="457200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17"/>
          <p:cNvSpPr/>
          <p:nvPr/>
        </p:nvSpPr>
        <p:spPr>
          <a:xfrm>
            <a:off x="4407408" y="4233672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Sí — mejor calidad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7"/>
          <p:cNvSpPr/>
          <p:nvPr/>
        </p:nvSpPr>
        <p:spPr>
          <a:xfrm>
            <a:off x="6720840" y="4233672"/>
            <a:ext cx="2560320" cy="457200"/>
          </a:xfrm>
          <a:prstGeom prst="rect">
            <a:avLst/>
          </a:prstGeom>
          <a:solidFill>
            <a:srgbClr val="FFF7ED"/>
          </a:solidFill>
          <a:ln cap="flat" cmpd="sng" w="12700">
            <a:solidFill>
              <a:srgbClr val="C8D8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17"/>
          <p:cNvSpPr/>
          <p:nvPr/>
        </p:nvSpPr>
        <p:spPr>
          <a:xfrm>
            <a:off x="6784848" y="4233672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Solo instancias muy pequeñas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65A82"/>
        </a:solidFill>
      </p:bgPr>
    </p:bg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8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A9396"/>
          </a:solidFill>
          <a:ln cap="flat" cmpd="sng" w="12700">
            <a:solidFill>
              <a:srgbClr val="0A93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18"/>
          <p:cNvSpPr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9396"/>
              </a:buClr>
              <a:buSzPts val="1100"/>
              <a:buFont typeface="Trebuchet MS"/>
              <a:buNone/>
            </a:pPr>
            <a:r>
              <a:rPr b="1" i="0" lang="en-US" sz="1100" u="none" cap="none" strike="noStrike">
                <a:solidFill>
                  <a:srgbClr val="0A9396"/>
                </a:solidFill>
                <a:latin typeface="Trebuchet MS"/>
                <a:ea typeface="Trebuchet MS"/>
                <a:cs typeface="Trebuchet MS"/>
                <a:sym typeface="Trebuchet MS"/>
              </a:rPr>
              <a:t>CONCLUSIONES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8"/>
          <p:cNvSpPr/>
          <p:nvPr/>
        </p:nvSpPr>
        <p:spPr>
          <a:xfrm>
            <a:off x="548640" y="68580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Trebuchet MS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Hallazgos principales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8"/>
          <p:cNvSpPr/>
          <p:nvPr/>
        </p:nvSpPr>
        <p:spPr>
          <a:xfrm>
            <a:off x="548640" y="1417320"/>
            <a:ext cx="4114800" cy="1005840"/>
          </a:xfrm>
          <a:prstGeom prst="rect">
            <a:avLst/>
          </a:prstGeom>
          <a:solidFill>
            <a:srgbClr val="0D3547"/>
          </a:solidFill>
          <a:ln cap="flat" cmpd="sng" w="12700">
            <a:solidFill>
              <a:srgbClr val="1A4F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18"/>
          <p:cNvSpPr/>
          <p:nvPr/>
        </p:nvSpPr>
        <p:spPr>
          <a:xfrm>
            <a:off x="548640" y="1417320"/>
            <a:ext cx="411480" cy="1005840"/>
          </a:xfrm>
          <a:prstGeom prst="rect">
            <a:avLst/>
          </a:prstGeom>
          <a:solidFill>
            <a:srgbClr val="0A9396"/>
          </a:solidFill>
          <a:ln cap="flat" cmpd="sng" w="12700">
            <a:solidFill>
              <a:srgbClr val="0A93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18"/>
          <p:cNvSpPr/>
          <p:nvPr/>
        </p:nvSpPr>
        <p:spPr>
          <a:xfrm>
            <a:off x="548640" y="1417320"/>
            <a:ext cx="4114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8"/>
          <p:cNvSpPr/>
          <p:nvPr/>
        </p:nvSpPr>
        <p:spPr>
          <a:xfrm>
            <a:off x="1051560" y="1490472"/>
            <a:ext cx="3520440" cy="8595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GRASP supera al Greedy en la mayoría de instancias con alpha=0.03 y nsol≥50. La mejora es más notable en instancias medianas (n=100), donde llega hasta −3.8%.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18"/>
          <p:cNvSpPr/>
          <p:nvPr/>
        </p:nvSpPr>
        <p:spPr>
          <a:xfrm>
            <a:off x="548640" y="2560320"/>
            <a:ext cx="4114800" cy="1005840"/>
          </a:xfrm>
          <a:prstGeom prst="rect">
            <a:avLst/>
          </a:prstGeom>
          <a:solidFill>
            <a:srgbClr val="0D3547"/>
          </a:solidFill>
          <a:ln cap="flat" cmpd="sng" w="12700">
            <a:solidFill>
              <a:srgbClr val="1A4F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18"/>
          <p:cNvSpPr/>
          <p:nvPr/>
        </p:nvSpPr>
        <p:spPr>
          <a:xfrm>
            <a:off x="548640" y="2560320"/>
            <a:ext cx="411480" cy="1005840"/>
          </a:xfrm>
          <a:prstGeom prst="rect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18"/>
          <p:cNvSpPr/>
          <p:nvPr/>
        </p:nvSpPr>
        <p:spPr>
          <a:xfrm>
            <a:off x="548640" y="2560320"/>
            <a:ext cx="4114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8"/>
          <p:cNvSpPr/>
          <p:nvPr/>
        </p:nvSpPr>
        <p:spPr>
          <a:xfrm>
            <a:off x="1051560" y="2633472"/>
            <a:ext cx="3520440" cy="8595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El Noising Method con ruido multiplicativo no es adecuado para este problema en instancias grandes. El deterioro es severo (+6% a +53%) porque el ruido sobre C_j de gran magnitud destruye la guía greedy.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8"/>
          <p:cNvSpPr/>
          <p:nvPr/>
        </p:nvSpPr>
        <p:spPr>
          <a:xfrm>
            <a:off x="548640" y="3703320"/>
            <a:ext cx="4114800" cy="1005840"/>
          </a:xfrm>
          <a:prstGeom prst="rect">
            <a:avLst/>
          </a:prstGeom>
          <a:solidFill>
            <a:srgbClr val="0D3547"/>
          </a:solidFill>
          <a:ln cap="flat" cmpd="sng" w="12700">
            <a:solidFill>
              <a:srgbClr val="1A4F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18"/>
          <p:cNvSpPr/>
          <p:nvPr/>
        </p:nvSpPr>
        <p:spPr>
          <a:xfrm>
            <a:off x="548640" y="3703320"/>
            <a:ext cx="411480" cy="1005840"/>
          </a:xfrm>
          <a:prstGeom prst="rect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18"/>
          <p:cNvSpPr/>
          <p:nvPr/>
        </p:nvSpPr>
        <p:spPr>
          <a:xfrm>
            <a:off x="548640" y="3703320"/>
            <a:ext cx="4114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8"/>
          <p:cNvSpPr/>
          <p:nvPr/>
        </p:nvSpPr>
        <p:spPr>
          <a:xfrm>
            <a:off x="1051560" y="3776472"/>
            <a:ext cx="3520440" cy="8595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La cota inferior LB = Σ(r_j + total_j) es muy laxa. Los gaps de miles de % son esperables y no indican algoritmos malos — reflejan la complejidad real del NWJSSP con n y m grandes.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18"/>
          <p:cNvSpPr/>
          <p:nvPr/>
        </p:nvSpPr>
        <p:spPr>
          <a:xfrm>
            <a:off x="4892040" y="1417320"/>
            <a:ext cx="4114800" cy="1005840"/>
          </a:xfrm>
          <a:prstGeom prst="rect">
            <a:avLst/>
          </a:prstGeom>
          <a:solidFill>
            <a:srgbClr val="0D3547"/>
          </a:solidFill>
          <a:ln cap="flat" cmpd="sng" w="12700">
            <a:solidFill>
              <a:srgbClr val="1A4F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18"/>
          <p:cNvSpPr/>
          <p:nvPr/>
        </p:nvSpPr>
        <p:spPr>
          <a:xfrm>
            <a:off x="4892040" y="1417320"/>
            <a:ext cx="411480" cy="1005840"/>
          </a:xfrm>
          <a:prstGeom prst="rect">
            <a:avLst/>
          </a:prstGeom>
          <a:solidFill>
            <a:srgbClr val="0A7C8A"/>
          </a:solidFill>
          <a:ln cap="flat" cmpd="sng" w="12700">
            <a:solidFill>
              <a:srgbClr val="0A7C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4" name="Google Shape;564;p18"/>
          <p:cNvSpPr/>
          <p:nvPr/>
        </p:nvSpPr>
        <p:spPr>
          <a:xfrm>
            <a:off x="4892040" y="1417320"/>
            <a:ext cx="4114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8"/>
          <p:cNvSpPr/>
          <p:nvPr/>
        </p:nvSpPr>
        <p:spPr>
          <a:xfrm>
            <a:off x="5394960" y="1490472"/>
            <a:ext cx="3520440" cy="8595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Más iteraciones (nsol) siempre ayudan a GRASP con rendimientos decrecientes. El trade-off óptimo está alrededor de nsol=50–100 para instancias medianas.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8"/>
          <p:cNvSpPr/>
          <p:nvPr/>
        </p:nvSpPr>
        <p:spPr>
          <a:xfrm>
            <a:off x="4892040" y="2560320"/>
            <a:ext cx="4114800" cy="1005840"/>
          </a:xfrm>
          <a:prstGeom prst="rect">
            <a:avLst/>
          </a:prstGeom>
          <a:solidFill>
            <a:srgbClr val="0D3547"/>
          </a:solidFill>
          <a:ln cap="flat" cmpd="sng" w="12700">
            <a:solidFill>
              <a:srgbClr val="1A4F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18"/>
          <p:cNvSpPr/>
          <p:nvPr/>
        </p:nvSpPr>
        <p:spPr>
          <a:xfrm>
            <a:off x="4892040" y="2560320"/>
            <a:ext cx="411480" cy="100584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18"/>
          <p:cNvSpPr/>
          <p:nvPr/>
        </p:nvSpPr>
        <p:spPr>
          <a:xfrm>
            <a:off x="4892040" y="2560320"/>
            <a:ext cx="411480" cy="1005840"/>
          </a:xfrm>
          <a:prstGeom prst="rect">
            <a:avLst/>
          </a:prstGeom>
          <a:solidFill>
            <a:srgbClr val="6B9EB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8"/>
          <p:cNvSpPr/>
          <p:nvPr/>
        </p:nvSpPr>
        <p:spPr>
          <a:xfrm>
            <a:off x="5394960" y="2633472"/>
            <a:ext cx="3520440" cy="8595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El Greedy es extremadamente eficiente en tiempo y sirve como referencia sólida. En instancias muy grandes (n=1000, m=1000) la brecha de calidad con GRASP es mínima vs el costo de 160× más tiempo.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65A82"/>
        </a:solidFill>
      </p:bgPr>
    </p:bg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19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0A9396">
              <a:alpha val="20000"/>
            </a:srgbClr>
          </a:solidFill>
          <a:ln cap="flat" cmpd="sng" w="12700">
            <a:solidFill>
              <a:srgbClr val="0A9396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p19"/>
          <p:cNvSpPr/>
          <p:nvPr/>
        </p:nvSpPr>
        <p:spPr>
          <a:xfrm>
            <a:off x="914400" y="1847120"/>
            <a:ext cx="73152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Trebuchet MS"/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Gracias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