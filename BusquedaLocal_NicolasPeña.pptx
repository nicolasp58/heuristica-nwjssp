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5" r:id="rId11"/>
    <p:sldId id="266" r:id="rId12"/>
    <p:sldId id="267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78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C9089-0711-D93D-70C7-0CD62B7B4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5366A-50C7-FCFF-A2CD-0FB64ABB8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C0C4F-F73D-0136-37E6-948B14A64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CFB9A-864D-4E5B-3D1F-F18B2DDE0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05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25880"/>
            <a:ext cx="91440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" name="Shape 1"/>
          <p:cNvSpPr/>
          <p:nvPr/>
        </p:nvSpPr>
        <p:spPr>
          <a:xfrm>
            <a:off x="0" y="1325880"/>
            <a:ext cx="182880" cy="2651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11480" y="1417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Local 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34340" y="215112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— Trabajo 2  ·  Búsqueda en Vecindarios e Intensificación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4340" y="2644903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Nicolás Peña  ·  Universidad EAFIT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IMPLEMENTADOS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Improvement (BI)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3977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TODO el vecindario en cada iteración.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el vecino con menor Z que mejore la solución actual.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 ← solución inicial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mientras exista mejora: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2a. Guardar S ← B, fin ←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2b. Para cada vecino h en N(S):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si f(h) &lt; f(B): actualizar B, fin ← false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retornar B (óptimo local)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cada movimiento garantiza el mayor avance posible en Z.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07408" y="1298448"/>
            <a:ext cx="4480560" cy="3611880"/>
          </a:xfrm>
          <a:prstGeom prst="rect">
            <a:avLst/>
          </a:prstGeom>
          <a:solidFill>
            <a:srgbClr val="172B1E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07408" y="1298448"/>
            <a:ext cx="4480560" cy="292608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17136" y="12984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— Best Improvement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4206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← InitialSolution()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 ← false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fin = false 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 ←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 ← 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  ←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h &lt;= |Neighbors| 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 ← Move(S, h)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f(P) &lt; f(B) then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   ← 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fin ← false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 if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 ← h + 1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while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while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B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IMPLEMENTADOS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Improvement (FI)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3977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el PRIMER vecino que mejore y reinicia exploración.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recorre todo el vecindario antes de moverse.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 ← solución inicial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mientras exista mejora: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2a. fin ← true, h ←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2b. Para cada vecino h mientras fin = true: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si f(h) &lt; f(B): B ← h, fin ← false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3DA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(break → reinicia desde el principio)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retornar B (óptimo local)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más iteraciones en el mismo tiempo — efectivo en instancias grandes.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07408" y="1298448"/>
            <a:ext cx="4480560" cy="3611880"/>
          </a:xfrm>
          <a:prstGeom prst="rect">
            <a:avLst/>
          </a:prstGeom>
          <a:solidFill>
            <a:srgbClr val="172B1E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07408" y="1298448"/>
            <a:ext cx="4480560" cy="292608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17136" y="12984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— First Improvement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4206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← InitialSolution()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 ← false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fin = false 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 ←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   ←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h &lt;= |Neighbors| and fin = true 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 ← Move(B, h)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f(P) &lt; f(B) then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   ← 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fin ← false   // reinicia exploración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 if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 ← h + 1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while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while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B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VECINDARIOS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 — Swap(i) : Intercambio de adyacentes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4709160" cy="59436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7" name="Text 5"/>
          <p:cNvSpPr/>
          <p:nvPr/>
        </p:nvSpPr>
        <p:spPr>
          <a:xfrm>
            <a:off x="411480" y="13441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cambio: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5910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200" dirty="0"/>
              <a:t>Intercambiar s[i] con s[i+1], para i = 0, 1, …, n−2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Swap(2) sobre  [A, B, C, D, E] 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2340864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4747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07592" y="2340864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30759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267712" y="2340864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26771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27832" y="2340864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22783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187952" y="2340864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18795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20040" y="30175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posición 2 ↔ posición 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3291840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4747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307592" y="3291840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30759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267712" y="3291840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226771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227832" y="3291840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22783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187952" y="3291840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18795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486400" y="2249424"/>
            <a:ext cx="3383280" cy="173736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5623560" y="23591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del vecindario: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068312" y="235915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− 1 vecinos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23560" y="27614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modifica: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068312" y="276148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posiciones adyacentes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23560" y="31638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 de Insert: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068312" y="316382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desplaza intermedios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23560" y="35661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 de 2-opt: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68312" y="356616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invierte el bloque</a:t>
            </a:r>
            <a:endParaRPr lang="en-US" sz="850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9278E0CF-9335-4A09-638F-64C7F12BEACF}"/>
              </a:ext>
            </a:extLst>
          </p:cNvPr>
          <p:cNvSpPr/>
          <p:nvPr/>
        </p:nvSpPr>
        <p:spPr>
          <a:xfrm>
            <a:off x="274320" y="4343400"/>
            <a:ext cx="8631936" cy="59436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42186529-38A5-52C2-514D-509F96506CA7}"/>
              </a:ext>
            </a:extLst>
          </p:cNvPr>
          <p:cNvSpPr/>
          <p:nvPr/>
        </p:nvSpPr>
        <p:spPr>
          <a:xfrm>
            <a:off x="804672" y="45125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N(s)  =  {  s'  |  s'[i] = s[i+1]  ,  s'[i+1] = s[i]  ,  i ∈ {0, 1, …, n−2}  }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VECINDARIOS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 — Insert(i, j) : Reinserción en ventana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4709160" cy="59436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11480" y="13441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cambio: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55774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200" dirty="0"/>
              <a:t>Extraer s[i] e insertar en posición j, donde 2 ≤ |i − j| ≤ 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Insert(1 → posición 4) sobre  [A, B, C, D, E] 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2340864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4747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07592" y="2340864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30759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267712" y="2340864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26771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27832" y="2340864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22783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187952" y="2340864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18795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20040" y="30175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extraer B de pos 1 → lista [A,C,D,E] → insertar B en pos 3  (j_dest = j_orig − 1 = 3)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3291840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4747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307592" y="3291840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30759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267712" y="3291840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226771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227832" y="3291840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22783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187952" y="3291840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18795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486400" y="2249424"/>
            <a:ext cx="3383280" cy="173736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5623560" y="23591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068312" y="235915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4·n vecinos (k=3)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23560" y="27614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Excluye j = i±1: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068312" y="276148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solapamiento con Swap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23560" y="31638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Desplaza: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068312" y="316382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trabajos intermedios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23560" y="35661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 k: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68312" y="356616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±3 posiciones</a:t>
            </a:r>
            <a:endParaRPr lang="en-US" sz="850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A1C6D662-4FE4-B516-A477-6BF4F9AEC2C6}"/>
              </a:ext>
            </a:extLst>
          </p:cNvPr>
          <p:cNvSpPr/>
          <p:nvPr/>
        </p:nvSpPr>
        <p:spPr>
          <a:xfrm>
            <a:off x="256032" y="4343400"/>
            <a:ext cx="8631936" cy="59436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EA4D0168-3E80-10A6-7E12-864FF7EDABE1}"/>
              </a:ext>
            </a:extLst>
          </p:cNvPr>
          <p:cNvSpPr/>
          <p:nvPr/>
        </p:nvSpPr>
        <p:spPr>
          <a:xfrm>
            <a:off x="804672" y="45125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N(s)  =  {  s'  |  extraer s[i], insertar en j  :  |i − j| ≥ 2  y  |i − j| ≤ k  ,  k = 3  }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VECINDARIOS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— 2-opt(i, j) : Inversión de segmento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4709160" cy="59436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11480" y="13441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cambio: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5910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200" dirty="0"/>
              <a:t>Invertir el segmento s[</a:t>
            </a:r>
            <a:r>
              <a:rPr lang="es-MX" sz="1200" dirty="0" err="1"/>
              <a:t>i..j</a:t>
            </a:r>
            <a:r>
              <a:rPr lang="es-MX" sz="1200" dirty="0"/>
              <a:t>], donde 3 ≤ j − i + 1 ≤ 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2-opt(1, 3) sobre  [A, B, C, D, E]  — segmento de largo 3 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2340864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4747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07592" y="2340864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30759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267712" y="2340864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26771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27832" y="2340864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22783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187952" y="2340864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18795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20040" y="30175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segmento [1..3] = [B, C, D]  →  invertido: [D, C, B]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3291840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4747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307592" y="3291840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30759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267712" y="3291840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226771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227832" y="3291840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22783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187952" y="3291840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18795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486400" y="2249424"/>
            <a:ext cx="3383280" cy="173736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5623560" y="23591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068312" y="235915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3·n vecinos (L=5, min=3)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23560" y="27614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mínimo 3: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068312" y="276148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2 = Swap adyacente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23560" y="31638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Invierte: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068312" y="316382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orden interno del bloque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23560" y="35661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68312" y="356616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min_len=3, max_len=5</a:t>
            </a:r>
            <a:endParaRPr lang="en-US" sz="850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B98EEC30-AE05-8993-8FAE-03AB34B49781}"/>
              </a:ext>
            </a:extLst>
          </p:cNvPr>
          <p:cNvSpPr/>
          <p:nvPr/>
        </p:nvSpPr>
        <p:spPr>
          <a:xfrm>
            <a:off x="256032" y="4297680"/>
            <a:ext cx="8631936" cy="59436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C89ECA51-C1F7-E90C-A07C-1B14323688A0}"/>
              </a:ext>
            </a:extLst>
          </p:cNvPr>
          <p:cNvSpPr/>
          <p:nvPr/>
        </p:nvSpPr>
        <p:spPr>
          <a:xfrm>
            <a:off x="804672" y="44622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N(s)  =  {  s'  |  s'[i..j] = reverse( s[i..j] )  :  3 ≤ j − i + 1 ≤ L  ,  L = 5  }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EJECUCIÓN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del tiempo y optimizaciones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1737360" cy="100584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56032" y="134416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 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6032" y="188183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hora exacta)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21408" y="1298448"/>
            <a:ext cx="1737360" cy="100584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121408" y="134416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21408" y="188183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procesadas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986784" y="1298448"/>
            <a:ext cx="1737360" cy="100584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986784" y="134416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86784" y="188183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instancia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852160" y="1298448"/>
            <a:ext cx="1737360" cy="100584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852160" y="134416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852160" y="188183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totales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 s c/u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450592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56032" y="2450592"/>
            <a:ext cx="64008" cy="2423160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02336" y="25420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proporcional a n×m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" y="2852928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grandes (j1000_m1000) reciben 1,605 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pequeñas (ft06, n=6) reciben 0.1 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Fórmula: t_i = 3600 × (n_i × m_i) / Σ(n_j × m_j)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absolutos → run dura exactamente 1 hora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82112" y="2450592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182112" y="2450592"/>
            <a:ext cx="64008" cy="24231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328416" y="25420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secuencial con deadlines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28416" y="2852928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combinación tiene un deadline absoluto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 de cuánto tarde la anterior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acumulación de errores de distribución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exactamente 3600 s de reloj real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08192" y="2450592"/>
            <a:ext cx="2788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6108192" y="2450592"/>
            <a:ext cx="64008" cy="2423160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254496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de evaluaciones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54496" y="2852928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 {tuple(secuencia): Z}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recalcular la FO para secuencias ya vistas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80,000 entradas para controlar memoria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Especialmente útil en instancias pequeñas con muchos reinicios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INICIAL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Inicial — Noise Method (r = 0.5, nsol = 1)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3977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con Ruido (Noising Method)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mecanismo que el Trabajo 1, pero como punto de partida.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perturbación: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2450592"/>
            <a:ext cx="3794760" cy="475488"/>
          </a:xfrm>
          <a:prstGeom prst="rect">
            <a:avLst/>
          </a:prstGeom>
          <a:solidFill>
            <a:srgbClr val="172B1E"/>
          </a:solidFill>
          <a:ln w="12700">
            <a:solidFill>
              <a:srgbClr val="172B1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11480" y="24871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C_j* = C_j × ( 1 + r × U(-1, 1) 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29900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0.5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ruido de ±50% sobre C_j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nsol = 1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una sola construcción (mismo costo que Greedy)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Noise es la MISMA para las 6 combinaciones de cada instancia. Así, las diferencias en el resultado final reflejan solo la efectividad del vecindario y el criterio, no el punto de partida.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07408" y="1298448"/>
            <a:ext cx="4480560" cy="3611880"/>
          </a:xfrm>
          <a:prstGeom prst="rect">
            <a:avLst/>
          </a:prstGeom>
          <a:solidFill>
            <a:srgbClr val="172B1E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407408" y="1298448"/>
            <a:ext cx="4480560" cy="292608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517136" y="12984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el Constructivo Greedy?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645920"/>
            <a:ext cx="4206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Greedy minimiza C_j en cada paso: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Produce solución cercana al óptimo local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de los vecindarios definidos.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Greedy como inicio: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swap-BI:    mejora ≈ 0–1%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insert-BI:  mejora ≈ 0–1%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2opt-BI:    mejora ≈ 0%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Noise(r=0.5) como inicio: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swap-BI:    mejora ≈ 5–17%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insert-FI:  mejora ≈ 12–22%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2opt-BI:    mejora ≈ 14–21%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Noise permite observar y comparar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 capacidad real de cada método.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COMPARACIÓN CON CONSTRUCTIVO GREEDY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31172"/>
            <a:ext cx="8503920" cy="4241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r>
              <a:rPr lang="en-US" sz="28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 vs </a:t>
            </a:r>
            <a:r>
              <a:rPr lang="en-US" sz="2800" b="1" dirty="0" err="1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Constructivo</a:t>
            </a:r>
            <a:r>
              <a:rPr lang="en-US" sz="28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Greedy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321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491143"/>
              </p:ext>
            </p:extLst>
          </p:nvPr>
        </p:nvGraphicFramePr>
        <p:xfrm>
          <a:off x="256032" y="1095490"/>
          <a:ext cx="8631936" cy="36652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BL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Mejora BL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Greedy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ganador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insert-FI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ft06r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swap-BI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87.76%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swap-BI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ft10r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175.58%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131.85%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insert-BI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56.66%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insert-BI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ft20r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64.36%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insert-BI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j1000_m1000_1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42,362.46%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42,362.46%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j1000_m1000_1r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39,741.62%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39,741.62%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j1000_m100_1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5,909.71%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5,909.71%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j1000_m100_1r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6,011.24%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6,011.24%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j1000_m10_1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231.80%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swap-FI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j1000_m10_1r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233.25%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233.18%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swap-FI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j100_m100_1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3,249.46%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3,249.31%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j100_m100_1r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3,065.45%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2,974.92%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swap-BI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(14 instancias)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56032" y="4873752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COMPARACIÓN ENTRE MÉTODOS DE BÚSQUEDA LOCAL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% vs Noise — instancias pequeñas y </a:t>
            </a:r>
            <a:r>
              <a:rPr lang="en-US" sz="3000" b="1" dirty="0" err="1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medianas</a:t>
            </a: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403823"/>
              </p:ext>
            </p:extLst>
          </p:nvPr>
        </p:nvGraphicFramePr>
        <p:xfrm>
          <a:off x="256032" y="1444752"/>
          <a:ext cx="8229600" cy="35204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insert-BI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insert-FI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2opt-BI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2opt-FI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ft06r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ft10r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ft20r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j10_m10_1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j10_m10_1r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j100_m10_1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j100_m10_1r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inst. 1–10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COMPARACIÓN ENTRE MÉTODOS DE BÚSQUEDA LOCAL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% vs Noise — instancias </a:t>
            </a:r>
            <a:r>
              <a:rPr lang="en-US" sz="3000" b="1" dirty="0" err="1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</a:t>
            </a: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176183"/>
              </p:ext>
            </p:extLst>
          </p:nvPr>
        </p:nvGraphicFramePr>
        <p:xfrm>
          <a:off x="256032" y="1444752"/>
          <a:ext cx="8229600" cy="31089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insert-BI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insert-FI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2opt-BI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2opt-FI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j100_m100_1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j100_m100_1r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j1000_m10_1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j1000_m10_1r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j1000_m100_1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j1000_m100_1r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j1000_m1000_1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j1000_m1000_1r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inst. 11–18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5627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cómputo por instancia (ms)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551454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839188"/>
              </p:ext>
            </p:extLst>
          </p:nvPr>
        </p:nvGraphicFramePr>
        <p:xfrm>
          <a:off x="210312" y="759186"/>
          <a:ext cx="8778240" cy="22555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Instancia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swap-BI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swap-FI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ins-BI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ins-FI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2opt-BI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2opt-FI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ft06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ft06r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ft10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ft10r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ft20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DL/ÓL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ft20r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j10_m10_1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j10_m10_1r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j100_m10_1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269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183016"/>
              </p:ext>
            </p:extLst>
          </p:nvPr>
        </p:nvGraphicFramePr>
        <p:xfrm>
          <a:off x="210312" y="3014706"/>
          <a:ext cx="8778240" cy="202996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j100_m10_1r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j100_m100_1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j100_m100_1r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j1000_m10_1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2,279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DL/ÓL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j1000_m10_1r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2,285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DL/ÓL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j1000_m100_1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24,338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26,736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26,747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26,740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26,741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26,737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DL/ÓL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j1000_m100_1r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22,609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26,737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26,764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26,710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26,747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26,744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DL/ÓL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j1000_m1000_1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224,096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267,230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267,644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267,222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267,390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267,413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DL/ÓL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j1000_m1000_1r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224,277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267,283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267,451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267,415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267,518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267,291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DL/ÓL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principales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6032" y="1456182"/>
            <a:ext cx="4315968" cy="1115568"/>
          </a:xfrm>
          <a:prstGeom prst="rect">
            <a:avLst/>
          </a:prstGeom>
          <a:solidFill>
            <a:srgbClr val="1E4030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5" name="Shape 3"/>
          <p:cNvSpPr/>
          <p:nvPr/>
        </p:nvSpPr>
        <p:spPr>
          <a:xfrm>
            <a:off x="256032" y="1456182"/>
            <a:ext cx="475488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56032" y="1456182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56591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Insert-BI es el vecindario más efectivo en instancias pequeñas (≤ n=20): promedio de 14.66% de mejora en las 10 primeras instancias. Su capacidad de reubicar trabajos a ≥ 2 posiciones de distancia lo hace más expresivo que Swap.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36592" y="1456182"/>
            <a:ext cx="4315968" cy="1115568"/>
          </a:xfrm>
          <a:prstGeom prst="rect">
            <a:avLst/>
          </a:prstGeom>
          <a:solidFill>
            <a:srgbClr val="1E4030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4736592" y="1456182"/>
            <a:ext cx="475488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736592" y="1456182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03520" y="156591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Swap-FI domina en instancias grandes (n=1000): promedio 1.26% vs 0.67–1.11% de los demás. El vecindario de n−1 vecinos combinado con First Improvement maximiza las iteraciones posibles cuando el tiempo es el limitante.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2663190"/>
            <a:ext cx="4315968" cy="1115568"/>
          </a:xfrm>
          <a:prstGeom prst="rect">
            <a:avLst/>
          </a:prstGeom>
          <a:solidFill>
            <a:srgbClr val="1E4030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256032" y="2663190"/>
            <a:ext cx="475488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56032" y="2663190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277291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Improvement supera a Best Improvement en instancias grandes (limitadas por deadline): más iteraciones por segundo compensan la menor calidad del movimiento individual. En instancias pequeñas la diferencia es marginal.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36592" y="2663190"/>
            <a:ext cx="4315968" cy="1115568"/>
          </a:xfrm>
          <a:prstGeom prst="rect">
            <a:avLst/>
          </a:prstGeom>
          <a:solidFill>
            <a:srgbClr val="1E4030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736592" y="2663190"/>
            <a:ext cx="475488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736592" y="2663190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03520" y="277291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j1000_m1000, la FO cuesta ~250 ms/evaluación; con ~267 s por combo solo caben ~1,000 evaluaciones, suficientes para 1–28 iteraciones. Esto limita las mejoras posibles independientemente del vecindario elegido.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FF4EEC-93AA-CACA-4195-53A346BB7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B85D3F8-F758-8785-A1FC-CAEFB3E70EB2}"/>
              </a:ext>
            </a:extLst>
          </p:cNvPr>
          <p:cNvSpPr/>
          <p:nvPr/>
        </p:nvSpPr>
        <p:spPr>
          <a:xfrm>
            <a:off x="365760" y="227457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66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7894983D-A159-3866-8708-A6366DA48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1034" y="-104502"/>
            <a:ext cx="1123405" cy="540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217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2087</Words>
  <Application>Microsoft Office PowerPoint</Application>
  <PresentationFormat>Presentación en pantalla (16:9)</PresentationFormat>
  <Paragraphs>650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Búsqueda Local — NWJSSP</dc:title>
  <dc:subject>PptxGenJS Presentation</dc:subject>
  <dc:creator>Nicolás Peña</dc:creator>
  <cp:lastModifiedBy>Nicolas Peña Jaramillo</cp:lastModifiedBy>
  <cp:revision>9</cp:revision>
  <dcterms:created xsi:type="dcterms:W3CDTF">2026-04-21T23:18:54Z</dcterms:created>
  <dcterms:modified xsi:type="dcterms:W3CDTF">2026-04-23T03:37:03Z</dcterms:modified>
</cp:coreProperties>
</file>