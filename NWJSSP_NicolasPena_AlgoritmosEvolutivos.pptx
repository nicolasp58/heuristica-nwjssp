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6" r:id="rId6"/>
    <p:sldId id="267" r:id="rId7"/>
    <p:sldId id="268" r:id="rId8"/>
    <p:sldId id="269" r:id="rId9"/>
    <p:sldId id="263"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8" autoAdjust="0"/>
    <p:restoredTop sz="94610"/>
  </p:normalViewPr>
  <p:slideViewPr>
    <p:cSldViewPr snapToGrid="0" snapToObjects="1">
      <p:cViewPr varScale="1">
        <p:scale>
          <a:sx n="146" d="100"/>
          <a:sy n="146" d="100"/>
        </p:scale>
        <p:origin x="5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0866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C54"/>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54864"/>
          </a:xfrm>
          <a:prstGeom prst="rect">
            <a:avLst/>
          </a:prstGeom>
          <a:solidFill>
            <a:srgbClr val="2E86C1"/>
          </a:solidFill>
          <a:ln w="12700">
            <a:solidFill>
              <a:srgbClr val="2E86C1"/>
            </a:solidFill>
            <a:prstDash val="solid"/>
          </a:ln>
        </p:spPr>
        <p:txBody>
          <a:bodyPr/>
          <a:lstStyle/>
          <a:p>
            <a:endParaRPr lang="es-CO"/>
          </a:p>
        </p:txBody>
      </p:sp>
      <p:sp>
        <p:nvSpPr>
          <p:cNvPr id="3" name="Shape 1"/>
          <p:cNvSpPr/>
          <p:nvPr/>
        </p:nvSpPr>
        <p:spPr>
          <a:xfrm>
            <a:off x="0" y="3566160"/>
            <a:ext cx="9144000" cy="27432"/>
          </a:xfrm>
          <a:prstGeom prst="rect">
            <a:avLst/>
          </a:prstGeom>
          <a:solidFill>
            <a:srgbClr val="AED6F1"/>
          </a:solidFill>
          <a:ln w="12700">
            <a:solidFill>
              <a:srgbClr val="AED6F1"/>
            </a:solidFill>
            <a:prstDash val="solid"/>
          </a:ln>
        </p:spPr>
        <p:txBody>
          <a:bodyPr/>
          <a:lstStyle/>
          <a:p>
            <a:endParaRPr lang="es-CO"/>
          </a:p>
        </p:txBody>
      </p:sp>
      <p:sp>
        <p:nvSpPr>
          <p:cNvPr id="4" name="Text 2"/>
          <p:cNvSpPr/>
          <p:nvPr/>
        </p:nvSpPr>
        <p:spPr>
          <a:xfrm>
            <a:off x="640080" y="822960"/>
            <a:ext cx="7863840" cy="91440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Algoritmos Evolutivos</a:t>
            </a:r>
            <a:endParaRPr lang="en-US" sz="3800" dirty="0"/>
          </a:p>
        </p:txBody>
      </p:sp>
      <p:sp>
        <p:nvSpPr>
          <p:cNvPr id="5" name="Text 3"/>
          <p:cNvSpPr/>
          <p:nvPr/>
        </p:nvSpPr>
        <p:spPr>
          <a:xfrm>
            <a:off x="640080" y="1783080"/>
            <a:ext cx="7863840" cy="502920"/>
          </a:xfrm>
          <a:prstGeom prst="rect">
            <a:avLst/>
          </a:prstGeom>
          <a:noFill/>
          <a:ln/>
        </p:spPr>
        <p:txBody>
          <a:bodyPr wrap="square" rtlCol="0" anchor="ctr"/>
          <a:lstStyle/>
          <a:p>
            <a:pPr marL="0" indent="0" algn="ctr">
              <a:buNone/>
            </a:pPr>
            <a:r>
              <a:rPr lang="en-US" sz="1800" dirty="0">
                <a:solidFill>
                  <a:srgbClr val="AED6F1"/>
                </a:solidFill>
                <a:latin typeface="Calibri" pitchFamily="34" charset="0"/>
                <a:ea typeface="Calibri" pitchFamily="34" charset="-122"/>
                <a:cs typeface="Calibri" pitchFamily="34" charset="-120"/>
              </a:rPr>
              <a:t>No-Wait Job Shop Scheduling Problem (NWJSSP)</a:t>
            </a:r>
            <a:endParaRPr lang="en-US" sz="1800" dirty="0"/>
          </a:p>
        </p:txBody>
      </p:sp>
      <p:sp>
        <p:nvSpPr>
          <p:cNvPr id="6" name="Text 4"/>
          <p:cNvSpPr/>
          <p:nvPr/>
        </p:nvSpPr>
        <p:spPr>
          <a:xfrm>
            <a:off x="640080" y="2377440"/>
            <a:ext cx="7863840" cy="411480"/>
          </a:xfrm>
          <a:prstGeom prst="rect">
            <a:avLst/>
          </a:prstGeom>
          <a:noFill/>
          <a:ln/>
        </p:spPr>
        <p:txBody>
          <a:bodyPr wrap="square" rtlCol="0" anchor="ctr"/>
          <a:lstStyle/>
          <a:p>
            <a:pPr marL="0" indent="0" algn="ctr">
              <a:buNone/>
            </a:pPr>
            <a:r>
              <a:rPr lang="en-US" sz="1500" i="1" dirty="0">
                <a:solidFill>
                  <a:srgbClr val="2E86C1"/>
                </a:solidFill>
                <a:latin typeface="Calibri" pitchFamily="34" charset="0"/>
                <a:ea typeface="Calibri" pitchFamily="34" charset="-122"/>
                <a:cs typeface="Calibri" pitchFamily="34" charset="-120"/>
              </a:rPr>
              <a:t>GAVND  ·  BRKGA+ILS</a:t>
            </a:r>
            <a:endParaRPr lang="en-US" sz="1500" dirty="0"/>
          </a:p>
        </p:txBody>
      </p:sp>
      <p:sp>
        <p:nvSpPr>
          <p:cNvPr id="7" name="Text 5"/>
          <p:cNvSpPr/>
          <p:nvPr/>
        </p:nvSpPr>
        <p:spPr>
          <a:xfrm>
            <a:off x="640080" y="3749040"/>
            <a:ext cx="7863840" cy="320040"/>
          </a:xfrm>
          <a:prstGeom prst="rect">
            <a:avLst/>
          </a:prstGeom>
          <a:noFill/>
          <a:ln/>
        </p:spPr>
        <p:txBody>
          <a:bodyPr wrap="square" rtlCol="0" anchor="ctr"/>
          <a:lstStyle/>
          <a:p>
            <a:pPr marL="0" indent="0" algn="ctr">
              <a:buNone/>
            </a:pPr>
            <a:r>
              <a:rPr lang="en-US" sz="1100" dirty="0">
                <a:solidFill>
                  <a:srgbClr val="AED6F1"/>
                </a:solidFill>
                <a:latin typeface="Calibri" pitchFamily="34" charset="0"/>
                <a:ea typeface="Calibri" pitchFamily="34" charset="-122"/>
                <a:cs typeface="Calibri" pitchFamily="34" charset="-120"/>
              </a:rPr>
              <a:t>Nicolás Peña  ·  Heurística CM0439  ·  Universidad EAFIT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47472" y="0"/>
            <a:ext cx="859536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Algoritmo 1: GA+VND — Genetic Algorithm + Variable Neighborhood Descent</a:t>
            </a:r>
            <a:endParaRPr lang="en-US" sz="2000" dirty="0"/>
          </a:p>
        </p:txBody>
      </p:sp>
      <p:sp>
        <p:nvSpPr>
          <p:cNvPr id="4" name="Text 2"/>
          <p:cNvSpPr/>
          <p:nvPr/>
        </p:nvSpPr>
        <p:spPr>
          <a:xfrm>
            <a:off x="8595360" y="4846320"/>
            <a:ext cx="365760" cy="182880"/>
          </a:xfrm>
          <a:prstGeom prst="rect">
            <a:avLst/>
          </a:prstGeom>
          <a:noFill/>
          <a:ln/>
        </p:spPr>
        <p:txBody>
          <a:bodyPr wrap="square" rtlCol="0" anchor="ctr"/>
          <a:lstStyle/>
          <a:p>
            <a:pPr marL="0" indent="0" algn="r">
              <a:buNone/>
            </a:pPr>
            <a:r>
              <a:rPr lang="en-US" sz="900" dirty="0">
                <a:solidFill>
                  <a:srgbClr val="5D7A8A"/>
                </a:solidFill>
                <a:latin typeface="Calibri" pitchFamily="34" charset="0"/>
                <a:ea typeface="Calibri" pitchFamily="34" charset="-122"/>
                <a:cs typeface="Calibri" pitchFamily="34" charset="-120"/>
              </a:rPr>
              <a:t>2</a:t>
            </a:r>
            <a:endParaRPr lang="en-US" sz="900" dirty="0"/>
          </a:p>
        </p:txBody>
      </p:sp>
      <p:sp>
        <p:nvSpPr>
          <p:cNvPr id="5" name="Text 3"/>
          <p:cNvSpPr/>
          <p:nvPr/>
        </p:nvSpPr>
        <p:spPr>
          <a:xfrm>
            <a:off x="320040" y="777240"/>
            <a:ext cx="402336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¿Cómo funciona?</a:t>
            </a:r>
            <a:endParaRPr lang="en-US" sz="1100" dirty="0"/>
          </a:p>
        </p:txBody>
      </p:sp>
      <p:sp>
        <p:nvSpPr>
          <p:cNvPr id="6" name="Text 4"/>
          <p:cNvSpPr/>
          <p:nvPr/>
        </p:nvSpPr>
        <p:spPr>
          <a:xfrm>
            <a:off x="320040" y="1078992"/>
            <a:ext cx="4023360" cy="1920240"/>
          </a:xfrm>
          <a:prstGeom prst="rect">
            <a:avLst/>
          </a:prstGeom>
          <a:noFill/>
          <a:ln/>
        </p:spPr>
        <p:txBody>
          <a:bodyPr wrap="square" rtlCol="0" anchor="t"/>
          <a:lstStyle/>
          <a:p>
            <a:pPr marL="0" indent="0">
              <a:buNone/>
            </a:pPr>
            <a:r>
              <a:rPr lang="en-US" sz="1050" b="1" dirty="0">
                <a:solidFill>
                  <a:srgbClr val="1C2A3A"/>
                </a:solidFill>
                <a:latin typeface="Calibri" pitchFamily="34" charset="0"/>
                <a:ea typeface="Calibri" pitchFamily="34" charset="-122"/>
                <a:cs typeface="Calibri" pitchFamily="34" charset="-120"/>
              </a:rPr>
              <a:t>Representación: </a:t>
            </a:r>
            <a:r>
              <a:rPr lang="en-US" sz="1050" dirty="0">
                <a:solidFill>
                  <a:srgbClr val="1C2A3A"/>
                </a:solidFill>
                <a:latin typeface="Calibri" pitchFamily="34" charset="0"/>
                <a:ea typeface="Calibri" pitchFamily="34" charset="-122"/>
                <a:cs typeface="Calibri" pitchFamily="34" charset="-120"/>
              </a:rPr>
              <a:t>permutación de n trabajos (lista de enteros)
</a:t>
            </a:r>
            <a:r>
              <a:rPr lang="en-US" sz="1050" b="1" dirty="0">
                <a:solidFill>
                  <a:srgbClr val="1C2A3A"/>
                </a:solidFill>
                <a:latin typeface="Calibri" pitchFamily="34" charset="0"/>
                <a:ea typeface="Calibri" pitchFamily="34" charset="-122"/>
                <a:cs typeface="Calibri" pitchFamily="34" charset="-120"/>
              </a:rPr>
              <a:t>Cruce OX: </a:t>
            </a:r>
            <a:r>
              <a:rPr lang="en-US" sz="1050" dirty="0">
                <a:solidFill>
                  <a:srgbClr val="1C2A3A"/>
                </a:solidFill>
                <a:latin typeface="Calibri" pitchFamily="34" charset="0"/>
                <a:ea typeface="Calibri" pitchFamily="34" charset="-122"/>
                <a:cs typeface="Calibri" pitchFamily="34" charset="-120"/>
              </a:rPr>
              <a:t>Order Crossover preserva el orden relativo de los genes del padre
</a:t>
            </a:r>
            <a:r>
              <a:rPr lang="en-US" sz="1050" b="1" dirty="0">
                <a:solidFill>
                  <a:srgbClr val="1C2A3A"/>
                </a:solidFill>
                <a:latin typeface="Calibri" pitchFamily="34" charset="0"/>
                <a:ea typeface="Calibri" pitchFamily="34" charset="-122"/>
                <a:cs typeface="Calibri" pitchFamily="34" charset="-120"/>
              </a:rPr>
              <a:t>Selección: </a:t>
            </a:r>
            <a:r>
              <a:rPr lang="en-US" sz="1050" dirty="0">
                <a:solidFill>
                  <a:srgbClr val="1C2A3A"/>
                </a:solidFill>
                <a:latin typeface="Calibri" pitchFamily="34" charset="0"/>
                <a:ea typeface="Calibri" pitchFamily="34" charset="-122"/>
                <a:cs typeface="Calibri" pitchFamily="34" charset="-120"/>
              </a:rPr>
              <a:t>torneo de tamaño k — presión selectiva media
</a:t>
            </a:r>
            <a:r>
              <a:rPr lang="en-US" sz="1050" b="1" dirty="0">
                <a:solidFill>
                  <a:srgbClr val="1C2A3A"/>
                </a:solidFill>
                <a:latin typeface="Calibri" pitchFamily="34" charset="0"/>
                <a:ea typeface="Calibri" pitchFamily="34" charset="-122"/>
                <a:cs typeface="Calibri" pitchFamily="34" charset="-120"/>
              </a:rPr>
              <a:t>Mutación: </a:t>
            </a:r>
            <a:r>
              <a:rPr lang="en-US" sz="1050" dirty="0">
                <a:solidFill>
                  <a:srgbClr val="1C2A3A"/>
                </a:solidFill>
                <a:latin typeface="Calibri" pitchFamily="34" charset="0"/>
                <a:ea typeface="Calibri" pitchFamily="34" charset="-122"/>
                <a:cs typeface="Calibri" pitchFamily="34" charset="-120"/>
              </a:rPr>
              <a:t>reinserción aleatoria de un trabajo a otra posición
</a:t>
            </a:r>
            <a:r>
              <a:rPr lang="en-US" sz="1050" b="1" dirty="0">
                <a:solidFill>
                  <a:srgbClr val="1C2A3A"/>
                </a:solidFill>
                <a:latin typeface="Calibri" pitchFamily="34" charset="0"/>
                <a:ea typeface="Calibri" pitchFamily="34" charset="-122"/>
                <a:cs typeface="Calibri" pitchFamily="34" charset="-120"/>
              </a:rPr>
              <a:t>Élite: </a:t>
            </a:r>
            <a:r>
              <a:rPr lang="en-US" sz="1050" dirty="0">
                <a:solidFill>
                  <a:srgbClr val="1C2A3A"/>
                </a:solidFill>
                <a:latin typeface="Calibri" pitchFamily="34" charset="0"/>
                <a:ea typeface="Calibri" pitchFamily="34" charset="-122"/>
                <a:cs typeface="Calibri" pitchFamily="34" charset="-120"/>
              </a:rPr>
              <a:t>el mejor individuo pasa directo a la siguiente generación
</a:t>
            </a:r>
            <a:r>
              <a:rPr lang="en-US" sz="1050" b="1" dirty="0">
                <a:solidFill>
                  <a:srgbClr val="1C2A3A"/>
                </a:solidFill>
                <a:latin typeface="Calibri" pitchFamily="34" charset="0"/>
                <a:ea typeface="Calibri" pitchFamily="34" charset="-122"/>
                <a:cs typeface="Calibri" pitchFamily="34" charset="-120"/>
              </a:rPr>
              <a:t>VND (elite-only): </a:t>
            </a:r>
            <a:r>
              <a:rPr lang="en-US" sz="1050" dirty="0">
                <a:solidFill>
                  <a:srgbClr val="1C2A3A"/>
                </a:solidFill>
                <a:latin typeface="Calibri" pitchFamily="34" charset="0"/>
                <a:ea typeface="Calibri" pitchFamily="34" charset="-122"/>
                <a:cs typeface="Calibri" pitchFamily="34" charset="-120"/>
              </a:rPr>
              <a:t>swap → insert → 2-opt aplicado al mejor individuo al final de cada generación. Mantiene la élite en un óptimo local sin sacrificar velocidad.</a:t>
            </a:r>
            <a:endParaRPr lang="en-US" sz="1050" dirty="0"/>
          </a:p>
        </p:txBody>
      </p:sp>
      <p:sp>
        <p:nvSpPr>
          <p:cNvPr id="7" name="Text 5"/>
          <p:cNvSpPr/>
          <p:nvPr/>
        </p:nvSpPr>
        <p:spPr>
          <a:xfrm>
            <a:off x="320040" y="3063240"/>
            <a:ext cx="402336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Parámetros definitivos</a:t>
            </a:r>
            <a:endParaRPr lang="en-US" sz="1100" dirty="0"/>
          </a:p>
        </p:txBody>
      </p:sp>
      <p:sp>
        <p:nvSpPr>
          <p:cNvPr id="8" name="Shape 6"/>
          <p:cNvSpPr/>
          <p:nvPr/>
        </p:nvSpPr>
        <p:spPr>
          <a:xfrm>
            <a:off x="320040" y="3337560"/>
            <a:ext cx="1417320" cy="201168"/>
          </a:xfrm>
          <a:prstGeom prst="rect">
            <a:avLst/>
          </a:prstGeom>
          <a:solidFill>
            <a:srgbClr val="AED6F1"/>
          </a:solidFill>
          <a:ln w="12700">
            <a:solidFill>
              <a:srgbClr val="AED6F1"/>
            </a:solidFill>
            <a:prstDash val="solid"/>
          </a:ln>
        </p:spPr>
        <p:txBody>
          <a:bodyPr/>
          <a:lstStyle/>
          <a:p>
            <a:endParaRPr lang="es-CO"/>
          </a:p>
        </p:txBody>
      </p:sp>
      <p:sp>
        <p:nvSpPr>
          <p:cNvPr id="9" name="Text 7"/>
          <p:cNvSpPr/>
          <p:nvPr/>
        </p:nvSpPr>
        <p:spPr>
          <a:xfrm>
            <a:off x="338328" y="3337560"/>
            <a:ext cx="1380744" cy="201168"/>
          </a:xfrm>
          <a:prstGeom prst="rect">
            <a:avLst/>
          </a:prstGeom>
          <a:noFill/>
          <a:ln/>
        </p:spPr>
        <p:txBody>
          <a:bodyPr wrap="square" lIns="0" tIns="0" rIns="0" bIns="0" rtlCol="0" anchor="ctr"/>
          <a:lstStyle/>
          <a:p>
            <a:pPr marL="0" indent="0">
              <a:buNone/>
            </a:pPr>
            <a:r>
              <a:rPr lang="en-US" sz="900" b="1" dirty="0">
                <a:solidFill>
                  <a:srgbClr val="0F2C54"/>
                </a:solidFill>
                <a:latin typeface="Consolas" pitchFamily="34" charset="0"/>
                <a:ea typeface="Consolas" pitchFamily="34" charset="-122"/>
                <a:cs typeface="Consolas" pitchFamily="34" charset="-120"/>
              </a:rPr>
              <a:t>pop_size = 70</a:t>
            </a:r>
            <a:endParaRPr lang="en-US" sz="900" dirty="0"/>
          </a:p>
        </p:txBody>
      </p:sp>
      <p:sp>
        <p:nvSpPr>
          <p:cNvPr id="10" name="Text 8"/>
          <p:cNvSpPr/>
          <p:nvPr/>
        </p:nvSpPr>
        <p:spPr>
          <a:xfrm>
            <a:off x="1828800" y="3337560"/>
            <a:ext cx="2468880" cy="201168"/>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población — más gen. por segundo que pop=100</a:t>
            </a:r>
            <a:endParaRPr lang="en-US" sz="900" dirty="0"/>
          </a:p>
        </p:txBody>
      </p:sp>
      <p:sp>
        <p:nvSpPr>
          <p:cNvPr id="11" name="Shape 9"/>
          <p:cNvSpPr/>
          <p:nvPr/>
        </p:nvSpPr>
        <p:spPr>
          <a:xfrm>
            <a:off x="320040" y="3584448"/>
            <a:ext cx="1417320" cy="201168"/>
          </a:xfrm>
          <a:prstGeom prst="rect">
            <a:avLst/>
          </a:prstGeom>
          <a:solidFill>
            <a:srgbClr val="AED6F1"/>
          </a:solidFill>
          <a:ln w="12700">
            <a:solidFill>
              <a:srgbClr val="AED6F1"/>
            </a:solidFill>
            <a:prstDash val="solid"/>
          </a:ln>
        </p:spPr>
        <p:txBody>
          <a:bodyPr/>
          <a:lstStyle/>
          <a:p>
            <a:endParaRPr lang="es-CO"/>
          </a:p>
        </p:txBody>
      </p:sp>
      <p:sp>
        <p:nvSpPr>
          <p:cNvPr id="12" name="Text 10"/>
          <p:cNvSpPr/>
          <p:nvPr/>
        </p:nvSpPr>
        <p:spPr>
          <a:xfrm>
            <a:off x="338328" y="3584448"/>
            <a:ext cx="1380744" cy="201168"/>
          </a:xfrm>
          <a:prstGeom prst="rect">
            <a:avLst/>
          </a:prstGeom>
          <a:noFill/>
          <a:ln/>
        </p:spPr>
        <p:txBody>
          <a:bodyPr wrap="square" lIns="0" tIns="0" rIns="0" bIns="0" rtlCol="0" anchor="ctr"/>
          <a:lstStyle/>
          <a:p>
            <a:pPr marL="0" indent="0">
              <a:buNone/>
            </a:pPr>
            <a:r>
              <a:rPr lang="en-US" sz="900" b="1" dirty="0">
                <a:solidFill>
                  <a:srgbClr val="0F2C54"/>
                </a:solidFill>
                <a:latin typeface="Consolas" pitchFamily="34" charset="0"/>
                <a:ea typeface="Consolas" pitchFamily="34" charset="-122"/>
                <a:cs typeface="Consolas" pitchFamily="34" charset="-120"/>
              </a:rPr>
              <a:t>p_mut = 0.20</a:t>
            </a:r>
            <a:endParaRPr lang="en-US" sz="900" dirty="0"/>
          </a:p>
        </p:txBody>
      </p:sp>
      <p:sp>
        <p:nvSpPr>
          <p:cNvPr id="13" name="Text 11"/>
          <p:cNvSpPr/>
          <p:nvPr/>
        </p:nvSpPr>
        <p:spPr>
          <a:xfrm>
            <a:off x="1828800" y="3584448"/>
            <a:ext cx="2468880" cy="201168"/>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prob. mutación — preserva material genético útil</a:t>
            </a:r>
            <a:endParaRPr lang="en-US" sz="900" dirty="0"/>
          </a:p>
        </p:txBody>
      </p:sp>
      <p:sp>
        <p:nvSpPr>
          <p:cNvPr id="14" name="Shape 12"/>
          <p:cNvSpPr/>
          <p:nvPr/>
        </p:nvSpPr>
        <p:spPr>
          <a:xfrm>
            <a:off x="320040" y="3831336"/>
            <a:ext cx="1417320" cy="201168"/>
          </a:xfrm>
          <a:prstGeom prst="rect">
            <a:avLst/>
          </a:prstGeom>
          <a:solidFill>
            <a:srgbClr val="AED6F1"/>
          </a:solidFill>
          <a:ln w="12700">
            <a:solidFill>
              <a:srgbClr val="AED6F1"/>
            </a:solidFill>
            <a:prstDash val="solid"/>
          </a:ln>
        </p:spPr>
        <p:txBody>
          <a:bodyPr/>
          <a:lstStyle/>
          <a:p>
            <a:endParaRPr lang="es-CO"/>
          </a:p>
        </p:txBody>
      </p:sp>
      <p:sp>
        <p:nvSpPr>
          <p:cNvPr id="15" name="Text 13"/>
          <p:cNvSpPr/>
          <p:nvPr/>
        </p:nvSpPr>
        <p:spPr>
          <a:xfrm>
            <a:off x="338328" y="3831336"/>
            <a:ext cx="1380744" cy="201168"/>
          </a:xfrm>
          <a:prstGeom prst="rect">
            <a:avLst/>
          </a:prstGeom>
          <a:noFill/>
          <a:ln/>
        </p:spPr>
        <p:txBody>
          <a:bodyPr wrap="square" lIns="0" tIns="0" rIns="0" bIns="0" rtlCol="0" anchor="ctr"/>
          <a:lstStyle/>
          <a:p>
            <a:pPr marL="0" indent="0">
              <a:buNone/>
            </a:pPr>
            <a:r>
              <a:rPr lang="en-US" sz="900" b="1" dirty="0">
                <a:solidFill>
                  <a:srgbClr val="0F2C54"/>
                </a:solidFill>
                <a:latin typeface="Consolas" pitchFamily="34" charset="0"/>
                <a:ea typeface="Consolas" pitchFamily="34" charset="-122"/>
                <a:cs typeface="Consolas" pitchFamily="34" charset="-120"/>
              </a:rPr>
              <a:t>k = 4</a:t>
            </a:r>
            <a:endParaRPr lang="en-US" sz="900" dirty="0"/>
          </a:p>
        </p:txBody>
      </p:sp>
      <p:sp>
        <p:nvSpPr>
          <p:cNvPr id="16" name="Text 14"/>
          <p:cNvSpPr/>
          <p:nvPr/>
        </p:nvSpPr>
        <p:spPr>
          <a:xfrm>
            <a:off x="1828800" y="3831336"/>
            <a:ext cx="2468880" cy="201168"/>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torneo — presión media (k=2 permite mediocres)</a:t>
            </a:r>
            <a:endParaRPr lang="en-US" sz="900" dirty="0"/>
          </a:p>
        </p:txBody>
      </p:sp>
      <p:sp>
        <p:nvSpPr>
          <p:cNvPr id="17" name="Shape 15"/>
          <p:cNvSpPr/>
          <p:nvPr/>
        </p:nvSpPr>
        <p:spPr>
          <a:xfrm>
            <a:off x="320040" y="4078224"/>
            <a:ext cx="1417320" cy="201168"/>
          </a:xfrm>
          <a:prstGeom prst="rect">
            <a:avLst/>
          </a:prstGeom>
          <a:solidFill>
            <a:srgbClr val="AED6F1"/>
          </a:solidFill>
          <a:ln w="12700">
            <a:solidFill>
              <a:srgbClr val="AED6F1"/>
            </a:solidFill>
            <a:prstDash val="solid"/>
          </a:ln>
        </p:spPr>
        <p:txBody>
          <a:bodyPr/>
          <a:lstStyle/>
          <a:p>
            <a:endParaRPr lang="es-CO"/>
          </a:p>
        </p:txBody>
      </p:sp>
      <p:sp>
        <p:nvSpPr>
          <p:cNvPr id="18" name="Text 16"/>
          <p:cNvSpPr/>
          <p:nvPr/>
        </p:nvSpPr>
        <p:spPr>
          <a:xfrm>
            <a:off x="338328" y="4078224"/>
            <a:ext cx="1380744" cy="201168"/>
          </a:xfrm>
          <a:prstGeom prst="rect">
            <a:avLst/>
          </a:prstGeom>
          <a:noFill/>
          <a:ln/>
        </p:spPr>
        <p:txBody>
          <a:bodyPr wrap="square" lIns="0" tIns="0" rIns="0" bIns="0" rtlCol="0" anchor="ctr"/>
          <a:lstStyle/>
          <a:p>
            <a:pPr marL="0" indent="0">
              <a:buNone/>
            </a:pPr>
            <a:r>
              <a:rPr lang="en-US" sz="900" b="1" dirty="0">
                <a:solidFill>
                  <a:srgbClr val="0F2C54"/>
                </a:solidFill>
                <a:latin typeface="Consolas" pitchFamily="34" charset="0"/>
                <a:ea typeface="Consolas" pitchFamily="34" charset="-122"/>
                <a:cs typeface="Consolas" pitchFamily="34" charset="-120"/>
              </a:rPr>
              <a:t>t_vnd = 1.0s</a:t>
            </a:r>
            <a:endParaRPr lang="en-US" sz="900" dirty="0"/>
          </a:p>
        </p:txBody>
      </p:sp>
      <p:sp>
        <p:nvSpPr>
          <p:cNvPr id="19" name="Text 17"/>
          <p:cNvSpPr/>
          <p:nvPr/>
        </p:nvSpPr>
        <p:spPr>
          <a:xfrm>
            <a:off x="1828800" y="4078224"/>
            <a:ext cx="2468880" cy="201168"/>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techo VND — 2s reduce generaciones a la mitad</a:t>
            </a:r>
            <a:endParaRPr lang="en-US" sz="900" dirty="0"/>
          </a:p>
        </p:txBody>
      </p:sp>
      <p:sp>
        <p:nvSpPr>
          <p:cNvPr id="20" name="Shape 18"/>
          <p:cNvSpPr/>
          <p:nvPr/>
        </p:nvSpPr>
        <p:spPr>
          <a:xfrm>
            <a:off x="320040" y="4325112"/>
            <a:ext cx="1417320" cy="201168"/>
          </a:xfrm>
          <a:prstGeom prst="rect">
            <a:avLst/>
          </a:prstGeom>
          <a:solidFill>
            <a:srgbClr val="AED6F1"/>
          </a:solidFill>
          <a:ln w="12700">
            <a:solidFill>
              <a:srgbClr val="AED6F1"/>
            </a:solidFill>
            <a:prstDash val="solid"/>
          </a:ln>
        </p:spPr>
        <p:txBody>
          <a:bodyPr/>
          <a:lstStyle/>
          <a:p>
            <a:endParaRPr lang="es-CO"/>
          </a:p>
        </p:txBody>
      </p:sp>
      <p:sp>
        <p:nvSpPr>
          <p:cNvPr id="21" name="Text 19"/>
          <p:cNvSpPr/>
          <p:nvPr/>
        </p:nvSpPr>
        <p:spPr>
          <a:xfrm>
            <a:off x="338328" y="4325112"/>
            <a:ext cx="1380744" cy="201168"/>
          </a:xfrm>
          <a:prstGeom prst="rect">
            <a:avLst/>
          </a:prstGeom>
          <a:noFill/>
          <a:ln/>
        </p:spPr>
        <p:txBody>
          <a:bodyPr wrap="square" lIns="0" tIns="0" rIns="0" bIns="0" rtlCol="0" anchor="ctr"/>
          <a:lstStyle/>
          <a:p>
            <a:pPr marL="0" indent="0">
              <a:buNone/>
            </a:pPr>
            <a:r>
              <a:rPr lang="en-US" sz="900" b="1" dirty="0">
                <a:solidFill>
                  <a:srgbClr val="0F2C54"/>
                </a:solidFill>
                <a:latin typeface="Consolas" pitchFamily="34" charset="0"/>
                <a:ea typeface="Consolas" pitchFamily="34" charset="-122"/>
                <a:cs typeface="Consolas" pitchFamily="34" charset="-120"/>
              </a:rPr>
              <a:t>vnd_every = 1</a:t>
            </a:r>
            <a:endParaRPr lang="en-US" sz="900" dirty="0"/>
          </a:p>
        </p:txBody>
      </p:sp>
      <p:sp>
        <p:nvSpPr>
          <p:cNvPr id="22" name="Text 20"/>
          <p:cNvSpPr/>
          <p:nvPr/>
        </p:nvSpPr>
        <p:spPr>
          <a:xfrm>
            <a:off x="1828800" y="4325112"/>
            <a:ext cx="2468880" cy="201168"/>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VND en cada generación — infrecuente degrada</a:t>
            </a:r>
            <a:endParaRPr lang="en-US" sz="900" dirty="0"/>
          </a:p>
        </p:txBody>
      </p:sp>
      <p:sp>
        <p:nvSpPr>
          <p:cNvPr id="23" name="Text 21"/>
          <p:cNvSpPr/>
          <p:nvPr/>
        </p:nvSpPr>
        <p:spPr>
          <a:xfrm>
            <a:off x="4617720" y="777240"/>
            <a:ext cx="420624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Pseudocódigo</a:t>
            </a:r>
            <a:endParaRPr lang="en-US" sz="1100" dirty="0"/>
          </a:p>
        </p:txBody>
      </p:sp>
      <p:sp>
        <p:nvSpPr>
          <p:cNvPr id="24" name="Shape 22"/>
          <p:cNvSpPr/>
          <p:nvPr/>
        </p:nvSpPr>
        <p:spPr>
          <a:xfrm>
            <a:off x="4617720" y="1051560"/>
            <a:ext cx="4206240" cy="3858768"/>
          </a:xfrm>
          <a:prstGeom prst="rect">
            <a:avLst/>
          </a:prstGeom>
          <a:solidFill>
            <a:srgbClr val="EBF5FB"/>
          </a:solidFill>
          <a:ln w="12700">
            <a:solidFill>
              <a:srgbClr val="AED6F1"/>
            </a:solidFill>
            <a:prstDash val="solid"/>
          </a:ln>
        </p:spPr>
        <p:txBody>
          <a:bodyPr/>
          <a:lstStyle/>
          <a:p>
            <a:endParaRPr lang="es-CO"/>
          </a:p>
        </p:txBody>
      </p:sp>
      <p:sp>
        <p:nvSpPr>
          <p:cNvPr id="25" name="Text 23"/>
          <p:cNvSpPr/>
          <p:nvPr/>
        </p:nvSpPr>
        <p:spPr>
          <a:xfrm>
            <a:off x="4754880" y="1115568"/>
            <a:ext cx="3931920" cy="3730752"/>
          </a:xfrm>
          <a:prstGeom prst="rect">
            <a:avLst/>
          </a:prstGeom>
          <a:noFill/>
          <a:ln/>
        </p:spPr>
        <p:txBody>
          <a:bodyPr wrap="square" lIns="0" tIns="0" rIns="0" bIns="0" rtlCol="0" anchor="t"/>
          <a:lstStyle/>
          <a:p>
            <a:pPr marL="0" indent="0">
              <a:buNone/>
            </a:pPr>
            <a:r>
              <a:rPr lang="en-US" sz="850" dirty="0">
                <a:solidFill>
                  <a:srgbClr val="0F2C54"/>
                </a:solidFill>
                <a:latin typeface="Consolas" pitchFamily="34" charset="0"/>
                <a:ea typeface="Consolas" pitchFamily="34" charset="-122"/>
                <a:cs typeface="Consolas" pitchFamily="34" charset="-120"/>
              </a:rPr>
              <a:t>Entrada: n, m, ops, release_dates, deadline</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Salida:  mejor secuencia y Z</a:t>
            </a:r>
            <a:endParaRPr lang="en-US" sz="850" dirty="0"/>
          </a:p>
          <a:p>
            <a:pPr marL="0" indent="0">
              <a:buNone/>
            </a:pP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1.  población ← n_pop permutaciones aleatorias</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2.  evaluar Z para cada individuo</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3.  mejor_seq, mejor_Z ← individuo con menor Z</a:t>
            </a:r>
            <a:endParaRPr lang="en-US" sz="850" dirty="0"/>
          </a:p>
          <a:p>
            <a:pPr marL="0" indent="0">
              <a:buNone/>
            </a:pP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  MIENTRAS tiempo &lt; deadline:</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4.1   nueva_pop ← [ mejor_seq ]   ▷ elitismo</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4.2   PARA i = 1..n_pop − 1:</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4.2.1   p1 ← torneo(k=4)</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4.2.2   p2 ← torneo(k=4)</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4.2.3   hijo ← OX_crossover(p1, p2)</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4.2.4   SI rand() &lt; p_mut:</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             hijo ← reinsercion_aleatoria(hijo)</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4.2.5   nueva_pop.añadir(hijo)</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4.3   población ← nueva_pop</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4.4   VND(mejor_seq, t_max=1.0s)</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          ▷ swap → insert → 2-opt (first improvement)</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4.5   SI Z_vnd &lt; mejor_Z:</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          mejor_Z ← Z_vnd</a:t>
            </a: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          mejor_seq ← seq_vnd</a:t>
            </a:r>
            <a:endParaRPr lang="en-US" sz="850" dirty="0"/>
          </a:p>
          <a:p>
            <a:pPr marL="0" indent="0">
              <a:buNone/>
            </a:pPr>
            <a:endParaRPr lang="en-US" sz="850" dirty="0"/>
          </a:p>
          <a:p>
            <a:pPr marL="0" indent="0">
              <a:buNone/>
            </a:pPr>
            <a:r>
              <a:rPr lang="en-US" sz="850" dirty="0">
                <a:solidFill>
                  <a:srgbClr val="0F2C54"/>
                </a:solidFill>
                <a:latin typeface="Consolas" pitchFamily="34" charset="0"/>
                <a:ea typeface="Consolas" pitchFamily="34" charset="-122"/>
                <a:cs typeface="Consolas" pitchFamily="34" charset="-120"/>
              </a:rPr>
              <a:t>5.  RETORNAR mejor_seq, mejor_Z</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47472" y="0"/>
            <a:ext cx="859536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Algoritmo 2: BRKGA+ILS — Biased Random-Key Genetic Algorithm + Iterated Local Search</a:t>
            </a:r>
            <a:endParaRPr lang="en-US" sz="2000" dirty="0"/>
          </a:p>
        </p:txBody>
      </p:sp>
      <p:sp>
        <p:nvSpPr>
          <p:cNvPr id="4" name="Text 2"/>
          <p:cNvSpPr/>
          <p:nvPr/>
        </p:nvSpPr>
        <p:spPr>
          <a:xfrm>
            <a:off x="8595360" y="4846320"/>
            <a:ext cx="365760" cy="182880"/>
          </a:xfrm>
          <a:prstGeom prst="rect">
            <a:avLst/>
          </a:prstGeom>
          <a:noFill/>
          <a:ln/>
        </p:spPr>
        <p:txBody>
          <a:bodyPr wrap="square" rtlCol="0" anchor="ctr"/>
          <a:lstStyle/>
          <a:p>
            <a:pPr marL="0" indent="0" algn="r">
              <a:buNone/>
            </a:pPr>
            <a:r>
              <a:rPr lang="en-US" sz="900" dirty="0">
                <a:solidFill>
                  <a:srgbClr val="5D7A8A"/>
                </a:solidFill>
                <a:latin typeface="Calibri" pitchFamily="34" charset="0"/>
                <a:ea typeface="Calibri" pitchFamily="34" charset="-122"/>
                <a:cs typeface="Calibri" pitchFamily="34" charset="-120"/>
              </a:rPr>
              <a:t>3</a:t>
            </a:r>
            <a:endParaRPr lang="en-US" sz="900" dirty="0"/>
          </a:p>
        </p:txBody>
      </p:sp>
      <p:sp>
        <p:nvSpPr>
          <p:cNvPr id="5" name="Text 3"/>
          <p:cNvSpPr/>
          <p:nvPr/>
        </p:nvSpPr>
        <p:spPr>
          <a:xfrm>
            <a:off x="320040" y="777240"/>
            <a:ext cx="402336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¿Cómo funciona?</a:t>
            </a:r>
            <a:endParaRPr lang="en-US" sz="1100" dirty="0"/>
          </a:p>
        </p:txBody>
      </p:sp>
      <p:sp>
        <p:nvSpPr>
          <p:cNvPr id="6" name="Text 4"/>
          <p:cNvSpPr/>
          <p:nvPr/>
        </p:nvSpPr>
        <p:spPr>
          <a:xfrm>
            <a:off x="320040" y="1078992"/>
            <a:ext cx="4023360" cy="2011680"/>
          </a:xfrm>
          <a:prstGeom prst="rect">
            <a:avLst/>
          </a:prstGeom>
          <a:noFill/>
          <a:ln/>
        </p:spPr>
        <p:txBody>
          <a:bodyPr wrap="square" rtlCol="0" anchor="t"/>
          <a:lstStyle/>
          <a:p>
            <a:pPr marL="0" indent="0">
              <a:buNone/>
            </a:pPr>
            <a:r>
              <a:rPr lang="en-US" sz="1050" b="1" dirty="0">
                <a:solidFill>
                  <a:srgbClr val="1C2A3A"/>
                </a:solidFill>
                <a:latin typeface="Calibri" pitchFamily="34" charset="0"/>
                <a:ea typeface="Calibri" pitchFamily="34" charset="-122"/>
                <a:cs typeface="Calibri" pitchFamily="34" charset="-120"/>
              </a:rPr>
              <a:t>Representación: </a:t>
            </a:r>
            <a:r>
              <a:rPr lang="en-US" sz="1050" dirty="0">
                <a:solidFill>
                  <a:srgbClr val="1C2A3A"/>
                </a:solidFill>
                <a:latin typeface="Calibri" pitchFamily="34" charset="0"/>
                <a:ea typeface="Calibri" pitchFamily="34" charset="-122"/>
                <a:cs typeface="Calibri" pitchFamily="34" charset="-120"/>
              </a:rPr>
              <a:t>cromosoma de n reales en [0,1]. Decoder: argsort → permutación
</a:t>
            </a:r>
            <a:r>
              <a:rPr lang="en-US" sz="1050" b="1" dirty="0">
                <a:solidFill>
                  <a:srgbClr val="1C2A3A"/>
                </a:solidFill>
                <a:latin typeface="Calibri" pitchFamily="34" charset="0"/>
                <a:ea typeface="Calibri" pitchFamily="34" charset="-122"/>
                <a:cs typeface="Calibri" pitchFamily="34" charset="-120"/>
              </a:rPr>
              <a:t>Cruce sesgado: </a:t>
            </a:r>
            <a:r>
              <a:rPr lang="en-US" sz="1050" dirty="0">
                <a:solidFill>
                  <a:srgbClr val="1C2A3A"/>
                </a:solidFill>
                <a:latin typeface="Calibri" pitchFamily="34" charset="0"/>
                <a:ea typeface="Calibri" pitchFamily="34" charset="-122"/>
                <a:cs typeface="Calibri" pitchFamily="34" charset="-120"/>
              </a:rPr>
              <a:t>cada gen se hereda del padre élite con prob. p_bias=0.70, del no-élite con 1−p_bias
</a:t>
            </a:r>
            <a:r>
              <a:rPr lang="en-US" sz="1050" b="1" dirty="0">
                <a:solidFill>
                  <a:srgbClr val="1C2A3A"/>
                </a:solidFill>
                <a:latin typeface="Calibri" pitchFamily="34" charset="0"/>
                <a:ea typeface="Calibri" pitchFamily="34" charset="-122"/>
                <a:cs typeface="Calibri" pitchFamily="34" charset="-120"/>
              </a:rPr>
              <a:t>Élite (10%): </a:t>
            </a:r>
            <a:r>
              <a:rPr lang="en-US" sz="1050" dirty="0">
                <a:solidFill>
                  <a:srgbClr val="1C2A3A"/>
                </a:solidFill>
                <a:latin typeface="Calibri" pitchFamily="34" charset="0"/>
                <a:ea typeface="Calibri" pitchFamily="34" charset="-122"/>
                <a:cs typeface="Calibri" pitchFamily="34" charset="-120"/>
              </a:rPr>
              <a:t>los mejores individuos pasan intactos. Élite pequeña → más cruces activos
</a:t>
            </a:r>
            <a:r>
              <a:rPr lang="en-US" sz="1050" b="1" dirty="0">
                <a:solidFill>
                  <a:srgbClr val="1C2A3A"/>
                </a:solidFill>
                <a:latin typeface="Calibri" pitchFamily="34" charset="0"/>
                <a:ea typeface="Calibri" pitchFamily="34" charset="-122"/>
                <a:cs typeface="Calibri" pitchFamily="34" charset="-120"/>
              </a:rPr>
              <a:t>Mutantes (10%): </a:t>
            </a:r>
            <a:r>
              <a:rPr lang="en-US" sz="1050" dirty="0">
                <a:solidFill>
                  <a:srgbClr val="1C2A3A"/>
                </a:solidFill>
                <a:latin typeface="Calibri" pitchFamily="34" charset="0"/>
                <a:ea typeface="Calibri" pitchFamily="34" charset="-122"/>
                <a:cs typeface="Calibri" pitchFamily="34" charset="-120"/>
              </a:rPr>
              <a:t>individuos 100% aleatorios que inyectan diversidad en cada generación
</a:t>
            </a:r>
            <a:r>
              <a:rPr lang="en-US" sz="1050" b="1" dirty="0">
                <a:solidFill>
                  <a:srgbClr val="1C2A3A"/>
                </a:solidFill>
                <a:latin typeface="Calibri" pitchFamily="34" charset="0"/>
                <a:ea typeface="Calibri" pitchFamily="34" charset="-122"/>
                <a:cs typeface="Calibri" pitchFamily="34" charset="-120"/>
              </a:rPr>
              <a:t>ILS (elite-only): </a:t>
            </a:r>
            <a:r>
              <a:rPr lang="en-US" sz="1050" dirty="0">
                <a:solidFill>
                  <a:srgbClr val="1C2A3A"/>
                </a:solidFill>
                <a:latin typeface="Calibri" pitchFamily="34" charset="0"/>
                <a:ea typeface="Calibri" pitchFamily="34" charset="-122"/>
                <a:cs typeface="Calibri" pitchFamily="34" charset="-120"/>
              </a:rPr>
              <a:t>perturbación k-reinsert + VND interno sobre el mejor individuo. Resultado se reinyecta como cromosoma determinista para mantener coherencia.</a:t>
            </a:r>
            <a:endParaRPr lang="en-US" sz="1050" dirty="0"/>
          </a:p>
        </p:txBody>
      </p:sp>
      <p:sp>
        <p:nvSpPr>
          <p:cNvPr id="7" name="Text 5"/>
          <p:cNvSpPr/>
          <p:nvPr/>
        </p:nvSpPr>
        <p:spPr>
          <a:xfrm>
            <a:off x="320040" y="3154680"/>
            <a:ext cx="402336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Parámetros definitivos</a:t>
            </a:r>
            <a:endParaRPr lang="en-US" sz="1100" dirty="0"/>
          </a:p>
        </p:txBody>
      </p:sp>
      <p:sp>
        <p:nvSpPr>
          <p:cNvPr id="8" name="Shape 6"/>
          <p:cNvSpPr/>
          <p:nvPr/>
        </p:nvSpPr>
        <p:spPr>
          <a:xfrm>
            <a:off x="320040" y="3429000"/>
            <a:ext cx="1572768" cy="192024"/>
          </a:xfrm>
          <a:prstGeom prst="rect">
            <a:avLst/>
          </a:prstGeom>
          <a:solidFill>
            <a:srgbClr val="AED6F1"/>
          </a:solidFill>
          <a:ln w="12700">
            <a:solidFill>
              <a:srgbClr val="AED6F1"/>
            </a:solidFill>
            <a:prstDash val="solid"/>
          </a:ln>
        </p:spPr>
        <p:txBody>
          <a:bodyPr/>
          <a:lstStyle/>
          <a:p>
            <a:endParaRPr lang="es-CO"/>
          </a:p>
        </p:txBody>
      </p:sp>
      <p:sp>
        <p:nvSpPr>
          <p:cNvPr id="9" name="Text 7"/>
          <p:cNvSpPr/>
          <p:nvPr/>
        </p:nvSpPr>
        <p:spPr>
          <a:xfrm>
            <a:off x="338328" y="3429000"/>
            <a:ext cx="1536192" cy="192024"/>
          </a:xfrm>
          <a:prstGeom prst="rect">
            <a:avLst/>
          </a:prstGeom>
          <a:noFill/>
          <a:ln/>
        </p:spPr>
        <p:txBody>
          <a:bodyPr wrap="square" lIns="0" tIns="0" rIns="0" bIns="0" rtlCol="0" anchor="ctr"/>
          <a:lstStyle/>
          <a:p>
            <a:pPr marL="0" indent="0">
              <a:buNone/>
            </a:pPr>
            <a:r>
              <a:rPr lang="en-US" sz="850" b="1" dirty="0">
                <a:solidFill>
                  <a:srgbClr val="0F2C54"/>
                </a:solidFill>
                <a:latin typeface="Consolas" pitchFamily="34" charset="0"/>
                <a:ea typeface="Consolas" pitchFamily="34" charset="-122"/>
                <a:cs typeface="Consolas" pitchFamily="34" charset="-120"/>
              </a:rPr>
              <a:t>pop_size = 100</a:t>
            </a:r>
            <a:endParaRPr lang="en-US" sz="850" dirty="0"/>
          </a:p>
        </p:txBody>
      </p:sp>
      <p:sp>
        <p:nvSpPr>
          <p:cNvPr id="10" name="Text 8"/>
          <p:cNvSpPr/>
          <p:nvPr/>
        </p:nvSpPr>
        <p:spPr>
          <a:xfrm>
            <a:off x="1984248" y="3429000"/>
            <a:ext cx="2359152" cy="192024"/>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población total</a:t>
            </a:r>
            <a:endParaRPr lang="en-US" sz="900" dirty="0"/>
          </a:p>
        </p:txBody>
      </p:sp>
      <p:sp>
        <p:nvSpPr>
          <p:cNvPr id="11" name="Shape 9"/>
          <p:cNvSpPr/>
          <p:nvPr/>
        </p:nvSpPr>
        <p:spPr>
          <a:xfrm>
            <a:off x="320040" y="3666744"/>
            <a:ext cx="1572768" cy="192024"/>
          </a:xfrm>
          <a:prstGeom prst="rect">
            <a:avLst/>
          </a:prstGeom>
          <a:solidFill>
            <a:srgbClr val="AED6F1"/>
          </a:solidFill>
          <a:ln w="12700">
            <a:solidFill>
              <a:srgbClr val="AED6F1"/>
            </a:solidFill>
            <a:prstDash val="solid"/>
          </a:ln>
        </p:spPr>
        <p:txBody>
          <a:bodyPr/>
          <a:lstStyle/>
          <a:p>
            <a:endParaRPr lang="es-CO"/>
          </a:p>
        </p:txBody>
      </p:sp>
      <p:sp>
        <p:nvSpPr>
          <p:cNvPr id="12" name="Text 10"/>
          <p:cNvSpPr/>
          <p:nvPr/>
        </p:nvSpPr>
        <p:spPr>
          <a:xfrm>
            <a:off x="338328" y="3666744"/>
            <a:ext cx="1536192" cy="192024"/>
          </a:xfrm>
          <a:prstGeom prst="rect">
            <a:avLst/>
          </a:prstGeom>
          <a:noFill/>
          <a:ln/>
        </p:spPr>
        <p:txBody>
          <a:bodyPr wrap="square" lIns="0" tIns="0" rIns="0" bIns="0" rtlCol="0" anchor="ctr"/>
          <a:lstStyle/>
          <a:p>
            <a:pPr marL="0" indent="0">
              <a:buNone/>
            </a:pPr>
            <a:r>
              <a:rPr lang="en-US" sz="850" b="1" dirty="0">
                <a:solidFill>
                  <a:srgbClr val="0F2C54"/>
                </a:solidFill>
                <a:latin typeface="Consolas" pitchFamily="34" charset="0"/>
                <a:ea typeface="Consolas" pitchFamily="34" charset="-122"/>
                <a:cs typeface="Consolas" pitchFamily="34" charset="-120"/>
              </a:rPr>
              <a:t>p_elite = 0.10</a:t>
            </a:r>
            <a:endParaRPr lang="en-US" sz="850" dirty="0"/>
          </a:p>
        </p:txBody>
      </p:sp>
      <p:sp>
        <p:nvSpPr>
          <p:cNvPr id="13" name="Text 11"/>
          <p:cNvSpPr/>
          <p:nvPr/>
        </p:nvSpPr>
        <p:spPr>
          <a:xfrm>
            <a:off x="1984248" y="3666744"/>
            <a:ext cx="2359152" cy="192024"/>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fracción élite — más pequeña que el canónico 0.15</a:t>
            </a:r>
            <a:endParaRPr lang="en-US" sz="900" dirty="0"/>
          </a:p>
        </p:txBody>
      </p:sp>
      <p:sp>
        <p:nvSpPr>
          <p:cNvPr id="14" name="Shape 12"/>
          <p:cNvSpPr/>
          <p:nvPr/>
        </p:nvSpPr>
        <p:spPr>
          <a:xfrm>
            <a:off x="320040" y="3904488"/>
            <a:ext cx="1572768" cy="192024"/>
          </a:xfrm>
          <a:prstGeom prst="rect">
            <a:avLst/>
          </a:prstGeom>
          <a:solidFill>
            <a:srgbClr val="AED6F1"/>
          </a:solidFill>
          <a:ln w="12700">
            <a:solidFill>
              <a:srgbClr val="AED6F1"/>
            </a:solidFill>
            <a:prstDash val="solid"/>
          </a:ln>
        </p:spPr>
        <p:txBody>
          <a:bodyPr/>
          <a:lstStyle/>
          <a:p>
            <a:endParaRPr lang="es-CO"/>
          </a:p>
        </p:txBody>
      </p:sp>
      <p:sp>
        <p:nvSpPr>
          <p:cNvPr id="15" name="Text 13"/>
          <p:cNvSpPr/>
          <p:nvPr/>
        </p:nvSpPr>
        <p:spPr>
          <a:xfrm>
            <a:off x="338328" y="3904488"/>
            <a:ext cx="1536192" cy="192024"/>
          </a:xfrm>
          <a:prstGeom prst="rect">
            <a:avLst/>
          </a:prstGeom>
          <a:noFill/>
          <a:ln/>
        </p:spPr>
        <p:txBody>
          <a:bodyPr wrap="square" lIns="0" tIns="0" rIns="0" bIns="0" rtlCol="0" anchor="ctr"/>
          <a:lstStyle/>
          <a:p>
            <a:pPr marL="0" indent="0">
              <a:buNone/>
            </a:pPr>
            <a:r>
              <a:rPr lang="en-US" sz="850" b="1" dirty="0">
                <a:solidFill>
                  <a:srgbClr val="0F2C54"/>
                </a:solidFill>
                <a:latin typeface="Consolas" pitchFamily="34" charset="0"/>
                <a:ea typeface="Consolas" pitchFamily="34" charset="-122"/>
                <a:cs typeface="Consolas" pitchFamily="34" charset="-120"/>
              </a:rPr>
              <a:t>p_mutant = 0.10</a:t>
            </a:r>
            <a:endParaRPr lang="en-US" sz="850" dirty="0"/>
          </a:p>
        </p:txBody>
      </p:sp>
      <p:sp>
        <p:nvSpPr>
          <p:cNvPr id="16" name="Text 14"/>
          <p:cNvSpPr/>
          <p:nvPr/>
        </p:nvSpPr>
        <p:spPr>
          <a:xfrm>
            <a:off x="1984248" y="3904488"/>
            <a:ext cx="2359152" cy="192024"/>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fracción mutantes — diversidad estructural</a:t>
            </a:r>
            <a:endParaRPr lang="en-US" sz="900" dirty="0"/>
          </a:p>
        </p:txBody>
      </p:sp>
      <p:sp>
        <p:nvSpPr>
          <p:cNvPr id="17" name="Shape 15"/>
          <p:cNvSpPr/>
          <p:nvPr/>
        </p:nvSpPr>
        <p:spPr>
          <a:xfrm>
            <a:off x="320040" y="4142232"/>
            <a:ext cx="1572768" cy="192024"/>
          </a:xfrm>
          <a:prstGeom prst="rect">
            <a:avLst/>
          </a:prstGeom>
          <a:solidFill>
            <a:srgbClr val="AED6F1"/>
          </a:solidFill>
          <a:ln w="12700">
            <a:solidFill>
              <a:srgbClr val="AED6F1"/>
            </a:solidFill>
            <a:prstDash val="solid"/>
          </a:ln>
        </p:spPr>
        <p:txBody>
          <a:bodyPr/>
          <a:lstStyle/>
          <a:p>
            <a:endParaRPr lang="es-CO"/>
          </a:p>
        </p:txBody>
      </p:sp>
      <p:sp>
        <p:nvSpPr>
          <p:cNvPr id="18" name="Text 16"/>
          <p:cNvSpPr/>
          <p:nvPr/>
        </p:nvSpPr>
        <p:spPr>
          <a:xfrm>
            <a:off x="338328" y="4142232"/>
            <a:ext cx="1536192" cy="192024"/>
          </a:xfrm>
          <a:prstGeom prst="rect">
            <a:avLst/>
          </a:prstGeom>
          <a:noFill/>
          <a:ln/>
        </p:spPr>
        <p:txBody>
          <a:bodyPr wrap="square" lIns="0" tIns="0" rIns="0" bIns="0" rtlCol="0" anchor="ctr"/>
          <a:lstStyle/>
          <a:p>
            <a:pPr marL="0" indent="0">
              <a:buNone/>
            </a:pPr>
            <a:r>
              <a:rPr lang="en-US" sz="850" b="1" dirty="0">
                <a:solidFill>
                  <a:srgbClr val="0F2C54"/>
                </a:solidFill>
                <a:latin typeface="Consolas" pitchFamily="34" charset="0"/>
                <a:ea typeface="Consolas" pitchFamily="34" charset="-122"/>
                <a:cs typeface="Consolas" pitchFamily="34" charset="-120"/>
              </a:rPr>
              <a:t>p_bias = 0.70</a:t>
            </a:r>
            <a:endParaRPr lang="en-US" sz="850" dirty="0"/>
          </a:p>
        </p:txBody>
      </p:sp>
      <p:sp>
        <p:nvSpPr>
          <p:cNvPr id="19" name="Text 17"/>
          <p:cNvSpPr/>
          <p:nvPr/>
        </p:nvSpPr>
        <p:spPr>
          <a:xfrm>
            <a:off x="1984248" y="4142232"/>
            <a:ext cx="2359152" cy="192024"/>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sesgo hacia el élite en el cruce paramétrico</a:t>
            </a:r>
            <a:endParaRPr lang="en-US" sz="900" dirty="0"/>
          </a:p>
        </p:txBody>
      </p:sp>
      <p:sp>
        <p:nvSpPr>
          <p:cNvPr id="20" name="Shape 18"/>
          <p:cNvSpPr/>
          <p:nvPr/>
        </p:nvSpPr>
        <p:spPr>
          <a:xfrm>
            <a:off x="320040" y="4379976"/>
            <a:ext cx="1572768" cy="192024"/>
          </a:xfrm>
          <a:prstGeom prst="rect">
            <a:avLst/>
          </a:prstGeom>
          <a:solidFill>
            <a:srgbClr val="AED6F1"/>
          </a:solidFill>
          <a:ln w="12700">
            <a:solidFill>
              <a:srgbClr val="AED6F1"/>
            </a:solidFill>
            <a:prstDash val="solid"/>
          </a:ln>
        </p:spPr>
        <p:txBody>
          <a:bodyPr/>
          <a:lstStyle/>
          <a:p>
            <a:endParaRPr lang="es-CO"/>
          </a:p>
        </p:txBody>
      </p:sp>
      <p:sp>
        <p:nvSpPr>
          <p:cNvPr id="21" name="Text 19"/>
          <p:cNvSpPr/>
          <p:nvPr/>
        </p:nvSpPr>
        <p:spPr>
          <a:xfrm>
            <a:off x="338328" y="4379976"/>
            <a:ext cx="1536192" cy="192024"/>
          </a:xfrm>
          <a:prstGeom prst="rect">
            <a:avLst/>
          </a:prstGeom>
          <a:noFill/>
          <a:ln/>
        </p:spPr>
        <p:txBody>
          <a:bodyPr wrap="square" lIns="0" tIns="0" rIns="0" bIns="0" rtlCol="0" anchor="ctr"/>
          <a:lstStyle/>
          <a:p>
            <a:pPr marL="0" indent="0">
              <a:buNone/>
            </a:pPr>
            <a:r>
              <a:rPr lang="en-US" sz="850" b="1" dirty="0">
                <a:solidFill>
                  <a:srgbClr val="0F2C54"/>
                </a:solidFill>
                <a:latin typeface="Consolas" pitchFamily="34" charset="0"/>
                <a:ea typeface="Consolas" pitchFamily="34" charset="-122"/>
                <a:cs typeface="Consolas" pitchFamily="34" charset="-120"/>
              </a:rPr>
              <a:t>k_ils = 4</a:t>
            </a:r>
            <a:endParaRPr lang="en-US" sz="850" dirty="0"/>
          </a:p>
        </p:txBody>
      </p:sp>
      <p:sp>
        <p:nvSpPr>
          <p:cNvPr id="22" name="Text 20"/>
          <p:cNvSpPr/>
          <p:nvPr/>
        </p:nvSpPr>
        <p:spPr>
          <a:xfrm>
            <a:off x="1984248" y="4379976"/>
            <a:ext cx="2359152" cy="192024"/>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reinserciones por perturbación ILS</a:t>
            </a:r>
            <a:endParaRPr lang="en-US" sz="900" dirty="0"/>
          </a:p>
        </p:txBody>
      </p:sp>
      <p:sp>
        <p:nvSpPr>
          <p:cNvPr id="23" name="Shape 21"/>
          <p:cNvSpPr/>
          <p:nvPr/>
        </p:nvSpPr>
        <p:spPr>
          <a:xfrm>
            <a:off x="320040" y="4617720"/>
            <a:ext cx="1572768" cy="192024"/>
          </a:xfrm>
          <a:prstGeom prst="rect">
            <a:avLst/>
          </a:prstGeom>
          <a:solidFill>
            <a:srgbClr val="AED6F1"/>
          </a:solidFill>
          <a:ln w="12700">
            <a:solidFill>
              <a:srgbClr val="AED6F1"/>
            </a:solidFill>
            <a:prstDash val="solid"/>
          </a:ln>
        </p:spPr>
        <p:txBody>
          <a:bodyPr/>
          <a:lstStyle/>
          <a:p>
            <a:endParaRPr lang="es-CO"/>
          </a:p>
        </p:txBody>
      </p:sp>
      <p:sp>
        <p:nvSpPr>
          <p:cNvPr id="24" name="Text 22"/>
          <p:cNvSpPr/>
          <p:nvPr/>
        </p:nvSpPr>
        <p:spPr>
          <a:xfrm>
            <a:off x="338328" y="4617720"/>
            <a:ext cx="1536192" cy="192024"/>
          </a:xfrm>
          <a:prstGeom prst="rect">
            <a:avLst/>
          </a:prstGeom>
          <a:noFill/>
          <a:ln/>
        </p:spPr>
        <p:txBody>
          <a:bodyPr wrap="square" lIns="0" tIns="0" rIns="0" bIns="0" rtlCol="0" anchor="ctr"/>
          <a:lstStyle/>
          <a:p>
            <a:pPr marL="0" indent="0">
              <a:buNone/>
            </a:pPr>
            <a:r>
              <a:rPr lang="en-US" sz="850" b="1" dirty="0">
                <a:solidFill>
                  <a:srgbClr val="0F2C54"/>
                </a:solidFill>
                <a:latin typeface="Consolas" pitchFamily="34" charset="0"/>
                <a:ea typeface="Consolas" pitchFamily="34" charset="-122"/>
                <a:cs typeface="Consolas" pitchFamily="34" charset="-120"/>
              </a:rPr>
              <a:t>t_ils = 1.5s</a:t>
            </a:r>
            <a:endParaRPr lang="en-US" sz="850" dirty="0"/>
          </a:p>
        </p:txBody>
      </p:sp>
      <p:sp>
        <p:nvSpPr>
          <p:cNvPr id="25" name="Text 23"/>
          <p:cNvSpPr/>
          <p:nvPr/>
        </p:nvSpPr>
        <p:spPr>
          <a:xfrm>
            <a:off x="1984248" y="4617720"/>
            <a:ext cx="2359152" cy="192024"/>
          </a:xfrm>
          <a:prstGeom prst="rect">
            <a:avLst/>
          </a:prstGeom>
          <a:noFill/>
          <a:ln/>
        </p:spPr>
        <p:txBody>
          <a:bodyPr wrap="square" lIns="0" tIns="0" rIns="0" bIns="0" rtlCol="0" anchor="ctr"/>
          <a:lstStyle/>
          <a:p>
            <a:pPr marL="0" indent="0">
              <a:buNone/>
            </a:pPr>
            <a:r>
              <a:rPr lang="en-US" sz="900" dirty="0">
                <a:solidFill>
                  <a:srgbClr val="1C2A3A"/>
                </a:solidFill>
                <a:latin typeface="Calibri" pitchFamily="34" charset="0"/>
                <a:ea typeface="Calibri" pitchFamily="34" charset="-122"/>
                <a:cs typeface="Calibri" pitchFamily="34" charset="-120"/>
              </a:rPr>
              <a:t>techo VND interno — más tiempo reduce generaciones</a:t>
            </a:r>
            <a:endParaRPr lang="en-US" sz="900" dirty="0"/>
          </a:p>
        </p:txBody>
      </p:sp>
      <p:sp>
        <p:nvSpPr>
          <p:cNvPr id="26" name="Text 24"/>
          <p:cNvSpPr/>
          <p:nvPr/>
        </p:nvSpPr>
        <p:spPr>
          <a:xfrm>
            <a:off x="4617720" y="777240"/>
            <a:ext cx="420624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Pseudocódigo</a:t>
            </a:r>
            <a:endParaRPr lang="en-US" sz="1100" dirty="0"/>
          </a:p>
        </p:txBody>
      </p:sp>
      <p:sp>
        <p:nvSpPr>
          <p:cNvPr id="27" name="Shape 25"/>
          <p:cNvSpPr/>
          <p:nvPr/>
        </p:nvSpPr>
        <p:spPr>
          <a:xfrm>
            <a:off x="4617720" y="1051560"/>
            <a:ext cx="4206240" cy="3858768"/>
          </a:xfrm>
          <a:prstGeom prst="rect">
            <a:avLst/>
          </a:prstGeom>
          <a:solidFill>
            <a:srgbClr val="EBF5FB"/>
          </a:solidFill>
          <a:ln w="12700">
            <a:solidFill>
              <a:srgbClr val="AED6F1"/>
            </a:solidFill>
            <a:prstDash val="solid"/>
          </a:ln>
        </p:spPr>
        <p:txBody>
          <a:bodyPr/>
          <a:lstStyle/>
          <a:p>
            <a:endParaRPr lang="es-CO"/>
          </a:p>
        </p:txBody>
      </p:sp>
      <p:sp>
        <p:nvSpPr>
          <p:cNvPr id="28" name="Text 26"/>
          <p:cNvSpPr/>
          <p:nvPr/>
        </p:nvSpPr>
        <p:spPr>
          <a:xfrm>
            <a:off x="4754880" y="1115568"/>
            <a:ext cx="3931920" cy="3730752"/>
          </a:xfrm>
          <a:prstGeom prst="rect">
            <a:avLst/>
          </a:prstGeom>
          <a:noFill/>
          <a:ln/>
        </p:spPr>
        <p:txBody>
          <a:bodyPr wrap="square" lIns="0" tIns="0" rIns="0" bIns="0" rtlCol="0" anchor="t"/>
          <a:lstStyle/>
          <a:p>
            <a:pPr marL="0" indent="0">
              <a:buNone/>
            </a:pPr>
            <a:r>
              <a:rPr lang="en-US" sz="830" dirty="0">
                <a:solidFill>
                  <a:srgbClr val="0F2C54"/>
                </a:solidFill>
                <a:latin typeface="Consolas" pitchFamily="34" charset="0"/>
                <a:ea typeface="Consolas" pitchFamily="34" charset="-122"/>
                <a:cs typeface="Consolas" pitchFamily="34" charset="-120"/>
              </a:rPr>
              <a:t>Entrada: n, m, ops, release_dates, deadline</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Salida:  mejor secuencia y Z</a:t>
            </a:r>
            <a:endParaRPr lang="en-US" sz="830" dirty="0"/>
          </a:p>
          <a:p>
            <a:pPr marL="0" indent="0">
              <a:buNone/>
            </a:pP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1.  n_elite ← round(pop × 0.10)</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n_mutant← round(pop × 0.10)</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n_cross ← pop − n_elite − n_mutant</a:t>
            </a:r>
            <a:endParaRPr lang="en-US" sz="830" dirty="0"/>
          </a:p>
          <a:p>
            <a:pPr marL="0" indent="0">
              <a:buNone/>
            </a:pP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2.  población ← pop cromosomas aleatorios [0,1]^n</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3.  evaluar Z = f(argsort(cromosoma)) para cada uno</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4.  ordenar por Z ascendente</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5.  mejor_seq, mejor_Z ← decode(población[0])</a:t>
            </a:r>
            <a:endParaRPr lang="en-US" sz="830" dirty="0"/>
          </a:p>
          <a:p>
            <a:pPr marL="0" indent="0">
              <a:buNone/>
            </a:pP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6.  MIENTRAS tiempo &lt; deadline:</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6.1   nueva_pop ← élite intacta (primeros n_elite)</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6.2   PARA i = 1..n_mutant:</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nueva_pop.añadir( aleatorio([0,1]^n) )</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6.3   PARA i = 1..n_cross:</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e ← rand(élite);  ne ← rand(no-élite)</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hijo ← cruce_sesgado(e, ne, p_bias=0.70)</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nueva_pop.añadir(hijo)</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6.4   ordenar nueva_pop por Z</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6.5   ILS(mejor_seq, k=4, t_vnd=1.5s)</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 perturb k-reinsert → VND interno</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6.6   SI Z_ils &lt; mejor_Z:</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mejor_Z ← Z_ils</a:t>
            </a: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          nueva_pop[0] ← argsort_encode(seq_ils)</a:t>
            </a:r>
            <a:endParaRPr lang="en-US" sz="830" dirty="0"/>
          </a:p>
          <a:p>
            <a:pPr marL="0" indent="0">
              <a:buNone/>
            </a:pPr>
            <a:endParaRPr lang="en-US" sz="830" dirty="0"/>
          </a:p>
          <a:p>
            <a:pPr marL="0" indent="0">
              <a:buNone/>
            </a:pPr>
            <a:r>
              <a:rPr lang="en-US" sz="830" dirty="0">
                <a:solidFill>
                  <a:srgbClr val="0F2C54"/>
                </a:solidFill>
                <a:latin typeface="Consolas" pitchFamily="34" charset="0"/>
                <a:ea typeface="Consolas" pitchFamily="34" charset="-122"/>
                <a:cs typeface="Consolas" pitchFamily="34" charset="-120"/>
              </a:rPr>
              <a:t>7.  RETORNAR mejor_seq, mejor_Z</a:t>
            </a:r>
            <a:endParaRPr lang="en-US" sz="8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47472" y="0"/>
            <a:ext cx="859536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Distribución de tiempo entre instancias</a:t>
            </a:r>
            <a:endParaRPr lang="en-US" sz="2000" dirty="0"/>
          </a:p>
        </p:txBody>
      </p:sp>
      <p:sp>
        <p:nvSpPr>
          <p:cNvPr id="4" name="Text 2"/>
          <p:cNvSpPr/>
          <p:nvPr/>
        </p:nvSpPr>
        <p:spPr>
          <a:xfrm>
            <a:off x="8595360" y="4846320"/>
            <a:ext cx="365760" cy="182880"/>
          </a:xfrm>
          <a:prstGeom prst="rect">
            <a:avLst/>
          </a:prstGeom>
          <a:noFill/>
          <a:ln/>
        </p:spPr>
        <p:txBody>
          <a:bodyPr wrap="square" rtlCol="0" anchor="ctr"/>
          <a:lstStyle/>
          <a:p>
            <a:pPr marL="0" indent="0" algn="r">
              <a:buNone/>
            </a:pPr>
            <a:r>
              <a:rPr lang="en-US" sz="900" dirty="0">
                <a:solidFill>
                  <a:srgbClr val="5D7A8A"/>
                </a:solidFill>
                <a:latin typeface="Calibri" pitchFamily="34" charset="0"/>
                <a:ea typeface="Calibri" pitchFamily="34" charset="-122"/>
                <a:cs typeface="Calibri" pitchFamily="34" charset="-120"/>
              </a:rPr>
              <a:t>4</a:t>
            </a:r>
            <a:endParaRPr lang="en-US" sz="900" dirty="0"/>
          </a:p>
        </p:txBody>
      </p:sp>
      <p:sp>
        <p:nvSpPr>
          <p:cNvPr id="5" name="Text 3"/>
          <p:cNvSpPr/>
          <p:nvPr/>
        </p:nvSpPr>
        <p:spPr>
          <a:xfrm>
            <a:off x="365760" y="777240"/>
            <a:ext cx="8412480" cy="411480"/>
          </a:xfrm>
          <a:prstGeom prst="rect">
            <a:avLst/>
          </a:prstGeom>
          <a:noFill/>
          <a:ln/>
        </p:spPr>
        <p:txBody>
          <a:bodyPr wrap="square" rtlCol="0" anchor="ctr"/>
          <a:lstStyle/>
          <a:p>
            <a:pPr marL="0" indent="0">
              <a:buNone/>
            </a:pPr>
            <a:r>
              <a:rPr lang="en-US" sz="1100" b="1" dirty="0">
                <a:solidFill>
                  <a:srgbClr val="1C2A3A"/>
                </a:solidFill>
                <a:latin typeface="Calibri" pitchFamily="34" charset="0"/>
                <a:ea typeface="Calibri" pitchFamily="34" charset="-122"/>
                <a:cs typeface="Calibri" pitchFamily="34" charset="-120"/>
              </a:rPr>
              <a:t>Criterio de parada: </a:t>
            </a:r>
            <a:r>
              <a:rPr lang="en-US" sz="1100" dirty="0">
                <a:solidFill>
                  <a:srgbClr val="1C2A3A"/>
                </a:solidFill>
                <a:latin typeface="Calibri" pitchFamily="34" charset="0"/>
                <a:ea typeface="Calibri" pitchFamily="34" charset="-122"/>
                <a:cs typeface="Calibri" pitchFamily="34" charset="-120"/>
              </a:rPr>
              <a:t>1 hora por algoritmo por instancia. Con 18 instancias de tamaños muy distintos (n×m de 36 a 1,000,000), se usó una </a:t>
            </a:r>
            <a:r>
              <a:rPr lang="en-US" sz="1100" b="1" dirty="0">
                <a:solidFill>
                  <a:srgbClr val="1C2A3A"/>
                </a:solidFill>
                <a:latin typeface="Calibri" pitchFamily="34" charset="0"/>
                <a:ea typeface="Calibri" pitchFamily="34" charset="-122"/>
                <a:cs typeface="Calibri" pitchFamily="34" charset="-120"/>
              </a:rPr>
              <a:t>distribución dinámica con mínimos garantizados.</a:t>
            </a:r>
            <a:endParaRPr lang="en-US" sz="1100" dirty="0"/>
          </a:p>
        </p:txBody>
      </p:sp>
      <p:sp>
        <p:nvSpPr>
          <p:cNvPr id="6" name="Text 4"/>
          <p:cNvSpPr/>
          <p:nvPr/>
        </p:nvSpPr>
        <p:spPr>
          <a:xfrm>
            <a:off x="365760" y="1261872"/>
            <a:ext cx="457200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Mínimos garantizados por tamaño (n × m)</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572768"/>
          <a:ext cx="8412480" cy="1219200"/>
        </p:xfrm>
        <a:graphic>
          <a:graphicData uri="http://schemas.openxmlformats.org/drawingml/2006/table">
            <a:tbl>
              <a:tblPr/>
              <a:tblGrid>
                <a:gridCol w="20116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2286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Rango n×m</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t_mín</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Instancias</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2286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n×m ≤ 100</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buNone/>
                      </a:pPr>
                      <a:r>
                        <a:rPr lang="en-US" sz="1000" b="1" dirty="0">
                          <a:solidFill>
                            <a:srgbClr val="2E86C1"/>
                          </a:solidFill>
                          <a:latin typeface="Calibri" pitchFamily="34" charset="0"/>
                          <a:ea typeface="Calibri" pitchFamily="34" charset="-122"/>
                          <a:cs typeface="Calibri" pitchFamily="34" charset="-120"/>
                        </a:rPr>
                        <a:t>15 s</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buNone/>
                      </a:pPr>
                      <a:r>
                        <a:rPr lang="en-US" sz="1000" dirty="0">
                          <a:solidFill>
                            <a:srgbClr val="1C2A3A"/>
                          </a:solidFill>
                          <a:latin typeface="Calibri" pitchFamily="34" charset="0"/>
                          <a:ea typeface="Calibri" pitchFamily="34" charset="-122"/>
                          <a:cs typeface="Calibri" pitchFamily="34" charset="-120"/>
                        </a:rPr>
                        <a:t>ft06, ft10, ft20, tai_j10_m10</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2286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n×m ≤ 1,000</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buNone/>
                      </a:pPr>
                      <a:r>
                        <a:rPr lang="en-US" sz="1000" b="1" dirty="0">
                          <a:solidFill>
                            <a:srgbClr val="2E86C1"/>
                          </a:solidFill>
                          <a:latin typeface="Calibri" pitchFamily="34" charset="0"/>
                          <a:ea typeface="Calibri" pitchFamily="34" charset="-122"/>
                          <a:cs typeface="Calibri" pitchFamily="34" charset="-120"/>
                        </a:rPr>
                        <a:t>150 s</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buNone/>
                      </a:pPr>
                      <a:r>
                        <a:rPr lang="en-US" sz="1000" dirty="0">
                          <a:solidFill>
                            <a:srgbClr val="1C2A3A"/>
                          </a:solidFill>
                          <a:latin typeface="Calibri" pitchFamily="34" charset="0"/>
                          <a:ea typeface="Calibri" pitchFamily="34" charset="-122"/>
                          <a:cs typeface="Calibri" pitchFamily="34" charset="-120"/>
                        </a:rPr>
                        <a:t>tai_j100_m10</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86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n×m ≤ 10,000</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buNone/>
                      </a:pPr>
                      <a:r>
                        <a:rPr lang="en-US" sz="1000" b="1" dirty="0">
                          <a:solidFill>
                            <a:srgbClr val="2E86C1"/>
                          </a:solidFill>
                          <a:latin typeface="Calibri" pitchFamily="34" charset="0"/>
                          <a:ea typeface="Calibri" pitchFamily="34" charset="-122"/>
                          <a:cs typeface="Calibri" pitchFamily="34" charset="-120"/>
                        </a:rPr>
                        <a:t>180 s</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buNone/>
                      </a:pPr>
                      <a:r>
                        <a:rPr lang="en-US" sz="1000" dirty="0">
                          <a:solidFill>
                            <a:srgbClr val="1C2A3A"/>
                          </a:solidFill>
                          <a:latin typeface="Calibri" pitchFamily="34" charset="0"/>
                          <a:ea typeface="Calibri" pitchFamily="34" charset="-122"/>
                          <a:cs typeface="Calibri" pitchFamily="34" charset="-120"/>
                        </a:rPr>
                        <a:t>tai_j100_m100, tai_j1000_m10</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3"/>
                  </a:ext>
                </a:extLst>
              </a:tr>
              <a:tr h="2286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n×m &gt; 10,000</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buNone/>
                      </a:pPr>
                      <a:r>
                        <a:rPr lang="en-US" sz="1000" b="1" dirty="0">
                          <a:solidFill>
                            <a:srgbClr val="2E86C1"/>
                          </a:solidFill>
                          <a:latin typeface="Calibri" pitchFamily="34" charset="0"/>
                          <a:ea typeface="Calibri" pitchFamily="34" charset="-122"/>
                          <a:cs typeface="Calibri" pitchFamily="34" charset="-120"/>
                        </a:rPr>
                        <a:t>180 s + proporcional</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buNone/>
                      </a:pPr>
                      <a:r>
                        <a:rPr lang="en-US" sz="1000" dirty="0">
                          <a:solidFill>
                            <a:srgbClr val="1C2A3A"/>
                          </a:solidFill>
                          <a:latin typeface="Calibri" pitchFamily="34" charset="0"/>
                          <a:ea typeface="Calibri" pitchFamily="34" charset="-122"/>
                          <a:cs typeface="Calibri" pitchFamily="34" charset="-120"/>
                        </a:rPr>
                        <a:t>tai_j1000_m100, tai_j1000_m1000</a:t>
                      </a:r>
                      <a:endParaRPr lang="en-US" sz="1000" dirty="0">
                        <a:latin typeface="Calibri" charset="0"/>
                        <a:ea typeface="Calibri" charset="0"/>
                        <a:cs typeface="Calibri" charset="0"/>
                      </a:endParaRPr>
                    </a:p>
                  </a:txBody>
                  <a:tcP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Text 5"/>
          <p:cNvSpPr/>
          <p:nvPr/>
        </p:nvSpPr>
        <p:spPr>
          <a:xfrm>
            <a:off x="365760" y="2834640"/>
            <a:ext cx="841248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Fórmula de asignación</a:t>
            </a:r>
            <a:endParaRPr lang="en-US" sz="1100" dirty="0"/>
          </a:p>
        </p:txBody>
      </p:sp>
      <p:sp>
        <p:nvSpPr>
          <p:cNvPr id="9" name="Shape 6"/>
          <p:cNvSpPr/>
          <p:nvPr/>
        </p:nvSpPr>
        <p:spPr>
          <a:xfrm>
            <a:off x="365760" y="3108960"/>
            <a:ext cx="8412480" cy="594360"/>
          </a:xfrm>
          <a:prstGeom prst="rect">
            <a:avLst/>
          </a:prstGeom>
          <a:solidFill>
            <a:srgbClr val="EBF5FB"/>
          </a:solidFill>
          <a:ln w="12700">
            <a:solidFill>
              <a:srgbClr val="AED6F1"/>
            </a:solidFill>
            <a:prstDash val="solid"/>
          </a:ln>
        </p:spPr>
        <p:txBody>
          <a:bodyPr/>
          <a:lstStyle/>
          <a:p>
            <a:endParaRPr lang="es-CO"/>
          </a:p>
        </p:txBody>
      </p:sp>
      <p:sp>
        <p:nvSpPr>
          <p:cNvPr id="10" name="Text 7"/>
          <p:cNvSpPr/>
          <p:nvPr/>
        </p:nvSpPr>
        <p:spPr>
          <a:xfrm>
            <a:off x="502920" y="3127248"/>
            <a:ext cx="8138160" cy="566928"/>
          </a:xfrm>
          <a:prstGeom prst="rect">
            <a:avLst/>
          </a:prstGeom>
          <a:noFill/>
          <a:ln/>
        </p:spPr>
        <p:txBody>
          <a:bodyPr wrap="square" lIns="0" tIns="0" rIns="0" bIns="0" rtlCol="0" anchor="ctr"/>
          <a:lstStyle/>
          <a:p>
            <a:pPr marL="0" indent="0">
              <a:buNone/>
            </a:pPr>
            <a:r>
              <a:rPr lang="en-US" sz="1100" dirty="0">
                <a:solidFill>
                  <a:srgbClr val="0F2C54"/>
                </a:solidFill>
                <a:latin typeface="Consolas" pitchFamily="34" charset="0"/>
                <a:ea typeface="Consolas" pitchFamily="34" charset="-122"/>
                <a:cs typeface="Consolas" pitchFamily="34" charset="-120"/>
              </a:rPr>
              <a:t>t_instancia = t_mín  +  excedente × (n×m de esta instancia) / (Σ n×m de instancias restantes)</a:t>
            </a:r>
            <a:endParaRPr lang="en-US" sz="1100" dirty="0"/>
          </a:p>
        </p:txBody>
      </p:sp>
      <p:sp>
        <p:nvSpPr>
          <p:cNvPr id="11" name="Text 8"/>
          <p:cNvSpPr/>
          <p:nvPr/>
        </p:nvSpPr>
        <p:spPr>
          <a:xfrm>
            <a:off x="365760" y="3794760"/>
            <a:ext cx="8412480" cy="640080"/>
          </a:xfrm>
          <a:prstGeom prst="rect">
            <a:avLst/>
          </a:prstGeom>
          <a:noFill/>
          <a:ln/>
        </p:spPr>
        <p:txBody>
          <a:bodyPr wrap="square" rtlCol="0" anchor="ctr"/>
          <a:lstStyle/>
          <a:p>
            <a:pPr marL="0" indent="0">
              <a:buNone/>
            </a:pPr>
            <a:r>
              <a:rPr lang="en-US" sz="1050" b="1" dirty="0">
                <a:solidFill>
                  <a:srgbClr val="1C2A3A"/>
                </a:solidFill>
                <a:latin typeface="Calibri" pitchFamily="34" charset="0"/>
                <a:ea typeface="Calibri" pitchFamily="34" charset="-122"/>
                <a:cs typeface="Calibri" pitchFamily="34" charset="-120"/>
              </a:rPr>
              <a:t>Excedente</a:t>
            </a:r>
            <a:r>
              <a:rPr lang="en-US" sz="1050" dirty="0">
                <a:solidFill>
                  <a:srgbClr val="1C2A3A"/>
                </a:solidFill>
                <a:latin typeface="Calibri" pitchFamily="34" charset="0"/>
                <a:ea typeface="Calibri" pitchFamily="34" charset="-122"/>
                <a:cs typeface="Calibri" pitchFamily="34" charset="-120"/>
              </a:rPr>
              <a:t> = tiempo restante en el pool − Σ mínimos de instancias aún no procesadas.  Las instancias pequeñas convergen en segundos; el tiempo sobrante se redistribuye automáticamente hacia las instancias grandes.</a:t>
            </a:r>
            <a:endParaRPr lang="en-US" sz="1050" dirty="0"/>
          </a:p>
        </p:txBody>
      </p:sp>
      <p:sp>
        <p:nvSpPr>
          <p:cNvPr id="12" name="Text 9"/>
          <p:cNvSpPr/>
          <p:nvPr/>
        </p:nvSpPr>
        <p:spPr>
          <a:xfrm>
            <a:off x="365760" y="4480560"/>
            <a:ext cx="8412480" cy="274320"/>
          </a:xfrm>
          <a:prstGeom prst="rect">
            <a:avLst/>
          </a:prstGeom>
          <a:noFill/>
          <a:ln/>
        </p:spPr>
        <p:txBody>
          <a:bodyPr wrap="square" lIns="0" tIns="0" rIns="0" bIns="0" rtlCol="0" anchor="ctr"/>
          <a:lstStyle/>
          <a:p>
            <a:pPr marL="0" indent="0">
              <a:buNone/>
            </a:pPr>
            <a:r>
              <a:rPr lang="en-US" sz="1100" b="1" dirty="0">
                <a:solidFill>
                  <a:srgbClr val="2E86C1"/>
                </a:solidFill>
                <a:latin typeface="Calibri" pitchFamily="34" charset="0"/>
                <a:ea typeface="Calibri" pitchFamily="34" charset="-122"/>
                <a:cs typeface="Calibri" pitchFamily="34" charset="-120"/>
              </a:rPr>
              <a:t>Tiempos asignados (run definitivo, 1h por algoritmo)</a:t>
            </a:r>
            <a:endParaRPr lang="en-US" sz="1100" dirty="0"/>
          </a:p>
        </p:txBody>
      </p:sp>
      <p:sp>
        <p:nvSpPr>
          <p:cNvPr id="13" name="Text 10"/>
          <p:cNvSpPr/>
          <p:nvPr/>
        </p:nvSpPr>
        <p:spPr>
          <a:xfrm>
            <a:off x="365760" y="4709160"/>
            <a:ext cx="8412480" cy="320040"/>
          </a:xfrm>
          <a:prstGeom prst="rect">
            <a:avLst/>
          </a:prstGeom>
          <a:noFill/>
          <a:ln/>
        </p:spPr>
        <p:txBody>
          <a:bodyPr wrap="square" rtlCol="0" anchor="ctr"/>
          <a:lstStyle/>
          <a:p>
            <a:pPr marL="0" indent="0">
              <a:buNone/>
            </a:pPr>
            <a:r>
              <a:rPr lang="en-US" sz="950" i="1" dirty="0">
                <a:solidFill>
                  <a:srgbClr val="5D7A8A"/>
                </a:solidFill>
                <a:latin typeface="Calibri" pitchFamily="34" charset="0"/>
                <a:ea typeface="Calibri" pitchFamily="34" charset="-122"/>
                <a:cs typeface="Calibri" pitchFamily="34" charset="-120"/>
              </a:rPr>
              <a:t>ft06/ft10/ft20/tai_j10: ~15 s  ·  tai_j100_m10: ~151 s  ·  tai_j100_m100: ~188 s  ·  tai_j1000_m10: ~188 s  ·  tai_j1000_m100: ~258 s  ·  tai_j1000_m1000: ~956 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Comparación de parámetros — GAVND (instancias 1–9)</a:t>
            </a:r>
            <a:endParaRPr lang="en-US" sz="1900" dirty="0"/>
          </a:p>
        </p:txBody>
      </p:sp>
      <p:sp>
        <p:nvSpPr>
          <p:cNvPr id="4" name="Text 2"/>
          <p:cNvSpPr/>
          <p:nvPr/>
        </p:nvSpPr>
        <p:spPr>
          <a:xfrm>
            <a:off x="320040" y="713232"/>
            <a:ext cx="8503920" cy="219456"/>
          </a:xfrm>
          <a:prstGeom prst="rect">
            <a:avLst/>
          </a:prstGeom>
          <a:noFill/>
          <a:ln/>
        </p:spPr>
        <p:txBody>
          <a:bodyPr wrap="square" rtlCol="0" anchor="ctr"/>
          <a:lstStyle/>
          <a:p>
            <a:pPr marL="0" indent="0">
              <a:buNone/>
            </a:pPr>
            <a:r>
              <a:rPr lang="en-US" sz="900" b="1" dirty="0">
                <a:solidFill>
                  <a:srgbClr val="2E86C1"/>
                </a:solidFill>
                <a:latin typeface="Calibri" pitchFamily="34" charset="0"/>
                <a:ea typeface="Calibri" pitchFamily="34" charset="-122"/>
                <a:cs typeface="Calibri" pitchFamily="34" charset="-120"/>
              </a:rPr>
              <a:t>GA_DEF★ </a:t>
            </a:r>
            <a:r>
              <a:rPr lang="en-US" sz="900" dirty="0">
                <a:solidFill>
                  <a:srgbClr val="1C2A3A"/>
                </a:solidFill>
                <a:latin typeface="Calibri" pitchFamily="34" charset="0"/>
                <a:ea typeface="Calibri" pitchFamily="34" charset="-122"/>
                <a:cs typeface="Calibri" pitchFamily="34" charset="-120"/>
              </a:rPr>
              <a:t>pop=70, t_vnd=1.0s  </a:t>
            </a:r>
            <a:r>
              <a:rPr lang="en-US" sz="900" b="1" dirty="0">
                <a:solidFill>
                  <a:srgbClr val="1C2A3A"/>
                </a:solidFill>
                <a:latin typeface="Calibri" pitchFamily="34" charset="0"/>
                <a:ea typeface="Calibri" pitchFamily="34" charset="-122"/>
                <a:cs typeface="Calibri" pitchFamily="34" charset="-120"/>
              </a:rPr>
              <a:t>GA_POP  </a:t>
            </a:r>
            <a:r>
              <a:rPr lang="en-US" sz="900" dirty="0">
                <a:solidFill>
                  <a:srgbClr val="1C2A3A"/>
                </a:solidFill>
                <a:latin typeface="Calibri" pitchFamily="34" charset="0"/>
                <a:ea typeface="Calibri" pitchFamily="34" charset="-122"/>
                <a:cs typeface="Calibri" pitchFamily="34" charset="-120"/>
              </a:rPr>
              <a:t>pop=100, t_vnd=1.0s  </a:t>
            </a:r>
            <a:r>
              <a:rPr lang="en-US" sz="900" b="1" dirty="0">
                <a:solidFill>
                  <a:srgbClr val="1C2A3A"/>
                </a:solidFill>
                <a:latin typeface="Calibri" pitchFamily="34" charset="0"/>
                <a:ea typeface="Calibri" pitchFamily="34" charset="-122"/>
                <a:cs typeface="Calibri" pitchFamily="34" charset="-120"/>
              </a:rPr>
              <a:t>GA_VND  </a:t>
            </a:r>
            <a:r>
              <a:rPr lang="en-US" sz="900" dirty="0">
                <a:solidFill>
                  <a:srgbClr val="1C2A3A"/>
                </a:solidFill>
                <a:latin typeface="Calibri" pitchFamily="34" charset="0"/>
                <a:ea typeface="Calibri" pitchFamily="34" charset="-122"/>
                <a:cs typeface="Calibri" pitchFamily="34" charset="-120"/>
              </a:rPr>
              <a:t>pop=70, t_vnd=2.0s  |  mejora% vs Noise</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3143475950"/>
              </p:ext>
            </p:extLst>
          </p:nvPr>
        </p:nvGraphicFramePr>
        <p:xfrm>
          <a:off x="228600" y="978408"/>
          <a:ext cx="8686800" cy="2423160"/>
        </p:xfrm>
        <a:graphic>
          <a:graphicData uri="http://schemas.openxmlformats.org/drawingml/2006/table">
            <a:tbl>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42316">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Instancia</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Gap Noise %</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GA_DEF ★</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GA_POP</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GA_VND</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Ganadora</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ft06</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101.93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16.83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16.83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16.83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err="1">
                          <a:solidFill>
                            <a:srgbClr val="5D7A8A"/>
                          </a:solidFill>
                          <a:latin typeface="Calibri" pitchFamily="34" charset="0"/>
                          <a:ea typeface="Calibri" pitchFamily="34" charset="-122"/>
                          <a:cs typeface="Calibri" pitchFamily="34" charset="-120"/>
                        </a:rPr>
                        <a:t>Empate</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ft06r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79.15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8.48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8.48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8.48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ft10</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124.96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17.88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17.88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17.88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3"/>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ft10r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170.97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20.40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20.40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20.40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err="1">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ft20</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112.05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32.29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31.96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32.84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GA_VND</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5"/>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ft20r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126.86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30.90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28.08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31.66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GA_VND</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tai_j10_m10_1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280.75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29.35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29.35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29.35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7"/>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tai_j10_m10_1r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259.99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21.41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21.41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21.41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err="1">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tai_j100_m10_1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486.27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27.60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24.78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27.85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GA_VND</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Comparación de parámetros — GAVND (instancias 10–18)</a:t>
            </a:r>
            <a:endParaRPr lang="en-US" sz="1900" dirty="0"/>
          </a:p>
        </p:txBody>
      </p:sp>
      <p:sp>
        <p:nvSpPr>
          <p:cNvPr id="4" name="Text 2"/>
          <p:cNvSpPr/>
          <p:nvPr/>
        </p:nvSpPr>
        <p:spPr>
          <a:xfrm>
            <a:off x="320040" y="713232"/>
            <a:ext cx="8503920" cy="219456"/>
          </a:xfrm>
          <a:prstGeom prst="rect">
            <a:avLst/>
          </a:prstGeom>
          <a:noFill/>
          <a:ln/>
        </p:spPr>
        <p:txBody>
          <a:bodyPr wrap="square" rtlCol="0" anchor="ctr"/>
          <a:lstStyle/>
          <a:p>
            <a:pPr marL="0" indent="0">
              <a:buNone/>
            </a:pPr>
            <a:r>
              <a:rPr lang="en-US" sz="900" b="1" dirty="0">
                <a:solidFill>
                  <a:srgbClr val="2E86C1"/>
                </a:solidFill>
                <a:latin typeface="Calibri" pitchFamily="34" charset="0"/>
                <a:ea typeface="Calibri" pitchFamily="34" charset="-122"/>
                <a:cs typeface="Calibri" pitchFamily="34" charset="-120"/>
              </a:rPr>
              <a:t>GA_DEF★ </a:t>
            </a:r>
            <a:r>
              <a:rPr lang="en-US" sz="900" dirty="0">
                <a:solidFill>
                  <a:srgbClr val="1C2A3A"/>
                </a:solidFill>
                <a:latin typeface="Calibri" pitchFamily="34" charset="0"/>
                <a:ea typeface="Calibri" pitchFamily="34" charset="-122"/>
                <a:cs typeface="Calibri" pitchFamily="34" charset="-120"/>
              </a:rPr>
              <a:t>pop=70, t_vnd=1.0s  </a:t>
            </a:r>
            <a:r>
              <a:rPr lang="en-US" sz="900" b="1" dirty="0">
                <a:solidFill>
                  <a:srgbClr val="1C2A3A"/>
                </a:solidFill>
                <a:latin typeface="Calibri" pitchFamily="34" charset="0"/>
                <a:ea typeface="Calibri" pitchFamily="34" charset="-122"/>
                <a:cs typeface="Calibri" pitchFamily="34" charset="-120"/>
              </a:rPr>
              <a:t>GA_POP  </a:t>
            </a:r>
            <a:r>
              <a:rPr lang="en-US" sz="900" dirty="0">
                <a:solidFill>
                  <a:srgbClr val="1C2A3A"/>
                </a:solidFill>
                <a:latin typeface="Calibri" pitchFamily="34" charset="0"/>
                <a:ea typeface="Calibri" pitchFamily="34" charset="-122"/>
                <a:cs typeface="Calibri" pitchFamily="34" charset="-120"/>
              </a:rPr>
              <a:t>pop=100, t_vnd=1.0s  </a:t>
            </a:r>
            <a:r>
              <a:rPr lang="en-US" sz="900" b="1" dirty="0">
                <a:solidFill>
                  <a:srgbClr val="1C2A3A"/>
                </a:solidFill>
                <a:latin typeface="Calibri" pitchFamily="34" charset="0"/>
                <a:ea typeface="Calibri" pitchFamily="34" charset="-122"/>
                <a:cs typeface="Calibri" pitchFamily="34" charset="-120"/>
              </a:rPr>
              <a:t>GA_VND  </a:t>
            </a:r>
            <a:r>
              <a:rPr lang="en-US" sz="900" dirty="0">
                <a:solidFill>
                  <a:srgbClr val="1C2A3A"/>
                </a:solidFill>
                <a:latin typeface="Calibri" pitchFamily="34" charset="0"/>
                <a:ea typeface="Calibri" pitchFamily="34" charset="-122"/>
                <a:cs typeface="Calibri" pitchFamily="34" charset="-120"/>
              </a:rPr>
              <a:t>pop=70, t_vnd=2.0s  |  mejora% vs Noise</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288250527"/>
              </p:ext>
            </p:extLst>
          </p:nvPr>
        </p:nvGraphicFramePr>
        <p:xfrm>
          <a:off x="228600" y="978408"/>
          <a:ext cx="8686800" cy="2697480"/>
        </p:xfrm>
        <a:graphic>
          <a:graphicData uri="http://schemas.openxmlformats.org/drawingml/2006/table">
            <a:tbl>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42316">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Instancia</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Gap Noise %</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GA_DEF ★</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GA_POP</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GA_VND</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Ganadora</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tai_j100_m10_1r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528.96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27.51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29.57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29.28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GA_POP</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tai_j100_m100_1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3813.69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9.61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9.07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9.68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GA_VND</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tai_j100_m100_1r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3535.18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9.88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9.16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9.64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3"/>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574.81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4.10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4.60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2.59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GA_POP</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572.34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3.60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2.08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1.12</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5"/>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7547.84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1.30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1.42</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0.86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GA_POP</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7752.79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2.32</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2.20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2.11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7"/>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tai_j1000_m1000_1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45823.90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0.45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0.47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0.55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GA_VND</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tai_j1000_m1000_1r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42992.53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0.47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0.41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0.48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GA_VND</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9"/>
                  </a:ext>
                </a:extLst>
              </a:tr>
              <a:tr h="242316">
                <a:tc>
                  <a:txBody>
                    <a:bodyPr/>
                    <a:lstStyle/>
                    <a:p>
                      <a:pPr marL="0" indent="0" algn="ctr">
                        <a:buNone/>
                      </a:pPr>
                      <a:r>
                        <a:rPr lang="en-US" sz="900" b="1" dirty="0">
                          <a:solidFill>
                            <a:srgbClr val="0F2C54"/>
                          </a:solidFill>
                          <a:latin typeface="Calibri" pitchFamily="34" charset="0"/>
                          <a:ea typeface="Calibri" pitchFamily="34" charset="-122"/>
                          <a:cs typeface="Calibri" pitchFamily="34" charset="-120"/>
                        </a:rPr>
                        <a:t>Promedio (18 inst.)</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tc>
                  <a:txBody>
                    <a:bodyPr/>
                    <a:lstStyle/>
                    <a:p>
                      <a:pPr marL="0" indent="0" algn="ctr">
                        <a:buNone/>
                      </a:pPr>
                      <a:endParaRPr lang="en-US" sz="12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14.69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0F2C54"/>
                          </a:solidFill>
                          <a:latin typeface="Calibri" pitchFamily="34" charset="0"/>
                          <a:ea typeface="Calibri" pitchFamily="34" charset="-122"/>
                          <a:cs typeface="Calibri" pitchFamily="34" charset="-120"/>
                        </a:rPr>
                        <a:t>14.34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tc>
                  <a:txBody>
                    <a:bodyPr/>
                    <a:lstStyle/>
                    <a:p>
                      <a:pPr marL="0" indent="0" algn="ctr">
                        <a:buNone/>
                      </a:pPr>
                      <a:r>
                        <a:rPr lang="en-US" sz="900" b="1" dirty="0">
                          <a:solidFill>
                            <a:srgbClr val="0F2C54"/>
                          </a:solidFill>
                          <a:latin typeface="Calibri" pitchFamily="34" charset="0"/>
                          <a:ea typeface="Calibri" pitchFamily="34" charset="-122"/>
                          <a:cs typeface="Calibri" pitchFamily="34" charset="-120"/>
                        </a:rPr>
                        <a:t>14.61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tc>
                  <a:txBody>
                    <a:bodyPr/>
                    <a:lstStyle/>
                    <a:p>
                      <a:pPr marL="0" indent="0" algn="ctr">
                        <a:buNone/>
                      </a:pPr>
                      <a:endParaRPr lang="en-US" sz="12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Comparación de parámetros — BRKGA+ILS (instancias 1–9)</a:t>
            </a:r>
            <a:endParaRPr lang="en-US" sz="1900" dirty="0"/>
          </a:p>
        </p:txBody>
      </p:sp>
      <p:sp>
        <p:nvSpPr>
          <p:cNvPr id="4" name="Text 2"/>
          <p:cNvSpPr/>
          <p:nvPr/>
        </p:nvSpPr>
        <p:spPr>
          <a:xfrm>
            <a:off x="320040" y="713232"/>
            <a:ext cx="8503920" cy="219456"/>
          </a:xfrm>
          <a:prstGeom prst="rect">
            <a:avLst/>
          </a:prstGeom>
          <a:noFill/>
          <a:ln/>
        </p:spPr>
        <p:txBody>
          <a:bodyPr wrap="square" rtlCol="0" anchor="ctr"/>
          <a:lstStyle/>
          <a:p>
            <a:pPr marL="0" indent="0">
              <a:buNone/>
            </a:pPr>
            <a:r>
              <a:rPr lang="en-US" sz="900" b="1" dirty="0">
                <a:solidFill>
                  <a:srgbClr val="2E86C1"/>
                </a:solidFill>
                <a:latin typeface="Calibri" pitchFamily="34" charset="0"/>
                <a:ea typeface="Calibri" pitchFamily="34" charset="-122"/>
                <a:cs typeface="Calibri" pitchFamily="34" charset="-120"/>
              </a:rPr>
              <a:t>BR_DEF★ </a:t>
            </a:r>
            <a:r>
              <a:rPr lang="en-US" sz="900" dirty="0">
                <a:solidFill>
                  <a:srgbClr val="1C2A3A"/>
                </a:solidFill>
                <a:latin typeface="Calibri" pitchFamily="34" charset="0"/>
                <a:ea typeface="Calibri" pitchFamily="34" charset="-122"/>
                <a:cs typeface="Calibri" pitchFamily="34" charset="-120"/>
              </a:rPr>
              <a:t>elite=0.10, t_ils=1.5s  </a:t>
            </a:r>
            <a:r>
              <a:rPr lang="en-US" sz="900" b="1" dirty="0">
                <a:solidFill>
                  <a:srgbClr val="1C2A3A"/>
                </a:solidFill>
                <a:latin typeface="Calibri" pitchFamily="34" charset="0"/>
                <a:ea typeface="Calibri" pitchFamily="34" charset="-122"/>
                <a:cs typeface="Calibri" pitchFamily="34" charset="-120"/>
              </a:rPr>
              <a:t>BR_ELIT  </a:t>
            </a:r>
            <a:r>
              <a:rPr lang="en-US" sz="900" dirty="0">
                <a:solidFill>
                  <a:srgbClr val="1C2A3A"/>
                </a:solidFill>
                <a:latin typeface="Calibri" pitchFamily="34" charset="0"/>
                <a:ea typeface="Calibri" pitchFamily="34" charset="-122"/>
                <a:cs typeface="Calibri" pitchFamily="34" charset="-120"/>
              </a:rPr>
              <a:t>elite=0.15, t_ils=1.5s  </a:t>
            </a:r>
            <a:r>
              <a:rPr lang="en-US" sz="900" b="1" dirty="0">
                <a:solidFill>
                  <a:srgbClr val="1C2A3A"/>
                </a:solidFill>
                <a:latin typeface="Calibri" pitchFamily="34" charset="0"/>
                <a:ea typeface="Calibri" pitchFamily="34" charset="-122"/>
                <a:cs typeface="Calibri" pitchFamily="34" charset="-120"/>
              </a:rPr>
              <a:t>BR_TILS  </a:t>
            </a:r>
            <a:r>
              <a:rPr lang="en-US" sz="900" dirty="0">
                <a:solidFill>
                  <a:srgbClr val="1C2A3A"/>
                </a:solidFill>
                <a:latin typeface="Calibri" pitchFamily="34" charset="0"/>
                <a:ea typeface="Calibri" pitchFamily="34" charset="-122"/>
                <a:cs typeface="Calibri" pitchFamily="34" charset="-120"/>
              </a:rPr>
              <a:t>elite=0.10, t_ils=3.0s  |  mejora% vs Noise</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630917628"/>
              </p:ext>
            </p:extLst>
          </p:nvPr>
        </p:nvGraphicFramePr>
        <p:xfrm>
          <a:off x="228600" y="978408"/>
          <a:ext cx="8686800" cy="2423160"/>
        </p:xfrm>
        <a:graphic>
          <a:graphicData uri="http://schemas.openxmlformats.org/drawingml/2006/table">
            <a:tbl>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42316">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Instancia</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Gap Noise %</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BR_DEF ★</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BR_ELIT</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BR_TILS</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Ganadora</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ft06</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101.93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16.83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16.83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16.83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ft06r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79.15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8.48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8.48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8.48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ft10</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124.96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17.88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17.88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17.88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3"/>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ft10r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170.97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20.40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20.40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20.40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ft20</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112.05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32.78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32.78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32.78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err="1">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5"/>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ft20r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126.86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32.15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31.76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30.81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tai_j10_m10_1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280.75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29.35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29.35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29.35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7"/>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tai_j10_m10_1r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259.99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21.41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21.41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21.41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err="1">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tai_j100_m10_1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486.27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25.38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21.77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19.98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Comparación de parámetros — BRKGA+ILS (instancias 10–18)</a:t>
            </a:r>
            <a:endParaRPr lang="en-US" sz="1900" dirty="0"/>
          </a:p>
        </p:txBody>
      </p:sp>
      <p:sp>
        <p:nvSpPr>
          <p:cNvPr id="4" name="Text 2"/>
          <p:cNvSpPr/>
          <p:nvPr/>
        </p:nvSpPr>
        <p:spPr>
          <a:xfrm>
            <a:off x="320040" y="713232"/>
            <a:ext cx="8503920" cy="219456"/>
          </a:xfrm>
          <a:prstGeom prst="rect">
            <a:avLst/>
          </a:prstGeom>
          <a:noFill/>
          <a:ln/>
        </p:spPr>
        <p:txBody>
          <a:bodyPr wrap="square" rtlCol="0" anchor="ctr"/>
          <a:lstStyle/>
          <a:p>
            <a:pPr marL="0" indent="0">
              <a:buNone/>
            </a:pPr>
            <a:r>
              <a:rPr lang="en-US" sz="900" b="1" dirty="0">
                <a:solidFill>
                  <a:srgbClr val="2E86C1"/>
                </a:solidFill>
                <a:latin typeface="Calibri" pitchFamily="34" charset="0"/>
                <a:ea typeface="Calibri" pitchFamily="34" charset="-122"/>
                <a:cs typeface="Calibri" pitchFamily="34" charset="-120"/>
              </a:rPr>
              <a:t>BR_DEF★ </a:t>
            </a:r>
            <a:r>
              <a:rPr lang="en-US" sz="900" dirty="0">
                <a:solidFill>
                  <a:srgbClr val="1C2A3A"/>
                </a:solidFill>
                <a:latin typeface="Calibri" pitchFamily="34" charset="0"/>
                <a:ea typeface="Calibri" pitchFamily="34" charset="-122"/>
                <a:cs typeface="Calibri" pitchFamily="34" charset="-120"/>
              </a:rPr>
              <a:t>elite=0.10, t_ils=1.5s  </a:t>
            </a:r>
            <a:r>
              <a:rPr lang="en-US" sz="900" b="1" dirty="0">
                <a:solidFill>
                  <a:srgbClr val="1C2A3A"/>
                </a:solidFill>
                <a:latin typeface="Calibri" pitchFamily="34" charset="0"/>
                <a:ea typeface="Calibri" pitchFamily="34" charset="-122"/>
                <a:cs typeface="Calibri" pitchFamily="34" charset="-120"/>
              </a:rPr>
              <a:t>BR_ELIT  </a:t>
            </a:r>
            <a:r>
              <a:rPr lang="en-US" sz="900" dirty="0">
                <a:solidFill>
                  <a:srgbClr val="1C2A3A"/>
                </a:solidFill>
                <a:latin typeface="Calibri" pitchFamily="34" charset="0"/>
                <a:ea typeface="Calibri" pitchFamily="34" charset="-122"/>
                <a:cs typeface="Calibri" pitchFamily="34" charset="-120"/>
              </a:rPr>
              <a:t>elite=0.15, t_ils=1.5s  </a:t>
            </a:r>
            <a:r>
              <a:rPr lang="en-US" sz="900" b="1" dirty="0">
                <a:solidFill>
                  <a:srgbClr val="1C2A3A"/>
                </a:solidFill>
                <a:latin typeface="Calibri" pitchFamily="34" charset="0"/>
                <a:ea typeface="Calibri" pitchFamily="34" charset="-122"/>
                <a:cs typeface="Calibri" pitchFamily="34" charset="-120"/>
              </a:rPr>
              <a:t>BR_TILS  </a:t>
            </a:r>
            <a:r>
              <a:rPr lang="en-US" sz="900" dirty="0">
                <a:solidFill>
                  <a:srgbClr val="1C2A3A"/>
                </a:solidFill>
                <a:latin typeface="Calibri" pitchFamily="34" charset="0"/>
                <a:ea typeface="Calibri" pitchFamily="34" charset="-122"/>
                <a:cs typeface="Calibri" pitchFamily="34" charset="-120"/>
              </a:rPr>
              <a:t>elite=0.10, t_ils=3.0s  |  mejora% vs Noise</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07266869"/>
              </p:ext>
            </p:extLst>
          </p:nvPr>
        </p:nvGraphicFramePr>
        <p:xfrm>
          <a:off x="228600" y="978408"/>
          <a:ext cx="8686800" cy="2697480"/>
        </p:xfrm>
        <a:graphic>
          <a:graphicData uri="http://schemas.openxmlformats.org/drawingml/2006/table">
            <a:tbl>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tblGrid>
              <a:tr h="242316">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Instancia</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Gap Noise %</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BR_DEF ★</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BR_ELIT</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BR_TILS</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Ganadora</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tai_j100_m10_1r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528.96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27.54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24.00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23.54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tai_j100_m100_1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3813.69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7.96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7.87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6.94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tai_j100_m100_1r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3535.18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9.62</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8.30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8.68</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3"/>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574.81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3.97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2.82</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1.77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572.34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4.91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2.39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0.86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5"/>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7547.84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1.43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0.82</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0.37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7752.79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1.45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1.66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1.55</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BR_ELIT</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7"/>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tai_j1000_m1000_1</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45823.90</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0.27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0.22</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0.23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BR_DEF</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2316">
                <a:tc>
                  <a:txBody>
                    <a:bodyPr/>
                    <a:lstStyle/>
                    <a:p>
                      <a:pPr marL="0" indent="0" algn="l">
                        <a:buNone/>
                      </a:pPr>
                      <a:r>
                        <a:rPr lang="en-US" sz="850" dirty="0">
                          <a:solidFill>
                            <a:srgbClr val="1C2A3A"/>
                          </a:solidFill>
                          <a:latin typeface="Consolas" pitchFamily="34" charset="0"/>
                          <a:ea typeface="Consolas" pitchFamily="34" charset="-122"/>
                          <a:cs typeface="Consolas" pitchFamily="34" charset="-120"/>
                        </a:rPr>
                        <a:t>tai_j1000_m1000_1r</a:t>
                      </a:r>
                      <a:endParaRPr lang="en-US" sz="8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5D7A8A"/>
                          </a:solidFill>
                          <a:latin typeface="Calibri" pitchFamily="34" charset="0"/>
                          <a:ea typeface="Calibri" pitchFamily="34" charset="-122"/>
                          <a:cs typeface="Calibri" pitchFamily="34" charset="-120"/>
                        </a:rPr>
                        <a:t>42992.53</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0.19</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dirty="0">
                          <a:solidFill>
                            <a:srgbClr val="1C2A3A"/>
                          </a:solidFill>
                          <a:latin typeface="Calibri" pitchFamily="34" charset="0"/>
                          <a:ea typeface="Calibri" pitchFamily="34" charset="-122"/>
                          <a:cs typeface="Calibri" pitchFamily="34" charset="-120"/>
                        </a:rPr>
                        <a:t>0.31</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0.37</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50" b="1" dirty="0">
                          <a:solidFill>
                            <a:srgbClr val="2E86C1"/>
                          </a:solidFill>
                          <a:latin typeface="Calibri" pitchFamily="34" charset="0"/>
                          <a:ea typeface="Calibri" pitchFamily="34" charset="-122"/>
                          <a:cs typeface="Calibri" pitchFamily="34" charset="-120"/>
                        </a:rPr>
                        <a:t>BR_TILS</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9"/>
                  </a:ext>
                </a:extLst>
              </a:tr>
              <a:tr h="242316">
                <a:tc>
                  <a:txBody>
                    <a:bodyPr/>
                    <a:lstStyle/>
                    <a:p>
                      <a:pPr marL="0" indent="0" algn="ctr">
                        <a:buNone/>
                      </a:pPr>
                      <a:r>
                        <a:rPr lang="en-US" sz="900" b="1" dirty="0">
                          <a:solidFill>
                            <a:srgbClr val="0F2C54"/>
                          </a:solidFill>
                          <a:latin typeface="Calibri" pitchFamily="34" charset="0"/>
                          <a:ea typeface="Calibri" pitchFamily="34" charset="-122"/>
                          <a:cs typeface="Calibri" pitchFamily="34" charset="-120"/>
                        </a:rPr>
                        <a:t>Promedio (18 inst.)</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tc>
                  <a:txBody>
                    <a:bodyPr/>
                    <a:lstStyle/>
                    <a:p>
                      <a:pPr marL="0" indent="0" algn="ctr">
                        <a:buNone/>
                      </a:pPr>
                      <a:endParaRPr lang="en-US" sz="12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14.56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900" b="1" dirty="0">
                          <a:solidFill>
                            <a:srgbClr val="0F2C54"/>
                          </a:solidFill>
                          <a:latin typeface="Calibri" pitchFamily="34" charset="0"/>
                          <a:ea typeface="Calibri" pitchFamily="34" charset="-122"/>
                          <a:cs typeface="Calibri" pitchFamily="34" charset="-120"/>
                        </a:rPr>
                        <a:t>13.84</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tc>
                  <a:txBody>
                    <a:bodyPr/>
                    <a:lstStyle/>
                    <a:p>
                      <a:pPr marL="0" indent="0" algn="ctr">
                        <a:buNone/>
                      </a:pPr>
                      <a:r>
                        <a:rPr lang="en-US" sz="900" b="1" dirty="0">
                          <a:solidFill>
                            <a:srgbClr val="0F2C54"/>
                          </a:solidFill>
                          <a:latin typeface="Calibri" pitchFamily="34" charset="0"/>
                          <a:ea typeface="Calibri" pitchFamily="34" charset="-122"/>
                          <a:cs typeface="Calibri" pitchFamily="34" charset="-120"/>
                        </a:rPr>
                        <a:t>13.46</a:t>
                      </a:r>
                      <a:endParaRPr lang="en-US" sz="9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tc>
                  <a:txBody>
                    <a:bodyPr/>
                    <a:lstStyle/>
                    <a:p>
                      <a:pPr marL="0" indent="0" algn="ctr">
                        <a:buNone/>
                      </a:pPr>
                      <a:endParaRPr lang="en-US" sz="12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D6EAF8"/>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359011"/>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47472" y="-14369"/>
            <a:ext cx="8595360" cy="3733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Comparación de métodos — Noise vs GA+VND vs BRKGA+ILS</a:t>
            </a:r>
            <a:endParaRPr lang="en-US" sz="2000" dirty="0"/>
          </a:p>
        </p:txBody>
      </p:sp>
      <p:sp>
        <p:nvSpPr>
          <p:cNvPr id="4" name="Text 2"/>
          <p:cNvSpPr/>
          <p:nvPr/>
        </p:nvSpPr>
        <p:spPr>
          <a:xfrm>
            <a:off x="8595360" y="4846320"/>
            <a:ext cx="365760" cy="182880"/>
          </a:xfrm>
          <a:prstGeom prst="rect">
            <a:avLst/>
          </a:prstGeom>
          <a:noFill/>
          <a:ln/>
        </p:spPr>
        <p:txBody>
          <a:bodyPr wrap="square" rtlCol="0" anchor="ctr"/>
          <a:lstStyle/>
          <a:p>
            <a:pPr marL="0" indent="0" algn="r">
              <a:buNone/>
            </a:pPr>
            <a:r>
              <a:rPr lang="en-US" sz="900" dirty="0">
                <a:solidFill>
                  <a:srgbClr val="5D7A8A"/>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11480" y="431028"/>
            <a:ext cx="1371600" cy="479017"/>
          </a:xfrm>
          <a:prstGeom prst="rect">
            <a:avLst/>
          </a:prstGeom>
          <a:solidFill>
            <a:srgbClr val="AED6F1"/>
          </a:solidFill>
          <a:ln w="12700">
            <a:solidFill>
              <a:srgbClr val="AED6F1"/>
            </a:solidFill>
            <a:prstDash val="solid"/>
          </a:ln>
        </p:spPr>
        <p:txBody>
          <a:bodyPr/>
          <a:lstStyle/>
          <a:p>
            <a:endParaRPr lang="es-CO"/>
          </a:p>
        </p:txBody>
      </p:sp>
      <p:sp>
        <p:nvSpPr>
          <p:cNvPr id="6" name="Text 4"/>
          <p:cNvSpPr/>
          <p:nvPr/>
        </p:nvSpPr>
        <p:spPr>
          <a:xfrm>
            <a:off x="411480" y="449316"/>
            <a:ext cx="1371600" cy="305072"/>
          </a:xfrm>
          <a:prstGeom prst="rect">
            <a:avLst/>
          </a:prstGeom>
          <a:noFill/>
          <a:ln/>
        </p:spPr>
        <p:txBody>
          <a:bodyPr wrap="square" lIns="0" tIns="0" rIns="0" bIns="0" rtlCol="0" anchor="ctr"/>
          <a:lstStyle/>
          <a:p>
            <a:pPr marL="0" indent="0" algn="ctr">
              <a:buNone/>
            </a:pPr>
            <a:r>
              <a:rPr lang="en-US" sz="1800" b="1" dirty="0">
                <a:solidFill>
                  <a:srgbClr val="0F2C54"/>
                </a:solidFill>
                <a:latin typeface="Calibri" pitchFamily="34" charset="0"/>
                <a:ea typeface="Calibri" pitchFamily="34" charset="-122"/>
                <a:cs typeface="Calibri" pitchFamily="34" charset="-120"/>
              </a:rPr>
              <a:t>7 / 18</a:t>
            </a:r>
            <a:endParaRPr lang="en-US" sz="1800" dirty="0"/>
          </a:p>
        </p:txBody>
      </p:sp>
      <p:sp>
        <p:nvSpPr>
          <p:cNvPr id="7" name="Text 5"/>
          <p:cNvSpPr/>
          <p:nvPr/>
        </p:nvSpPr>
        <p:spPr>
          <a:xfrm>
            <a:off x="403860" y="716774"/>
            <a:ext cx="1371600" cy="224790"/>
          </a:xfrm>
          <a:prstGeom prst="rect">
            <a:avLst/>
          </a:prstGeom>
          <a:noFill/>
          <a:ln/>
        </p:spPr>
        <p:txBody>
          <a:bodyPr wrap="square" lIns="0" tIns="0" rIns="0" bIns="0" rtlCol="0" anchor="ctr"/>
          <a:lstStyle/>
          <a:p>
            <a:pPr marL="0" indent="0" algn="ctr">
              <a:buNone/>
            </a:pPr>
            <a:r>
              <a:rPr lang="en-US" sz="850" dirty="0">
                <a:solidFill>
                  <a:srgbClr val="5D7A8A"/>
                </a:solidFill>
                <a:latin typeface="Calibri" pitchFamily="34" charset="0"/>
                <a:ea typeface="Calibri" pitchFamily="34" charset="-122"/>
                <a:cs typeface="Calibri" pitchFamily="34" charset="-120"/>
              </a:rPr>
              <a:t>GAVND gana</a:t>
            </a:r>
            <a:endParaRPr lang="en-US" sz="850" dirty="0"/>
          </a:p>
        </p:txBody>
      </p:sp>
      <p:sp>
        <p:nvSpPr>
          <p:cNvPr id="8" name="Shape 6"/>
          <p:cNvSpPr/>
          <p:nvPr/>
        </p:nvSpPr>
        <p:spPr>
          <a:xfrm>
            <a:off x="2148840" y="431028"/>
            <a:ext cx="1371600" cy="479017"/>
          </a:xfrm>
          <a:prstGeom prst="rect">
            <a:avLst/>
          </a:prstGeom>
          <a:solidFill>
            <a:srgbClr val="AED6F1"/>
          </a:solidFill>
          <a:ln w="12700">
            <a:solidFill>
              <a:srgbClr val="AED6F1"/>
            </a:solidFill>
            <a:prstDash val="solid"/>
          </a:ln>
        </p:spPr>
        <p:txBody>
          <a:bodyPr/>
          <a:lstStyle/>
          <a:p>
            <a:endParaRPr lang="es-CO"/>
          </a:p>
        </p:txBody>
      </p:sp>
      <p:sp>
        <p:nvSpPr>
          <p:cNvPr id="9" name="Text 7"/>
          <p:cNvSpPr/>
          <p:nvPr/>
        </p:nvSpPr>
        <p:spPr>
          <a:xfrm>
            <a:off x="2148840" y="449316"/>
            <a:ext cx="1371600" cy="305072"/>
          </a:xfrm>
          <a:prstGeom prst="rect">
            <a:avLst/>
          </a:prstGeom>
          <a:noFill/>
          <a:ln/>
        </p:spPr>
        <p:txBody>
          <a:bodyPr wrap="square" lIns="0" tIns="0" rIns="0" bIns="0" rtlCol="0" anchor="ctr"/>
          <a:lstStyle/>
          <a:p>
            <a:pPr marL="0" indent="0" algn="ctr">
              <a:buNone/>
            </a:pPr>
            <a:r>
              <a:rPr lang="en-US" sz="1800" b="1" dirty="0">
                <a:solidFill>
                  <a:srgbClr val="0F2C54"/>
                </a:solidFill>
                <a:latin typeface="Calibri" pitchFamily="34" charset="0"/>
                <a:ea typeface="Calibri" pitchFamily="34" charset="-122"/>
                <a:cs typeface="Calibri" pitchFamily="34" charset="-120"/>
              </a:rPr>
              <a:t>5 / 18</a:t>
            </a:r>
            <a:endParaRPr lang="en-US" sz="1800" dirty="0"/>
          </a:p>
        </p:txBody>
      </p:sp>
      <p:sp>
        <p:nvSpPr>
          <p:cNvPr id="10" name="Text 8"/>
          <p:cNvSpPr/>
          <p:nvPr/>
        </p:nvSpPr>
        <p:spPr>
          <a:xfrm>
            <a:off x="2125980" y="716774"/>
            <a:ext cx="1371600" cy="224790"/>
          </a:xfrm>
          <a:prstGeom prst="rect">
            <a:avLst/>
          </a:prstGeom>
          <a:noFill/>
          <a:ln/>
        </p:spPr>
        <p:txBody>
          <a:bodyPr wrap="square" lIns="0" tIns="0" rIns="0" bIns="0" rtlCol="0" anchor="ctr"/>
          <a:lstStyle/>
          <a:p>
            <a:pPr marL="0" indent="0" algn="ctr">
              <a:buNone/>
            </a:pPr>
            <a:r>
              <a:rPr lang="en-US" sz="850" dirty="0">
                <a:solidFill>
                  <a:srgbClr val="5D7A8A"/>
                </a:solidFill>
                <a:latin typeface="Calibri" pitchFamily="34" charset="0"/>
                <a:ea typeface="Calibri" pitchFamily="34" charset="-122"/>
                <a:cs typeface="Calibri" pitchFamily="34" charset="-120"/>
              </a:rPr>
              <a:t>BRKGA gana</a:t>
            </a:r>
            <a:endParaRPr lang="en-US" sz="850" dirty="0"/>
          </a:p>
        </p:txBody>
      </p:sp>
      <p:sp>
        <p:nvSpPr>
          <p:cNvPr id="11" name="Shape 9"/>
          <p:cNvSpPr/>
          <p:nvPr/>
        </p:nvSpPr>
        <p:spPr>
          <a:xfrm>
            <a:off x="3886200" y="431028"/>
            <a:ext cx="1371600" cy="479017"/>
          </a:xfrm>
          <a:prstGeom prst="rect">
            <a:avLst/>
          </a:prstGeom>
          <a:solidFill>
            <a:srgbClr val="F4F8FB"/>
          </a:solidFill>
          <a:ln w="12700">
            <a:solidFill>
              <a:srgbClr val="AED6F1"/>
            </a:solidFill>
            <a:prstDash val="solid"/>
          </a:ln>
        </p:spPr>
        <p:txBody>
          <a:bodyPr/>
          <a:lstStyle/>
          <a:p>
            <a:endParaRPr lang="es-CO"/>
          </a:p>
        </p:txBody>
      </p:sp>
      <p:sp>
        <p:nvSpPr>
          <p:cNvPr id="12" name="Text 10"/>
          <p:cNvSpPr/>
          <p:nvPr/>
        </p:nvSpPr>
        <p:spPr>
          <a:xfrm>
            <a:off x="3886200" y="449316"/>
            <a:ext cx="1371600" cy="305072"/>
          </a:xfrm>
          <a:prstGeom prst="rect">
            <a:avLst/>
          </a:prstGeom>
          <a:noFill/>
          <a:ln/>
        </p:spPr>
        <p:txBody>
          <a:bodyPr wrap="square" lIns="0" tIns="0" rIns="0" bIns="0" rtlCol="0" anchor="ctr"/>
          <a:lstStyle/>
          <a:p>
            <a:pPr marL="0" indent="0" algn="ctr">
              <a:buNone/>
            </a:pPr>
            <a:r>
              <a:rPr lang="en-US" sz="1800" b="1" dirty="0">
                <a:solidFill>
                  <a:srgbClr val="0F2C54"/>
                </a:solidFill>
                <a:latin typeface="Calibri" pitchFamily="34" charset="0"/>
                <a:ea typeface="Calibri" pitchFamily="34" charset="-122"/>
                <a:cs typeface="Calibri" pitchFamily="34" charset="-120"/>
              </a:rPr>
              <a:t>6 / 18</a:t>
            </a:r>
            <a:endParaRPr lang="en-US" sz="1800" dirty="0"/>
          </a:p>
        </p:txBody>
      </p:sp>
      <p:sp>
        <p:nvSpPr>
          <p:cNvPr id="13" name="Text 11"/>
          <p:cNvSpPr/>
          <p:nvPr/>
        </p:nvSpPr>
        <p:spPr>
          <a:xfrm>
            <a:off x="3897630" y="716774"/>
            <a:ext cx="1371600" cy="224790"/>
          </a:xfrm>
          <a:prstGeom prst="rect">
            <a:avLst/>
          </a:prstGeom>
          <a:noFill/>
          <a:ln/>
        </p:spPr>
        <p:txBody>
          <a:bodyPr wrap="square" lIns="0" tIns="0" rIns="0" bIns="0" rtlCol="0" anchor="ctr"/>
          <a:lstStyle/>
          <a:p>
            <a:pPr marL="0" indent="0" algn="ctr">
              <a:buNone/>
            </a:pPr>
            <a:r>
              <a:rPr lang="en-US" sz="850" dirty="0">
                <a:solidFill>
                  <a:srgbClr val="5D7A8A"/>
                </a:solidFill>
                <a:latin typeface="Calibri" pitchFamily="34" charset="0"/>
                <a:ea typeface="Calibri" pitchFamily="34" charset="-122"/>
                <a:cs typeface="Calibri" pitchFamily="34" charset="-120"/>
              </a:rPr>
              <a:t>Empates</a:t>
            </a:r>
            <a:endParaRPr lang="en-US" sz="850" dirty="0"/>
          </a:p>
        </p:txBody>
      </p:sp>
      <p:sp>
        <p:nvSpPr>
          <p:cNvPr id="14" name="Shape 12"/>
          <p:cNvSpPr/>
          <p:nvPr/>
        </p:nvSpPr>
        <p:spPr>
          <a:xfrm>
            <a:off x="5623560" y="431028"/>
            <a:ext cx="1371600" cy="479017"/>
          </a:xfrm>
          <a:prstGeom prst="rect">
            <a:avLst/>
          </a:prstGeom>
          <a:solidFill>
            <a:srgbClr val="EBF5FB"/>
          </a:solidFill>
          <a:ln w="12700">
            <a:solidFill>
              <a:srgbClr val="AED6F1"/>
            </a:solidFill>
            <a:prstDash val="solid"/>
          </a:ln>
        </p:spPr>
        <p:txBody>
          <a:bodyPr/>
          <a:lstStyle/>
          <a:p>
            <a:endParaRPr lang="es-CO"/>
          </a:p>
        </p:txBody>
      </p:sp>
      <p:sp>
        <p:nvSpPr>
          <p:cNvPr id="15" name="Text 13"/>
          <p:cNvSpPr/>
          <p:nvPr/>
        </p:nvSpPr>
        <p:spPr>
          <a:xfrm>
            <a:off x="5623560" y="449316"/>
            <a:ext cx="1371600" cy="305072"/>
          </a:xfrm>
          <a:prstGeom prst="rect">
            <a:avLst/>
          </a:prstGeom>
          <a:noFill/>
          <a:ln/>
        </p:spPr>
        <p:txBody>
          <a:bodyPr wrap="square" lIns="0" tIns="0" rIns="0" bIns="0" rtlCol="0" anchor="ctr"/>
          <a:lstStyle/>
          <a:p>
            <a:pPr marL="0" indent="0" algn="ctr">
              <a:buNone/>
            </a:pPr>
            <a:r>
              <a:rPr lang="en-US" sz="1800" b="1" dirty="0">
                <a:solidFill>
                  <a:srgbClr val="0F2C54"/>
                </a:solidFill>
                <a:latin typeface="Calibri" pitchFamily="34" charset="0"/>
                <a:ea typeface="Calibri" pitchFamily="34" charset="-122"/>
                <a:cs typeface="Calibri" pitchFamily="34" charset="-120"/>
              </a:rPr>
              <a:t>14.69%</a:t>
            </a:r>
            <a:endParaRPr lang="en-US" sz="1800" dirty="0"/>
          </a:p>
        </p:txBody>
      </p:sp>
      <p:sp>
        <p:nvSpPr>
          <p:cNvPr id="16" name="Text 14"/>
          <p:cNvSpPr/>
          <p:nvPr/>
        </p:nvSpPr>
        <p:spPr>
          <a:xfrm>
            <a:off x="5646420" y="707144"/>
            <a:ext cx="1371600" cy="224790"/>
          </a:xfrm>
          <a:prstGeom prst="rect">
            <a:avLst/>
          </a:prstGeom>
          <a:noFill/>
          <a:ln/>
        </p:spPr>
        <p:txBody>
          <a:bodyPr wrap="square" lIns="0" tIns="0" rIns="0" bIns="0" rtlCol="0" anchor="ctr"/>
          <a:lstStyle/>
          <a:p>
            <a:pPr marL="0" indent="0" algn="ctr">
              <a:buNone/>
            </a:pPr>
            <a:r>
              <a:rPr lang="en-US" sz="850" dirty="0">
                <a:solidFill>
                  <a:srgbClr val="5D7A8A"/>
                </a:solidFill>
                <a:latin typeface="Calibri" pitchFamily="34" charset="0"/>
                <a:ea typeface="Calibri" pitchFamily="34" charset="-122"/>
                <a:cs typeface="Calibri" pitchFamily="34" charset="-120"/>
              </a:rPr>
              <a:t>Mej. prom GA</a:t>
            </a:r>
            <a:endParaRPr lang="en-US" sz="850" dirty="0"/>
          </a:p>
        </p:txBody>
      </p:sp>
      <p:sp>
        <p:nvSpPr>
          <p:cNvPr id="17" name="Shape 15"/>
          <p:cNvSpPr/>
          <p:nvPr/>
        </p:nvSpPr>
        <p:spPr>
          <a:xfrm>
            <a:off x="7360920" y="431028"/>
            <a:ext cx="1371600" cy="479017"/>
          </a:xfrm>
          <a:prstGeom prst="rect">
            <a:avLst/>
          </a:prstGeom>
          <a:solidFill>
            <a:srgbClr val="EBF5FB"/>
          </a:solidFill>
          <a:ln w="12700">
            <a:solidFill>
              <a:srgbClr val="AED6F1"/>
            </a:solidFill>
            <a:prstDash val="solid"/>
          </a:ln>
        </p:spPr>
        <p:txBody>
          <a:bodyPr/>
          <a:lstStyle/>
          <a:p>
            <a:endParaRPr lang="es-CO"/>
          </a:p>
        </p:txBody>
      </p:sp>
      <p:sp>
        <p:nvSpPr>
          <p:cNvPr id="18" name="Text 16"/>
          <p:cNvSpPr/>
          <p:nvPr/>
        </p:nvSpPr>
        <p:spPr>
          <a:xfrm>
            <a:off x="7360920" y="449316"/>
            <a:ext cx="1371600" cy="305072"/>
          </a:xfrm>
          <a:prstGeom prst="rect">
            <a:avLst/>
          </a:prstGeom>
          <a:noFill/>
          <a:ln/>
        </p:spPr>
        <p:txBody>
          <a:bodyPr wrap="square" lIns="0" tIns="0" rIns="0" bIns="0" rtlCol="0" anchor="ctr"/>
          <a:lstStyle/>
          <a:p>
            <a:pPr marL="0" indent="0" algn="ctr">
              <a:buNone/>
            </a:pPr>
            <a:r>
              <a:rPr lang="en-US" sz="1800" b="1" dirty="0">
                <a:solidFill>
                  <a:srgbClr val="0F2C54"/>
                </a:solidFill>
                <a:latin typeface="Calibri" pitchFamily="34" charset="0"/>
                <a:ea typeface="Calibri" pitchFamily="34" charset="-122"/>
                <a:cs typeface="Calibri" pitchFamily="34" charset="-120"/>
              </a:rPr>
              <a:t>14.56%</a:t>
            </a:r>
            <a:endParaRPr lang="en-US" sz="1800" dirty="0"/>
          </a:p>
        </p:txBody>
      </p:sp>
      <p:sp>
        <p:nvSpPr>
          <p:cNvPr id="19" name="Text 17"/>
          <p:cNvSpPr/>
          <p:nvPr/>
        </p:nvSpPr>
        <p:spPr>
          <a:xfrm>
            <a:off x="7360920" y="716774"/>
            <a:ext cx="1371600" cy="224790"/>
          </a:xfrm>
          <a:prstGeom prst="rect">
            <a:avLst/>
          </a:prstGeom>
          <a:noFill/>
          <a:ln/>
        </p:spPr>
        <p:txBody>
          <a:bodyPr wrap="square" lIns="0" tIns="0" rIns="0" bIns="0" rtlCol="0" anchor="ctr"/>
          <a:lstStyle/>
          <a:p>
            <a:pPr marL="0" indent="0" algn="ctr">
              <a:buNone/>
            </a:pPr>
            <a:r>
              <a:rPr lang="en-US" sz="850" dirty="0">
                <a:solidFill>
                  <a:srgbClr val="5D7A8A"/>
                </a:solidFill>
                <a:latin typeface="Calibri" pitchFamily="34" charset="0"/>
                <a:ea typeface="Calibri" pitchFamily="34" charset="-122"/>
                <a:cs typeface="Calibri" pitchFamily="34" charset="-120"/>
              </a:rPr>
              <a:t>Mej. prom BR</a:t>
            </a:r>
            <a:endParaRPr lang="en-US" sz="850" dirty="0"/>
          </a:p>
        </p:txBody>
      </p:sp>
      <p:graphicFrame>
        <p:nvGraphicFramePr>
          <p:cNvPr id="20" name="Table 0"/>
          <p:cNvGraphicFramePr>
            <a:graphicFrameLocks noGrp="1"/>
          </p:cNvGraphicFramePr>
          <p:nvPr>
            <p:extLst>
              <p:ext uri="{D42A27DB-BD31-4B8C-83A1-F6EECF244321}">
                <p14:modId xmlns:p14="http://schemas.microsoft.com/office/powerpoint/2010/main" val="2636041940"/>
              </p:ext>
            </p:extLst>
          </p:nvPr>
        </p:nvGraphicFramePr>
        <p:xfrm>
          <a:off x="228601" y="982062"/>
          <a:ext cx="8732519" cy="4099560"/>
        </p:xfrm>
        <a:graphic>
          <a:graphicData uri="http://schemas.openxmlformats.org/drawingml/2006/table">
            <a:tbl>
              <a:tblPr/>
              <a:tblGrid>
                <a:gridCol w="2022268">
                  <a:extLst>
                    <a:ext uri="{9D8B030D-6E8A-4147-A177-3AD203B41FA5}">
                      <a16:colId xmlns:a16="http://schemas.microsoft.com/office/drawing/2014/main" val="20000"/>
                    </a:ext>
                  </a:extLst>
                </a:gridCol>
                <a:gridCol w="1838425">
                  <a:extLst>
                    <a:ext uri="{9D8B030D-6E8A-4147-A177-3AD203B41FA5}">
                      <a16:colId xmlns:a16="http://schemas.microsoft.com/office/drawing/2014/main" val="20001"/>
                    </a:ext>
                  </a:extLst>
                </a:gridCol>
                <a:gridCol w="1838425">
                  <a:extLst>
                    <a:ext uri="{9D8B030D-6E8A-4147-A177-3AD203B41FA5}">
                      <a16:colId xmlns:a16="http://schemas.microsoft.com/office/drawing/2014/main" val="20002"/>
                    </a:ext>
                  </a:extLst>
                </a:gridCol>
                <a:gridCol w="1838425">
                  <a:extLst>
                    <a:ext uri="{9D8B030D-6E8A-4147-A177-3AD203B41FA5}">
                      <a16:colId xmlns:a16="http://schemas.microsoft.com/office/drawing/2014/main" val="20003"/>
                    </a:ext>
                  </a:extLst>
                </a:gridCol>
                <a:gridCol w="1194976">
                  <a:extLst>
                    <a:ext uri="{9D8B030D-6E8A-4147-A177-3AD203B41FA5}">
                      <a16:colId xmlns:a16="http://schemas.microsoft.com/office/drawing/2014/main" val="20004"/>
                    </a:ext>
                  </a:extLst>
                </a:gridCol>
              </a:tblGrid>
              <a:tr h="195393">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Instancia</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Z Noise</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Z GAVND</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Z BRKGA</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Ganador</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ft06</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523</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435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435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ft06r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507</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464</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464</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ft10</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16,595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13,628</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13,628</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3"/>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ft10r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17,120</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13,628</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13,628</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err="1">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ft20</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29,982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20,302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20,154</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BRKGA</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5"/>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ft20r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30,075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20,783</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20,405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BRKGA</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tai_j10_m10_1</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245,444</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173,412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173,412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7"/>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tai_j10_m10_1r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220,651</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173,412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173,412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err="1">
                          <a:ln>
                            <a:noFill/>
                          </a:ln>
                          <a:solidFill>
                            <a:srgbClr val="5D7A8A"/>
                          </a:solidFill>
                          <a:effectLst/>
                          <a:uLnTx/>
                          <a:uFillTx/>
                          <a:latin typeface="Calibri" pitchFamily="34" charset="0"/>
                          <a:ea typeface="Calibri" pitchFamily="34" charset="-122"/>
                          <a:cs typeface="Calibri" pitchFamily="34" charset="-120"/>
                        </a:rPr>
                        <a:t>Empate</a:t>
                      </a:r>
                      <a:endParaRPr kumimoji="0" lang="en-US" sz="850" b="0" i="0" u="none" strike="noStrike" kern="1200" cap="none" spc="0" normalizeH="0" baseline="0" noProof="0" dirty="0">
                        <a:ln>
                          <a:noFill/>
                        </a:ln>
                        <a:solidFill>
                          <a:prstClr val="black"/>
                        </a:solidFill>
                        <a:effectLst/>
                        <a:uLnTx/>
                        <a:uFillTx/>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tai_j100_m10_1</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17,234,263</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12,478,411</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12,860,190</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GAVND</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9"/>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tai_j100_m10_1r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17,784,691</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12,891,466</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12,886,216</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BRKGA</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tai_j100_m100_1</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220,648,929</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199,437,087</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203,093,081</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GAVND</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11"/>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tai_j100_m100_1r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223,438,825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201,354,052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201,950,728</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GAVND</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tai_j1000_m10_1</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1,751,355,423</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1,679,481,436</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1,681,889,980</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GAVND</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13"/>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tai_j1000_m10_1r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1,737,705,215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1,675,170,424</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1,652,361,813</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BRKGA</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tai_j1000_m100_1</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21,899,813,788</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21,614,809,277</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21,586,048,146</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BRKGA</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15"/>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tai_j1000_m100_1r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22,113,115,675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21,600,506,020</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21,793,341,750</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GAVND</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tai_j1000_m1000_1</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240,456,592,305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239,375,781,372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239,815,115,302</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GAVND</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17"/>
                  </a:ext>
                </a:extLst>
              </a:tr>
              <a:tr h="195393">
                <a:tc>
                  <a:txBody>
                    <a:bodyPr/>
                    <a:lstStyle/>
                    <a:p>
                      <a:pPr marL="0" indent="0" algn="l">
                        <a:buNone/>
                      </a:pPr>
                      <a:r>
                        <a:rPr lang="en-US" sz="750" dirty="0">
                          <a:solidFill>
                            <a:srgbClr val="1C2A3A"/>
                          </a:solidFill>
                          <a:latin typeface="Consolas" pitchFamily="34" charset="0"/>
                          <a:ea typeface="Consolas" pitchFamily="34" charset="-122"/>
                          <a:cs typeface="Consolas" pitchFamily="34" charset="-120"/>
                        </a:rPr>
                        <a:t>tai_j1000_m1000_1r</a:t>
                      </a:r>
                      <a:endParaRPr lang="en-US" sz="75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5D7A8A"/>
                          </a:solidFill>
                          <a:latin typeface="Calibri" pitchFamily="34" charset="0"/>
                          <a:ea typeface="Calibri" pitchFamily="34" charset="-122"/>
                          <a:cs typeface="Calibri" pitchFamily="34" charset="-120"/>
                        </a:rPr>
                        <a:t>240,473,965,440</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Calibri" pitchFamily="34" charset="0"/>
                          <a:ea typeface="Calibri" pitchFamily="34" charset="-122"/>
                          <a:cs typeface="Calibri" pitchFamily="34" charset="-120"/>
                        </a:rPr>
                        <a:t>239,342,978,285</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800" dirty="0">
                          <a:solidFill>
                            <a:srgbClr val="1C2A3A"/>
                          </a:solidFill>
                          <a:latin typeface="Calibri" pitchFamily="34" charset="0"/>
                          <a:ea typeface="Calibri" pitchFamily="34" charset="-122"/>
                          <a:cs typeface="Calibri" pitchFamily="34" charset="-120"/>
                        </a:rPr>
                        <a:t>240,016,384,046</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2E86C1"/>
                          </a:solidFill>
                          <a:latin typeface="Calibri" pitchFamily="34" charset="0"/>
                          <a:ea typeface="Calibri" pitchFamily="34" charset="-122"/>
                          <a:cs typeface="Calibri" pitchFamily="34" charset="-120"/>
                        </a:rPr>
                        <a:t>GAVND</a:t>
                      </a:r>
                      <a:endParaRPr lang="en-US" sz="8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2C54"/>
          </a:solidFill>
          <a:ln w="12700">
            <a:solidFill>
              <a:srgbClr val="0F2C54"/>
            </a:solidFill>
            <a:prstDash val="solid"/>
          </a:ln>
        </p:spPr>
        <p:txBody>
          <a:bodyPr/>
          <a:lstStyle/>
          <a:p>
            <a:endParaRPr lang="es-CO"/>
          </a:p>
        </p:txBody>
      </p:sp>
      <p:sp>
        <p:nvSpPr>
          <p:cNvPr id="3" name="Text 1"/>
          <p:cNvSpPr/>
          <p:nvPr/>
        </p:nvSpPr>
        <p:spPr>
          <a:xfrm>
            <a:off x="347472" y="0"/>
            <a:ext cx="859536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Tiempos de cómputo por instancia</a:t>
            </a:r>
            <a:endParaRPr lang="en-US" sz="2000" dirty="0"/>
          </a:p>
        </p:txBody>
      </p:sp>
      <p:sp>
        <p:nvSpPr>
          <p:cNvPr id="4" name="Text 2"/>
          <p:cNvSpPr/>
          <p:nvPr/>
        </p:nvSpPr>
        <p:spPr>
          <a:xfrm>
            <a:off x="8595360" y="4846320"/>
            <a:ext cx="365760" cy="182880"/>
          </a:xfrm>
          <a:prstGeom prst="rect">
            <a:avLst/>
          </a:prstGeom>
          <a:noFill/>
          <a:ln/>
        </p:spPr>
        <p:txBody>
          <a:bodyPr wrap="square" rtlCol="0" anchor="ctr"/>
          <a:lstStyle/>
          <a:p>
            <a:pPr marL="0" indent="0" algn="r">
              <a:buNone/>
            </a:pPr>
            <a:r>
              <a:rPr lang="en-US" sz="900" dirty="0">
                <a:solidFill>
                  <a:srgbClr val="5D7A8A"/>
                </a:solidFill>
                <a:latin typeface="Calibri" pitchFamily="34" charset="0"/>
                <a:ea typeface="Calibri" pitchFamily="34" charset="-122"/>
                <a:cs typeface="Calibri" pitchFamily="34" charset="-120"/>
              </a:rPr>
              <a:t>8</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02084497"/>
              </p:ext>
            </p:extLst>
          </p:nvPr>
        </p:nvGraphicFramePr>
        <p:xfrm>
          <a:off x="182880" y="849429"/>
          <a:ext cx="8686800" cy="4179771"/>
        </p:xfrm>
        <a:graphic>
          <a:graphicData uri="http://schemas.openxmlformats.org/drawingml/2006/table">
            <a:tbl>
              <a:tblPr/>
              <a:tblGrid>
                <a:gridCol w="21031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202131">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Instancia</a:t>
                      </a:r>
                      <a:endParaRPr lang="en-US" sz="7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n</a:t>
                      </a:r>
                      <a:endParaRPr lang="en-US" sz="7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m</a:t>
                      </a:r>
                      <a:endParaRPr lang="en-US" sz="7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t GAVND (ms)</a:t>
                      </a:r>
                      <a:endParaRPr lang="en-US" sz="7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t BRKGA (ms)</a:t>
                      </a:r>
                      <a:endParaRPr lang="en-US" sz="70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1A5276"/>
                    </a:solidFill>
                  </a:tcPr>
                </a:tc>
                <a:extLst>
                  <a:ext uri="{0D108BD9-81ED-4DB2-BD59-A6C34878D82A}">
                    <a16:rowId xmlns:a16="http://schemas.microsoft.com/office/drawing/2014/main" val="10000"/>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ft06</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15,008</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15,031</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1"/>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ft06r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15,034</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15,043</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ft10</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15,091</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15,088</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3"/>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ft10r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15,085</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15,102</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ft20</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15,081</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15,125</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5"/>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ft20r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20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15,077</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15,098</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tai_j10_m10_1</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15,107</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15,088</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7"/>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tai_j10_m10_1r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15,108</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15,079</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tai_j100_m10_1</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150,763</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150,807</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09"/>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tai_j100_m10_1r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150,756</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150,833</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tai_j100_m100_1</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187,792</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187,812</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11"/>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tai_j100_m100_1r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187,807</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187,834</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tai_j1000_m10_1</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187,825</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187,909</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13"/>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tai_j1000_m10_1r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187,813</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187,951</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tai_j1000_m100_1</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257,561</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257,756</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15"/>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tai_j1000_m100_1r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257,579</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257,668</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tai_j1000_m1000_1</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956,521</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956,534</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4F8FB"/>
                    </a:solidFill>
                  </a:tcPr>
                </a:tc>
                <a:extLst>
                  <a:ext uri="{0D108BD9-81ED-4DB2-BD59-A6C34878D82A}">
                    <a16:rowId xmlns:a16="http://schemas.microsoft.com/office/drawing/2014/main" val="10017"/>
                  </a:ext>
                </a:extLst>
              </a:tr>
              <a:tr h="202131">
                <a:tc>
                  <a:txBody>
                    <a:bodyPr/>
                    <a:lstStyle/>
                    <a:p>
                      <a:pPr marL="0" indent="0" algn="l">
                        <a:buNone/>
                      </a:pPr>
                      <a:r>
                        <a:rPr lang="en-US" sz="800" dirty="0">
                          <a:solidFill>
                            <a:srgbClr val="1C2A3A"/>
                          </a:solidFill>
                          <a:latin typeface="Consolas" pitchFamily="34" charset="0"/>
                          <a:ea typeface="Consolas" pitchFamily="34" charset="-122"/>
                          <a:cs typeface="Consolas" pitchFamily="34" charset="-120"/>
                        </a:rPr>
                        <a:t>tai_j1000_m1000_1r</a:t>
                      </a:r>
                      <a:endParaRPr lang="en-US" sz="800" dirty="0">
                        <a:latin typeface="Consolas" charset="0"/>
                        <a:ea typeface="Consolas" charset="0"/>
                        <a:cs typeface="Consolas"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5D7A8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955,287</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C2A3A"/>
                          </a:solidFill>
                          <a:latin typeface="Calibri" pitchFamily="34" charset="0"/>
                          <a:ea typeface="Calibri" pitchFamily="34" charset="-122"/>
                          <a:cs typeface="Calibri" pitchFamily="34" charset="-120"/>
                        </a:rPr>
                        <a:t>955,415</a:t>
                      </a:r>
                      <a:endParaRPr lang="en-US" sz="850" dirty="0">
                        <a:latin typeface="Calibri" charset="0"/>
                        <a:ea typeface="Calibri" charset="0"/>
                        <a:cs typeface="Calibri" charset="0"/>
                      </a:endParaRPr>
                    </a:p>
                  </a:txBody>
                  <a:tcPr anchor="ctr">
                    <a:lnL w="6350" cap="flat" cmpd="sng" algn="ctr">
                      <a:solidFill>
                        <a:srgbClr val="AED6F1"/>
                      </a:solidFill>
                      <a:prstDash val="solid"/>
                      <a:round/>
                      <a:headEnd type="none" w="med" len="med"/>
                      <a:tailEnd type="none" w="med" len="med"/>
                    </a:lnL>
                    <a:lnR w="6350" cap="flat" cmpd="sng" algn="ctr">
                      <a:solidFill>
                        <a:srgbClr val="AED6F1"/>
                      </a:solidFill>
                      <a:prstDash val="solid"/>
                      <a:round/>
                      <a:headEnd type="none" w="med" len="med"/>
                      <a:tailEnd type="none" w="med" len="med"/>
                    </a:lnR>
                    <a:lnT w="6350" cap="flat" cmpd="sng" algn="ctr">
                      <a:solidFill>
                        <a:srgbClr val="AED6F1"/>
                      </a:solidFill>
                      <a:prstDash val="solid"/>
                      <a:round/>
                      <a:headEnd type="none" w="med" len="med"/>
                      <a:tailEnd type="none" w="med" len="med"/>
                    </a:lnT>
                    <a:lnB w="6350" cap="flat" cmpd="sng" algn="ctr">
                      <a:solidFill>
                        <a:srgbClr val="AED6F1"/>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F2C54"/>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Conclusiones</a:t>
            </a:r>
            <a:endParaRPr lang="en-US" sz="2800" dirty="0"/>
          </a:p>
        </p:txBody>
      </p:sp>
      <p:sp>
        <p:nvSpPr>
          <p:cNvPr id="3" name="Shape 1"/>
          <p:cNvSpPr/>
          <p:nvPr/>
        </p:nvSpPr>
        <p:spPr>
          <a:xfrm>
            <a:off x="320040" y="1097280"/>
            <a:ext cx="4114800" cy="1691640"/>
          </a:xfrm>
          <a:prstGeom prst="rect">
            <a:avLst/>
          </a:prstGeom>
          <a:solidFill>
            <a:srgbClr val="162D4E"/>
          </a:solidFill>
          <a:ln w="12700">
            <a:solidFill>
              <a:srgbClr val="2E86C1"/>
            </a:solidFill>
            <a:prstDash val="solid"/>
          </a:ln>
        </p:spPr>
        <p:txBody>
          <a:bodyPr/>
          <a:lstStyle/>
          <a:p>
            <a:endParaRPr lang="es-CO" dirty="0"/>
          </a:p>
        </p:txBody>
      </p:sp>
      <p:sp>
        <p:nvSpPr>
          <p:cNvPr id="4" name="Shape 2"/>
          <p:cNvSpPr/>
          <p:nvPr/>
        </p:nvSpPr>
        <p:spPr>
          <a:xfrm>
            <a:off x="320040" y="1097280"/>
            <a:ext cx="502920" cy="1691640"/>
          </a:xfrm>
          <a:prstGeom prst="rect">
            <a:avLst/>
          </a:prstGeom>
          <a:solidFill>
            <a:srgbClr val="2E86C1"/>
          </a:solidFill>
          <a:ln w="12700">
            <a:solidFill>
              <a:srgbClr val="2E86C1"/>
            </a:solidFill>
            <a:prstDash val="solid"/>
          </a:ln>
        </p:spPr>
        <p:txBody>
          <a:bodyPr/>
          <a:lstStyle/>
          <a:p>
            <a:endParaRPr lang="es-CO"/>
          </a:p>
        </p:txBody>
      </p:sp>
      <p:sp>
        <p:nvSpPr>
          <p:cNvPr id="5" name="Text 3"/>
          <p:cNvSpPr/>
          <p:nvPr/>
        </p:nvSpPr>
        <p:spPr>
          <a:xfrm>
            <a:off x="320040" y="1097280"/>
            <a:ext cx="502920" cy="1691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6" name="Text 4"/>
          <p:cNvSpPr/>
          <p:nvPr/>
        </p:nvSpPr>
        <p:spPr>
          <a:xfrm>
            <a:off x="886968" y="1188720"/>
            <a:ext cx="3456432" cy="365760"/>
          </a:xfrm>
          <a:prstGeom prst="rect">
            <a:avLst/>
          </a:prstGeom>
          <a:noFill/>
          <a:ln/>
        </p:spPr>
        <p:txBody>
          <a:bodyPr wrap="square" lIns="0" tIns="0" rIns="0" bIns="0" rtlCol="0" anchor="ctr"/>
          <a:lstStyle/>
          <a:p>
            <a:pPr marL="0" indent="0">
              <a:buNone/>
            </a:pPr>
            <a:r>
              <a:rPr lang="en-US" sz="950" b="1" dirty="0">
                <a:solidFill>
                  <a:srgbClr val="AED6F1"/>
                </a:solidFill>
                <a:latin typeface="Calibri" pitchFamily="34" charset="0"/>
                <a:ea typeface="Calibri" pitchFamily="34" charset="-122"/>
                <a:cs typeface="Calibri" pitchFamily="34" charset="-120"/>
              </a:rPr>
              <a:t>Más generaciones supera al VND más profundo</a:t>
            </a:r>
            <a:endParaRPr lang="en-US" sz="950" dirty="0"/>
          </a:p>
        </p:txBody>
      </p:sp>
      <p:sp>
        <p:nvSpPr>
          <p:cNvPr id="7" name="Text 5"/>
          <p:cNvSpPr/>
          <p:nvPr/>
        </p:nvSpPr>
        <p:spPr>
          <a:xfrm>
            <a:off x="886968" y="1572768"/>
            <a:ext cx="3456432" cy="1143000"/>
          </a:xfrm>
          <a:prstGeom prst="rect">
            <a:avLst/>
          </a:prstGeom>
          <a:noFill/>
          <a:ln/>
        </p:spPr>
        <p:txBody>
          <a:bodyPr wrap="square" lIns="0" tIns="0" rIns="0" bIns="0" rtlCol="0" anchor="ctr"/>
          <a:lstStyle/>
          <a:p>
            <a:pPr marL="0" indent="0">
              <a:buNone/>
            </a:pPr>
            <a:r>
              <a:rPr lang="en-US" sz="1050" dirty="0">
                <a:solidFill>
                  <a:srgbClr val="C8DCF0"/>
                </a:solidFill>
                <a:latin typeface="Calibri" pitchFamily="34" charset="0"/>
                <a:ea typeface="Calibri" pitchFamily="34" charset="-122"/>
                <a:cs typeface="Calibri" pitchFamily="34" charset="-120"/>
              </a:rPr>
              <a:t>En ambos algoritmos, reducir el tiempo de búsqueda local por llamada (t_vnd y t_ils) para ganar generaciones produce mejores resultados que explorar más profundo en cada llamada. La calidad del material genético acumulado depende de la cantidad de iteraciones evolutivas, no de la intensidad de cada búsqueda local individual.</a:t>
            </a:r>
            <a:endParaRPr lang="en-US" sz="1050" dirty="0"/>
          </a:p>
        </p:txBody>
      </p:sp>
      <p:sp>
        <p:nvSpPr>
          <p:cNvPr id="8" name="Shape 6"/>
          <p:cNvSpPr/>
          <p:nvPr/>
        </p:nvSpPr>
        <p:spPr>
          <a:xfrm>
            <a:off x="4709160" y="1097280"/>
            <a:ext cx="4114800" cy="1691640"/>
          </a:xfrm>
          <a:prstGeom prst="rect">
            <a:avLst/>
          </a:prstGeom>
          <a:solidFill>
            <a:srgbClr val="162D4E"/>
          </a:solidFill>
          <a:ln w="12700">
            <a:solidFill>
              <a:srgbClr val="2E86C1"/>
            </a:solidFill>
            <a:prstDash val="solid"/>
          </a:ln>
        </p:spPr>
        <p:txBody>
          <a:bodyPr anchor="ctr"/>
          <a:lstStyle/>
          <a:p>
            <a:endParaRPr lang="es-CO"/>
          </a:p>
        </p:txBody>
      </p:sp>
      <p:sp>
        <p:nvSpPr>
          <p:cNvPr id="9" name="Shape 7"/>
          <p:cNvSpPr/>
          <p:nvPr/>
        </p:nvSpPr>
        <p:spPr>
          <a:xfrm>
            <a:off x="4709160" y="1097280"/>
            <a:ext cx="502920" cy="1691640"/>
          </a:xfrm>
          <a:prstGeom prst="rect">
            <a:avLst/>
          </a:prstGeom>
          <a:solidFill>
            <a:srgbClr val="2E86C1"/>
          </a:solidFill>
          <a:ln w="12700">
            <a:solidFill>
              <a:srgbClr val="2E86C1"/>
            </a:solidFill>
            <a:prstDash val="solid"/>
          </a:ln>
        </p:spPr>
        <p:txBody>
          <a:bodyPr anchor="ctr"/>
          <a:lstStyle/>
          <a:p>
            <a:endParaRPr lang="es-CO"/>
          </a:p>
        </p:txBody>
      </p:sp>
      <p:sp>
        <p:nvSpPr>
          <p:cNvPr id="10" name="Text 8"/>
          <p:cNvSpPr/>
          <p:nvPr/>
        </p:nvSpPr>
        <p:spPr>
          <a:xfrm>
            <a:off x="4709160" y="1097280"/>
            <a:ext cx="502920" cy="1691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1" name="Text 9"/>
          <p:cNvSpPr/>
          <p:nvPr/>
        </p:nvSpPr>
        <p:spPr>
          <a:xfrm>
            <a:off x="5276088" y="1188720"/>
            <a:ext cx="3456432" cy="365760"/>
          </a:xfrm>
          <a:prstGeom prst="rect">
            <a:avLst/>
          </a:prstGeom>
          <a:noFill/>
          <a:ln/>
        </p:spPr>
        <p:txBody>
          <a:bodyPr wrap="square" lIns="0" tIns="0" rIns="0" bIns="0" rtlCol="0" anchor="ctr"/>
          <a:lstStyle/>
          <a:p>
            <a:pPr marL="0" indent="0">
              <a:buNone/>
            </a:pPr>
            <a:r>
              <a:rPr lang="en-US" sz="950" b="1" dirty="0">
                <a:solidFill>
                  <a:srgbClr val="AED6F1"/>
                </a:solidFill>
                <a:latin typeface="Calibri" pitchFamily="34" charset="0"/>
                <a:ea typeface="Calibri" pitchFamily="34" charset="-122"/>
                <a:cs typeface="Calibri" pitchFamily="34" charset="-120"/>
              </a:rPr>
              <a:t>Élite pequeña en BRKGA activa mejor el ILS</a:t>
            </a:r>
            <a:endParaRPr lang="en-US" sz="950" dirty="0"/>
          </a:p>
        </p:txBody>
      </p:sp>
      <p:sp>
        <p:nvSpPr>
          <p:cNvPr id="12" name="Text 10"/>
          <p:cNvSpPr/>
          <p:nvPr/>
        </p:nvSpPr>
        <p:spPr>
          <a:xfrm>
            <a:off x="5276088" y="1572768"/>
            <a:ext cx="3456432" cy="1143000"/>
          </a:xfrm>
          <a:prstGeom prst="rect">
            <a:avLst/>
          </a:prstGeom>
          <a:noFill/>
          <a:ln/>
        </p:spPr>
        <p:txBody>
          <a:bodyPr wrap="square" lIns="0" tIns="0" rIns="0" bIns="0" rtlCol="0" anchor="ctr"/>
          <a:lstStyle/>
          <a:p>
            <a:pPr marL="0" indent="0">
              <a:buNone/>
            </a:pPr>
            <a:r>
              <a:rPr lang="en-US" sz="1050" dirty="0">
                <a:solidFill>
                  <a:srgbClr val="C8DCF0"/>
                </a:solidFill>
                <a:latin typeface="Calibri" pitchFamily="34" charset="0"/>
                <a:ea typeface="Calibri" pitchFamily="34" charset="-122"/>
                <a:cs typeface="Calibri" pitchFamily="34" charset="-120"/>
              </a:rPr>
              <a:t>Reducir la fracción élite de 0.15 (canónico) a 0.10 aumentó la efectividad del ILS en instancias grandes (ratio improved/calls de 35/68 vs 23/40). Una élite más pequeña genera más cruces activos y soluciones más diversas, lo que le da al ILS material fresco en lugar de soluciones ya exhaustas.</a:t>
            </a:r>
            <a:endParaRPr lang="en-US" sz="1050" dirty="0"/>
          </a:p>
        </p:txBody>
      </p:sp>
      <p:sp>
        <p:nvSpPr>
          <p:cNvPr id="13" name="Shape 11"/>
          <p:cNvSpPr/>
          <p:nvPr/>
        </p:nvSpPr>
        <p:spPr>
          <a:xfrm>
            <a:off x="320040" y="3017520"/>
            <a:ext cx="4114800" cy="1691640"/>
          </a:xfrm>
          <a:prstGeom prst="rect">
            <a:avLst/>
          </a:prstGeom>
          <a:solidFill>
            <a:srgbClr val="162D4E"/>
          </a:solidFill>
          <a:ln w="12700">
            <a:solidFill>
              <a:srgbClr val="2E86C1"/>
            </a:solidFill>
            <a:prstDash val="solid"/>
          </a:ln>
        </p:spPr>
        <p:txBody>
          <a:bodyPr/>
          <a:lstStyle/>
          <a:p>
            <a:endParaRPr lang="es-CO"/>
          </a:p>
        </p:txBody>
      </p:sp>
      <p:sp>
        <p:nvSpPr>
          <p:cNvPr id="14" name="Shape 12"/>
          <p:cNvSpPr/>
          <p:nvPr/>
        </p:nvSpPr>
        <p:spPr>
          <a:xfrm>
            <a:off x="320040" y="3017520"/>
            <a:ext cx="502920" cy="1691640"/>
          </a:xfrm>
          <a:prstGeom prst="rect">
            <a:avLst/>
          </a:prstGeom>
          <a:solidFill>
            <a:srgbClr val="2E86C1"/>
          </a:solidFill>
          <a:ln w="12700">
            <a:solidFill>
              <a:srgbClr val="2E86C1"/>
            </a:solidFill>
            <a:prstDash val="solid"/>
          </a:ln>
        </p:spPr>
        <p:txBody>
          <a:bodyPr/>
          <a:lstStyle/>
          <a:p>
            <a:endParaRPr lang="es-CO"/>
          </a:p>
        </p:txBody>
      </p:sp>
      <p:sp>
        <p:nvSpPr>
          <p:cNvPr id="15" name="Text 13"/>
          <p:cNvSpPr/>
          <p:nvPr/>
        </p:nvSpPr>
        <p:spPr>
          <a:xfrm>
            <a:off x="320040" y="3017520"/>
            <a:ext cx="502920" cy="1691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6" name="Text 14"/>
          <p:cNvSpPr/>
          <p:nvPr/>
        </p:nvSpPr>
        <p:spPr>
          <a:xfrm>
            <a:off x="886968" y="3108960"/>
            <a:ext cx="3456432" cy="365760"/>
          </a:xfrm>
          <a:prstGeom prst="rect">
            <a:avLst/>
          </a:prstGeom>
          <a:noFill/>
          <a:ln/>
        </p:spPr>
        <p:txBody>
          <a:bodyPr wrap="square" lIns="0" tIns="0" rIns="0" bIns="0" rtlCol="0" anchor="ctr"/>
          <a:lstStyle/>
          <a:p>
            <a:pPr marL="0" indent="0">
              <a:buNone/>
            </a:pPr>
            <a:r>
              <a:rPr lang="en-US" sz="950" b="1" dirty="0">
                <a:solidFill>
                  <a:srgbClr val="AED6F1"/>
                </a:solidFill>
                <a:latin typeface="Calibri" pitchFamily="34" charset="0"/>
                <a:ea typeface="Calibri" pitchFamily="34" charset="-122"/>
                <a:cs typeface="Calibri" pitchFamily="34" charset="-120"/>
              </a:rPr>
              <a:t>GAVND y BRKGA+ILS son competitivos entre sí</a:t>
            </a:r>
            <a:endParaRPr lang="en-US" sz="950" dirty="0"/>
          </a:p>
        </p:txBody>
      </p:sp>
      <p:sp>
        <p:nvSpPr>
          <p:cNvPr id="17" name="Text 15"/>
          <p:cNvSpPr/>
          <p:nvPr/>
        </p:nvSpPr>
        <p:spPr>
          <a:xfrm>
            <a:off x="886968" y="3493008"/>
            <a:ext cx="3456432" cy="1143000"/>
          </a:xfrm>
          <a:prstGeom prst="rect">
            <a:avLst/>
          </a:prstGeom>
          <a:noFill/>
          <a:ln/>
        </p:spPr>
        <p:txBody>
          <a:bodyPr wrap="square" lIns="0" tIns="0" rIns="0" bIns="0" rtlCol="0" anchor="ctr"/>
          <a:lstStyle/>
          <a:p>
            <a:pPr marL="0" indent="0">
              <a:buNone/>
            </a:pPr>
            <a:r>
              <a:rPr lang="en-US" sz="1050" dirty="0">
                <a:solidFill>
                  <a:srgbClr val="C8DCF0"/>
                </a:solidFill>
                <a:latin typeface="Calibri" pitchFamily="34" charset="0"/>
                <a:ea typeface="Calibri" pitchFamily="34" charset="-122"/>
                <a:cs typeface="Calibri" pitchFamily="34" charset="-120"/>
              </a:rPr>
              <a:t>GAVND ganó en 7 de 18 instancias y BRKGA+ILS en 5, con 6 empates. GAVND tiene ventaja en instancias n×m grande donde el espacio discreto de permutaciones se explora eficientemente con OX. BRKGA+ILS es superior en instancias medianas donde la diversificación continua en [0,1]^n compensa el coste del decoder.</a:t>
            </a:r>
            <a:endParaRPr lang="en-US" sz="1050" dirty="0"/>
          </a:p>
        </p:txBody>
      </p:sp>
      <p:sp>
        <p:nvSpPr>
          <p:cNvPr id="18" name="Shape 16"/>
          <p:cNvSpPr/>
          <p:nvPr/>
        </p:nvSpPr>
        <p:spPr>
          <a:xfrm>
            <a:off x="4709160" y="3017520"/>
            <a:ext cx="4114800" cy="1691640"/>
          </a:xfrm>
          <a:prstGeom prst="rect">
            <a:avLst/>
          </a:prstGeom>
          <a:solidFill>
            <a:srgbClr val="162D4E"/>
          </a:solidFill>
          <a:ln w="12700">
            <a:solidFill>
              <a:srgbClr val="2E86C1"/>
            </a:solidFill>
            <a:prstDash val="solid"/>
          </a:ln>
        </p:spPr>
        <p:txBody>
          <a:bodyPr anchor="ctr"/>
          <a:lstStyle/>
          <a:p>
            <a:endParaRPr lang="es-CO"/>
          </a:p>
        </p:txBody>
      </p:sp>
      <p:sp>
        <p:nvSpPr>
          <p:cNvPr id="19" name="Shape 17"/>
          <p:cNvSpPr/>
          <p:nvPr/>
        </p:nvSpPr>
        <p:spPr>
          <a:xfrm>
            <a:off x="4709160" y="3017520"/>
            <a:ext cx="502920" cy="1691640"/>
          </a:xfrm>
          <a:prstGeom prst="rect">
            <a:avLst/>
          </a:prstGeom>
          <a:solidFill>
            <a:srgbClr val="2E86C1"/>
          </a:solidFill>
          <a:ln w="12700">
            <a:solidFill>
              <a:srgbClr val="2E86C1"/>
            </a:solidFill>
            <a:prstDash val="solid"/>
          </a:ln>
        </p:spPr>
        <p:txBody>
          <a:bodyPr anchor="ctr"/>
          <a:lstStyle/>
          <a:p>
            <a:pPr algn="ctr"/>
            <a:endParaRPr lang="es-CO" dirty="0"/>
          </a:p>
        </p:txBody>
      </p:sp>
      <p:sp>
        <p:nvSpPr>
          <p:cNvPr id="20" name="Text 18"/>
          <p:cNvSpPr/>
          <p:nvPr/>
        </p:nvSpPr>
        <p:spPr>
          <a:xfrm>
            <a:off x="4709160" y="3017520"/>
            <a:ext cx="502920" cy="169164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1" name="Text 19"/>
          <p:cNvSpPr/>
          <p:nvPr/>
        </p:nvSpPr>
        <p:spPr>
          <a:xfrm>
            <a:off x="5276088" y="3108960"/>
            <a:ext cx="3456432" cy="365760"/>
          </a:xfrm>
          <a:prstGeom prst="rect">
            <a:avLst/>
          </a:prstGeom>
          <a:noFill/>
          <a:ln/>
        </p:spPr>
        <p:txBody>
          <a:bodyPr wrap="square" lIns="0" tIns="0" rIns="0" bIns="0" rtlCol="0" anchor="ctr"/>
          <a:lstStyle/>
          <a:p>
            <a:pPr marL="0" indent="0">
              <a:buNone/>
            </a:pPr>
            <a:r>
              <a:rPr lang="en-US" sz="950" b="1" dirty="0">
                <a:solidFill>
                  <a:srgbClr val="AED6F1"/>
                </a:solidFill>
                <a:latin typeface="Calibri" pitchFamily="34" charset="0"/>
                <a:ea typeface="Calibri" pitchFamily="34" charset="-122"/>
                <a:cs typeface="Calibri" pitchFamily="34" charset="-120"/>
              </a:rPr>
              <a:t>La mejora respecto al constructivo se reduce con la escala</a:t>
            </a:r>
            <a:endParaRPr lang="en-US" sz="950" dirty="0"/>
          </a:p>
        </p:txBody>
      </p:sp>
      <p:sp>
        <p:nvSpPr>
          <p:cNvPr id="22" name="Text 20"/>
          <p:cNvSpPr/>
          <p:nvPr/>
        </p:nvSpPr>
        <p:spPr>
          <a:xfrm>
            <a:off x="5276088" y="3493008"/>
            <a:ext cx="3456432" cy="1143000"/>
          </a:xfrm>
          <a:prstGeom prst="rect">
            <a:avLst/>
          </a:prstGeom>
          <a:noFill/>
          <a:ln/>
        </p:spPr>
        <p:txBody>
          <a:bodyPr wrap="square" lIns="0" tIns="0" rIns="0" bIns="0" rtlCol="0" anchor="ctr"/>
          <a:lstStyle/>
          <a:p>
            <a:pPr marL="0" indent="0">
              <a:buNone/>
            </a:pPr>
            <a:r>
              <a:rPr lang="en-US" sz="1050" dirty="0">
                <a:solidFill>
                  <a:srgbClr val="C8DCF0"/>
                </a:solidFill>
                <a:latin typeface="Calibri" pitchFamily="34" charset="0"/>
                <a:ea typeface="Calibri" pitchFamily="34" charset="-122"/>
                <a:cs typeface="Calibri" pitchFamily="34" charset="-120"/>
              </a:rPr>
              <a:t>En instancias pequeñas (ft06, ft10) los algoritmos mejoran entre 8% y 32% sobre Noise. En tai_j1000_m1000 la mejora cae a menos del 1%. El paisaje de aptitud de instancias con n×m &gt; 100,000 es tan vasto que 1 hora de cómputo solo permite explorar una fracción ínfima del espacio de búsqueda.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2407</Words>
  <Application>Microsoft Office PowerPoint</Application>
  <PresentationFormat>Presentación en pantalla (16:9)</PresentationFormat>
  <Paragraphs>594</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Algoritmos Evolutivos — NWJSSP</dc:title>
  <dc:subject>PptxGenJS Presentation</dc:subject>
  <dc:creator>Nicolás Peña</dc:creator>
  <cp:lastModifiedBy>Nicolas Peña Jaramillo</cp:lastModifiedBy>
  <cp:revision>6</cp:revision>
  <dcterms:created xsi:type="dcterms:W3CDTF">2026-05-16T13:43:32Z</dcterms:created>
  <dcterms:modified xsi:type="dcterms:W3CDTF">2026-05-18T05:35:35Z</dcterms:modified>
</cp:coreProperties>
</file>