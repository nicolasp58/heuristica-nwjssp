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5" r:id="rId11"/>
    <p:sldId id="266" r:id="rId12"/>
    <p:sldId id="267" r:id="rId13"/>
    <p:sldId id="268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1" r:id="rId23"/>
    <p:sldId id="270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28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48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778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C9089-0711-D93D-70C7-0CD62B7B4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A5366A-50C7-FCFF-A2CD-0FB64ABB8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CC0C4F-F73D-0136-37E6-948B14A64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CFB9A-864D-4E5B-3D1F-F18B2DDE0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505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25880"/>
            <a:ext cx="91440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3" name="Shape 1"/>
          <p:cNvSpPr/>
          <p:nvPr/>
        </p:nvSpPr>
        <p:spPr>
          <a:xfrm>
            <a:off x="0" y="1325880"/>
            <a:ext cx="182880" cy="2651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11480" y="14173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Local 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434340" y="215112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 — Trabajo 2  ·  Búsqueda en Vecindarios e Intensificación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4340" y="2644903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Nicolás Peña  ·  Universidad EAFIT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IMPLEMENTADOS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Improvement (BI)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33856"/>
            <a:ext cx="548640" cy="50292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3977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84048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719072"/>
            <a:ext cx="3657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TODO el vecindario en cada iteración.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 el vecino con menor Z que mejore la solución actual.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 ← solución inicial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mientras exista mejora: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2a. Guardar S ← B, fin ← true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2b. Para cada vecino h en N(S):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si f(h) &lt; f(B): actualizar B, fin ← false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3: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retornar B (óptimo local)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cada movimiento garantiza el mayor avance posible en Z.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07408" y="1298448"/>
            <a:ext cx="4480560" cy="3611880"/>
          </a:xfrm>
          <a:prstGeom prst="rect">
            <a:avLst/>
          </a:prstGeom>
          <a:solidFill>
            <a:srgbClr val="172B1E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07408" y="1298448"/>
            <a:ext cx="4480560" cy="292608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17136" y="12984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 — Best Improvement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1645920"/>
            <a:ext cx="420624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← InitialSolution()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 ← false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fin = false do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 ← true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 ← 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  ←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h &lt;= |Neighbors| do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 ← Move(S, h)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f(P) &lt; f(B) then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   ← 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fin ← false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end if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 ← h + 1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 while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while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B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IMPLEMENTADOS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Improvement (FI)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33856"/>
            <a:ext cx="548640" cy="50292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3977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84048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719072"/>
            <a:ext cx="3657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 el PRIMER vecino que mejore y reinicia exploración.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recorre todo el vecindario antes de moverse.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 ← solución inicial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mientras exista mejora: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2a. fin ← true, h ←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2b. Para cada vecino h mientras fin = true: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si f(h) &lt; f(B): B ← h, fin ← false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3DA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(break → reinicia desde el principio)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3: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retornar B (óptimo local)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más iteraciones en el mismo tiempo — efectivo en instancias grandes.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07408" y="1298448"/>
            <a:ext cx="4480560" cy="3611880"/>
          </a:xfrm>
          <a:prstGeom prst="rect">
            <a:avLst/>
          </a:prstGeom>
          <a:solidFill>
            <a:srgbClr val="172B1E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07408" y="1298448"/>
            <a:ext cx="4480560" cy="292608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17136" y="12984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 — First Improvement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1645920"/>
            <a:ext cx="420624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← InitialSolution()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 ← false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fin = false do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 ← true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   ←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h &lt;= |Neighbors| and fin = true do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 ← Move(B, h)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f(P) &lt; f(B) then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   ← 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fin ← false   // reinicia exploración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end if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 ← h + 1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 while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while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B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VECINDARIOS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 — Swap(i) : Intercambio de adyacentes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33856"/>
            <a:ext cx="548640" cy="50292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4709160" cy="594360"/>
          </a:xfrm>
          <a:prstGeom prst="rect">
            <a:avLst/>
          </a:prstGeom>
          <a:solidFill>
            <a:srgbClr val="E8F5ED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7" name="Text 5"/>
          <p:cNvSpPr/>
          <p:nvPr/>
        </p:nvSpPr>
        <p:spPr>
          <a:xfrm>
            <a:off x="411480" y="13441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cambio: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5910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200" dirty="0"/>
              <a:t>Intercambiar s[i] con s[i+1], para i = 0, 1, …, n−2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20299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Swap(2) sobre  [A, B, C, D, E] :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2340864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4747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07592" y="2340864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30759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267712" y="2340864"/>
            <a:ext cx="777240" cy="594360"/>
          </a:xfrm>
          <a:prstGeom prst="rect">
            <a:avLst/>
          </a:prstGeom>
          <a:solidFill>
            <a:srgbClr val="3DAA6B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226771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227832" y="2340864"/>
            <a:ext cx="777240" cy="594360"/>
          </a:xfrm>
          <a:prstGeom prst="rect">
            <a:avLst/>
          </a:prstGeom>
          <a:solidFill>
            <a:srgbClr val="3DAA6B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22783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187952" y="2340864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18795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20040" y="30175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posición 2 ↔ posición 3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" y="3291840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4747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307592" y="3291840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130759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2267712" y="3291840"/>
            <a:ext cx="777240" cy="594360"/>
          </a:xfrm>
          <a:prstGeom prst="rect">
            <a:avLst/>
          </a:prstGeom>
          <a:solidFill>
            <a:srgbClr val="3DAA6B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226771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227832" y="3291840"/>
            <a:ext cx="777240" cy="594360"/>
          </a:xfrm>
          <a:prstGeom prst="rect">
            <a:avLst/>
          </a:prstGeom>
          <a:solidFill>
            <a:srgbClr val="3DAA6B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322783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187952" y="3291840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18795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486400" y="2249424"/>
            <a:ext cx="3383280" cy="1737360"/>
          </a:xfrm>
          <a:prstGeom prst="rect">
            <a:avLst/>
          </a:prstGeom>
          <a:solidFill>
            <a:srgbClr val="E8F5ED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5623560" y="23591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del vecindario: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068312" y="235915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− 1 vecinos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623560" y="27614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modifica: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068312" y="276148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posiciones adyacentes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623560" y="31638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Distinto de Insert: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068312" y="316382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desplaza intermedios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23560" y="35661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Distinto de 2-opt: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68312" y="356616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invierte el bloque</a:t>
            </a:r>
            <a:endParaRPr lang="en-US" sz="850" dirty="0"/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9278E0CF-9335-4A09-638F-64C7F12BEACF}"/>
              </a:ext>
            </a:extLst>
          </p:cNvPr>
          <p:cNvSpPr/>
          <p:nvPr/>
        </p:nvSpPr>
        <p:spPr>
          <a:xfrm>
            <a:off x="274320" y="4343400"/>
            <a:ext cx="8631936" cy="594360"/>
          </a:xfrm>
          <a:prstGeom prst="rect">
            <a:avLst/>
          </a:prstGeom>
          <a:solidFill>
            <a:srgbClr val="E8F5ED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42186529-38A5-52C2-514D-509F96506CA7}"/>
              </a:ext>
            </a:extLst>
          </p:cNvPr>
          <p:cNvSpPr/>
          <p:nvPr/>
        </p:nvSpPr>
        <p:spPr>
          <a:xfrm>
            <a:off x="804672" y="451256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N(s)  =  {  s'  |  s'[i] = s[i+1]  ,  s'[i+1] = s[i]  ,  i ∈ {0, 1, …, n−2}  }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VECINDARIOS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 — Insert(i, j) : Reinserción en ventana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33856"/>
            <a:ext cx="548640" cy="50292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4709160" cy="594360"/>
          </a:xfrm>
          <a:prstGeom prst="rect">
            <a:avLst/>
          </a:prstGeom>
          <a:solidFill>
            <a:srgbClr val="E8F5ED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11480" y="13441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cambio: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55774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1200" dirty="0"/>
              <a:t>Extraer s[i] e insertar en posición j, donde 2 ≤ |i − j| ≤ 3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20299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Insert(1 → posición 4) sobre  [A, B, C, D, E] :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2340864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4747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07592" y="2340864"/>
            <a:ext cx="777240" cy="594360"/>
          </a:xfrm>
          <a:prstGeom prst="rect">
            <a:avLst/>
          </a:prstGeom>
          <a:solidFill>
            <a:srgbClr val="3DAA6B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30759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267712" y="2340864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226771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227832" y="2340864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22783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187952" y="2340864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18795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20040" y="30175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extraer B de pos 1 → lista [A,C,D,E] → insertar B en pos 3  (j_dest = j_orig − 1 = 3)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" y="3291840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4747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307592" y="3291840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130759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2267712" y="3291840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226771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227832" y="3291840"/>
            <a:ext cx="777240" cy="594360"/>
          </a:xfrm>
          <a:prstGeom prst="rect">
            <a:avLst/>
          </a:prstGeom>
          <a:solidFill>
            <a:srgbClr val="3DAA6B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322783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187952" y="3291840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18795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486400" y="2249424"/>
            <a:ext cx="3383280" cy="1737360"/>
          </a:xfrm>
          <a:prstGeom prst="rect">
            <a:avLst/>
          </a:prstGeom>
          <a:solidFill>
            <a:srgbClr val="E8F5ED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5623560" y="23591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068312" y="235915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4·n vecinos (k=3)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623560" y="27614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Excluye j = i±1: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068312" y="276148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solapamiento con Swap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623560" y="31638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Desplaza: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068312" y="316382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trabajos intermedios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23560" y="35661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 k: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68312" y="356616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±3 posiciones</a:t>
            </a:r>
            <a:endParaRPr lang="en-US" sz="850" dirty="0"/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A1C6D662-4FE4-B516-A477-6BF4F9AEC2C6}"/>
              </a:ext>
            </a:extLst>
          </p:cNvPr>
          <p:cNvSpPr/>
          <p:nvPr/>
        </p:nvSpPr>
        <p:spPr>
          <a:xfrm>
            <a:off x="256032" y="4343400"/>
            <a:ext cx="8631936" cy="594360"/>
          </a:xfrm>
          <a:prstGeom prst="rect">
            <a:avLst/>
          </a:prstGeom>
          <a:solidFill>
            <a:srgbClr val="E8F5ED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6">
            <a:extLst>
              <a:ext uri="{FF2B5EF4-FFF2-40B4-BE49-F238E27FC236}">
                <a16:creationId xmlns:a16="http://schemas.microsoft.com/office/drawing/2014/main" id="{EA4D0168-3E80-10A6-7E12-864FF7EDABE1}"/>
              </a:ext>
            </a:extLst>
          </p:cNvPr>
          <p:cNvSpPr/>
          <p:nvPr/>
        </p:nvSpPr>
        <p:spPr>
          <a:xfrm>
            <a:off x="804672" y="451256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N(s)  =  {  s'  |  extraer s[i], insertar en j  :  |i − j| ≥ 2  y  |i − j| ≤ k  ,  k = 3  }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VECINDARIOS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— 2-opt(i, j) : Inversión de segmento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33856"/>
            <a:ext cx="548640" cy="50292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4709160" cy="594360"/>
          </a:xfrm>
          <a:prstGeom prst="rect">
            <a:avLst/>
          </a:prstGeom>
          <a:solidFill>
            <a:srgbClr val="E8F5ED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11480" y="13441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cambio: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5910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1200" dirty="0"/>
              <a:t>Invertir el segmento s[</a:t>
            </a:r>
            <a:r>
              <a:rPr lang="es-MX" sz="1200" dirty="0" err="1"/>
              <a:t>i..j</a:t>
            </a:r>
            <a:r>
              <a:rPr lang="es-MX" sz="1200" dirty="0"/>
              <a:t>], donde 3 ≤ j − i + 1 ≤ 5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20299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2-opt(1, 3) sobre  [A, B, C, D, E]  — segmento de largo 3 :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2340864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4747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07592" y="2340864"/>
            <a:ext cx="777240" cy="594360"/>
          </a:xfrm>
          <a:prstGeom prst="rect">
            <a:avLst/>
          </a:prstGeom>
          <a:solidFill>
            <a:srgbClr val="3DAA6B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30759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267712" y="2340864"/>
            <a:ext cx="777240" cy="594360"/>
          </a:xfrm>
          <a:prstGeom prst="rect">
            <a:avLst/>
          </a:prstGeom>
          <a:solidFill>
            <a:srgbClr val="3DAA6B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226771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227832" y="2340864"/>
            <a:ext cx="777240" cy="594360"/>
          </a:xfrm>
          <a:prstGeom prst="rect">
            <a:avLst/>
          </a:prstGeom>
          <a:solidFill>
            <a:srgbClr val="3DAA6B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22783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187952" y="2340864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187952" y="23408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20040" y="30175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segmento [1..3] = [B, C, D]  →  invertido: [D, C, B]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" y="3291840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4747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307592" y="3291840"/>
            <a:ext cx="777240" cy="594360"/>
          </a:xfrm>
          <a:prstGeom prst="rect">
            <a:avLst/>
          </a:prstGeom>
          <a:solidFill>
            <a:srgbClr val="3DAA6B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130759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2267712" y="3291840"/>
            <a:ext cx="777240" cy="594360"/>
          </a:xfrm>
          <a:prstGeom prst="rect">
            <a:avLst/>
          </a:prstGeom>
          <a:solidFill>
            <a:srgbClr val="3DAA6B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226771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227832" y="3291840"/>
            <a:ext cx="777240" cy="594360"/>
          </a:xfrm>
          <a:prstGeom prst="rect">
            <a:avLst/>
          </a:prstGeom>
          <a:solidFill>
            <a:srgbClr val="3DAA6B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322783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187952" y="3291840"/>
            <a:ext cx="777240" cy="594360"/>
          </a:xfrm>
          <a:prstGeom prst="rect">
            <a:avLst/>
          </a:prstGeom>
          <a:solidFill>
            <a:srgbClr val="A8D8B9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187952" y="32918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486400" y="2249424"/>
            <a:ext cx="3383280" cy="1737360"/>
          </a:xfrm>
          <a:prstGeom prst="rect">
            <a:avLst/>
          </a:prstGeom>
          <a:solidFill>
            <a:srgbClr val="E8F5ED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5623560" y="23591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068312" y="235915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3·n vecinos (L=5, min=3)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623560" y="27614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 mínimo 3: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068312" y="276148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 2 = Swap adyacente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623560" y="31638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Invierte: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068312" y="316382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orden interno del bloque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23560" y="35661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68312" y="356616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min_len=3, max_len=5</a:t>
            </a:r>
            <a:endParaRPr lang="en-US" sz="850" dirty="0"/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B98EEC30-AE05-8993-8FAE-03AB34B49781}"/>
              </a:ext>
            </a:extLst>
          </p:cNvPr>
          <p:cNvSpPr/>
          <p:nvPr/>
        </p:nvSpPr>
        <p:spPr>
          <a:xfrm>
            <a:off x="256032" y="4297680"/>
            <a:ext cx="8631936" cy="594360"/>
          </a:xfrm>
          <a:prstGeom prst="rect">
            <a:avLst/>
          </a:prstGeom>
          <a:solidFill>
            <a:srgbClr val="E8F5ED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6">
            <a:extLst>
              <a:ext uri="{FF2B5EF4-FFF2-40B4-BE49-F238E27FC236}">
                <a16:creationId xmlns:a16="http://schemas.microsoft.com/office/drawing/2014/main" id="{C89ECA51-C1F7-E90C-A07C-1B14323688A0}"/>
              </a:ext>
            </a:extLst>
          </p:cNvPr>
          <p:cNvSpPr/>
          <p:nvPr/>
        </p:nvSpPr>
        <p:spPr>
          <a:xfrm>
            <a:off x="804672" y="44622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N(s)  =  {  s'  |  s'[i..j] = reverse( s[i..j] )  :  3 ≤ j − i + 1 ≤ L  ,  L = 5  }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EJECUCIÓN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del tiempo y optimizaciones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33856"/>
            <a:ext cx="548640" cy="50292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1737360" cy="1005840"/>
          </a:xfrm>
          <a:prstGeom prst="rect">
            <a:avLst/>
          </a:prstGeom>
          <a:solidFill>
            <a:srgbClr val="E8F5ED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56032" y="1344168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3,600 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56032" y="1881835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total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hora exacta)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21408" y="1298448"/>
            <a:ext cx="1737360" cy="1005840"/>
          </a:xfrm>
          <a:prstGeom prst="rect">
            <a:avLst/>
          </a:prstGeom>
          <a:solidFill>
            <a:srgbClr val="E8F5ED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121408" y="1344168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121408" y="1881835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procesadas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986784" y="1298448"/>
            <a:ext cx="1737360" cy="1005840"/>
          </a:xfrm>
          <a:prstGeom prst="rect">
            <a:avLst/>
          </a:prstGeom>
          <a:solidFill>
            <a:srgbClr val="E8F5ED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986784" y="1344168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986784" y="1881835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Combinaciones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instancia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852160" y="1298448"/>
            <a:ext cx="1737360" cy="1005840"/>
          </a:xfrm>
          <a:prstGeom prst="rect">
            <a:avLst/>
          </a:prstGeom>
          <a:solidFill>
            <a:srgbClr val="E8F5ED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852160" y="1344168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852160" y="1881835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totales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 s c/u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450592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56032" y="2450592"/>
            <a:ext cx="64008" cy="2423160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02336" y="25420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proporcional a n×m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2336" y="2852928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 grandes (j1000_m1000) reciben 1,605 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 pequeñas (ft06, n=6) reciben 0.1 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Fórmula: t_i = 3600 × (n_i × m_i) / Σ(n_j × m_j)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absolutos → run dura exactamente 1 hora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82112" y="2450592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3182112" y="2450592"/>
            <a:ext cx="64008" cy="24231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328416" y="25420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secuencial con deadlines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28416" y="2852928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combinación tiene un deadline absoluto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 de cuánto tarde la anterior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acumulación de errores de distribución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exactamente 3600 s de reloj real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08192" y="2450592"/>
            <a:ext cx="27889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6108192" y="2450592"/>
            <a:ext cx="64008" cy="2423160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254496" y="2542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Caché de evaluaciones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54496" y="2852928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Diccionario {tuple(secuencia): Z}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recalcular la FO para secuencias ya vistas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80,000 entradas para controlar memoria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Especialmente útil en instancias pequeñas con muchos reinicios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INICIAL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Inicial — Noise Method (r = 0.5, nsol = 1)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33856"/>
            <a:ext cx="548640" cy="50292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3977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84048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con Ruido (Noising Method)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71907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mecanismo que el Trabajo 1, pero como punto de partida.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 perturbación: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" y="2450592"/>
            <a:ext cx="3794760" cy="475488"/>
          </a:xfrm>
          <a:prstGeom prst="rect">
            <a:avLst/>
          </a:prstGeom>
          <a:solidFill>
            <a:srgbClr val="172B1E"/>
          </a:solidFill>
          <a:ln w="12700">
            <a:solidFill>
              <a:srgbClr val="172B1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11480" y="24871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C_j* = C_j × ( 1 + r × U(-1, 1) 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4048" y="299008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0.5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ruido de ±50% sobre C_j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nsol = 1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una sola construcción (mismo costo que Greedy)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Noise es la MISMA para las 6 combinaciones de cada instancia. Así, las diferencias en el resultado final reflejan solo la efectividad del vecindario y el criterio, no el punto de partida.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07408" y="1298448"/>
            <a:ext cx="4480560" cy="3611880"/>
          </a:xfrm>
          <a:prstGeom prst="rect">
            <a:avLst/>
          </a:prstGeom>
          <a:solidFill>
            <a:srgbClr val="172B1E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407408" y="1298448"/>
            <a:ext cx="4480560" cy="292608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517136" y="12984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el Constructivo Greedy?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1645920"/>
            <a:ext cx="420624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Greedy minimiza C_j en cada paso: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Produce solución cercana al óptimo local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de los vecindarios definidos.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 Greedy como inicio: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swap-BI:    mejora ≈ 0–1%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insert-BI:  mejora ≈ 0–1%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2opt-BI:    mejora ≈ 0%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 Noise(r=0.5) como inicio: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swap-BI:    mejora ≈ 5–17%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insert-FI:  mejora ≈ 12–22%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2opt-BI:    mejora ≈ 14–21%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Noise permite observar y comparar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 capacidad real de cada método.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COMPARACIÓN CON CONSTRUCTIVO GREEDY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31172"/>
            <a:ext cx="8503920" cy="4241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  <a:r>
              <a:rPr lang="en-US" sz="28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Local vs </a:t>
            </a:r>
            <a:r>
              <a:rPr lang="en-US" sz="2800" b="1" dirty="0" err="1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Constructivo</a:t>
            </a:r>
            <a:r>
              <a:rPr lang="en-US" sz="28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Greedy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32156"/>
            <a:ext cx="548640" cy="50292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491143"/>
              </p:ext>
            </p:extLst>
          </p:nvPr>
        </p:nvGraphicFramePr>
        <p:xfrm>
          <a:off x="256032" y="1095490"/>
          <a:ext cx="8631936" cy="36652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 BL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Mejora BL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Greedy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ganador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74.52%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insert-FI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ft06r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74.56%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63.96%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swap-BI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87.76%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swap-BI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ft10r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175.58%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131.85%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insert-BI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56.66%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55.54%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insert-BI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ft20r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66.06%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64.36%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insert-BI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j1000_m1000_1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42,362.46%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42,362.46%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564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j1000_m1000_1r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39,741.62%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39,741.62%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564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j1000_m100_1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5,909.71%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5,909.71%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564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j1000_m100_1r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6,011.24%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6,011.24%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564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j1000_m10_1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231.87%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231.80%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swap-FI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j1000_m10_1r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233.25%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233.18%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swap-FI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j100_m100_1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3,249.46%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3,249.31%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564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j100_m100_1r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3,065.45%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2,974.92%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swap-BI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3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 (14 instancias)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56032" y="4873752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COMPARACIÓN ENTRE MÉTODOS DE BÚSQUEDA LOCAL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% vs Noise — instancias pequeñas y </a:t>
            </a:r>
            <a:r>
              <a:rPr lang="en-US" sz="3000" b="1" dirty="0" err="1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medianas</a:t>
            </a:r>
            <a:r>
              <a:rPr lang="en-US" sz="30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33856"/>
            <a:ext cx="548640" cy="50292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403823"/>
              </p:ext>
            </p:extLst>
          </p:nvPr>
        </p:nvGraphicFramePr>
        <p:xfrm>
          <a:off x="256032" y="1444752"/>
          <a:ext cx="8229600" cy="35204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3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swap-BI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swap-FI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insert-BI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insert-FI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2opt-BI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2opt-FI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ft06r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ft10r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ft20r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j10_m10_1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j10_m10_1r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j100_m10_1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j100_m10_1r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3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 inst. 1–10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3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3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3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3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3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COMPARACIÓN ENTRE MÉTODOS DE BÚSQUEDA LOCAL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% vs Noise — instancias </a:t>
            </a:r>
            <a:r>
              <a:rPr lang="en-US" sz="3000" b="1" dirty="0" err="1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</a:t>
            </a:r>
            <a:r>
              <a:rPr lang="en-US" sz="30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33856"/>
            <a:ext cx="548640" cy="50292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176183"/>
              </p:ext>
            </p:extLst>
          </p:nvPr>
        </p:nvGraphicFramePr>
        <p:xfrm>
          <a:off x="256032" y="1444752"/>
          <a:ext cx="8229600" cy="31089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swap-BI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swap-FI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insert-BI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insert-FI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2opt-BI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2opt-FI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j100_m100_1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j100_m100_1r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j1000_m10_1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j1000_m10_1r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j1000_m100_1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j1000_m100_1r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j1000_m1000_1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j1000_m1000_1r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3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 inst. 11–18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3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6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3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3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3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3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5627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cómputo por instancia (ms)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551454"/>
            <a:ext cx="548640" cy="50292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839188"/>
              </p:ext>
            </p:extLst>
          </p:nvPr>
        </p:nvGraphicFramePr>
        <p:xfrm>
          <a:off x="210312" y="759186"/>
          <a:ext cx="8778240" cy="22555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Instancia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swap-BI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swap-FI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ins-BI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ins-FI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2opt-BI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2opt-FI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Parada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ft06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ft06r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ft10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ft10r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ft20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DL/ÓL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ft20r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j10_m10_1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j10_m10_1r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j100_m10_1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269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183016"/>
              </p:ext>
            </p:extLst>
          </p:nvPr>
        </p:nvGraphicFramePr>
        <p:xfrm>
          <a:off x="210312" y="3014706"/>
          <a:ext cx="8778240" cy="202996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j100_m10_1r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j100_m100_1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2,644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j100_m100_1r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2,606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2,676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j1000_m10_1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2,279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DL/ÓL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j1000_m10_1r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2,285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DL/ÓL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j1000_m100_1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24,338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26,736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26,747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26,740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26,741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26,737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DL/ÓL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j1000_m100_1r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22,609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26,737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26,764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26,710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26,747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26,744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DL/ÓL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j1000_m1000_1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224,096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267,230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267,644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267,222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267,390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267,413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DL/ÓL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j1000_m1000_1r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224,277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267,283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267,451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267,415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267,518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267,291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DL/ÓL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principales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56032" y="1456182"/>
            <a:ext cx="4315968" cy="1115568"/>
          </a:xfrm>
          <a:prstGeom prst="rect">
            <a:avLst/>
          </a:prstGeom>
          <a:solidFill>
            <a:srgbClr val="1E4030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5" name="Shape 3"/>
          <p:cNvSpPr/>
          <p:nvPr/>
        </p:nvSpPr>
        <p:spPr>
          <a:xfrm>
            <a:off x="256032" y="1456182"/>
            <a:ext cx="475488" cy="11155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56032" y="1456182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56591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Insert-BI es el vecindario más efectivo en instancias pequeñas (≤ n=20): promedio de 14.66% de mejora en las 10 primeras instancias. Su capacidad de reubicar trabajos a ≥ 2 posiciones de distancia lo hace más expresivo que Swap.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36592" y="1456182"/>
            <a:ext cx="4315968" cy="1115568"/>
          </a:xfrm>
          <a:prstGeom prst="rect">
            <a:avLst/>
          </a:prstGeom>
          <a:solidFill>
            <a:srgbClr val="1E4030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4736592" y="1456182"/>
            <a:ext cx="475488" cy="11155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736592" y="1456182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03520" y="156591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Swap-FI domina en instancias grandes (n=1000): promedio 1.26% vs 0.67–1.11% de los demás. El vecindario de n−1 vecinos combinado con First Improvement maximiza las iteraciones posibles cuando el tiempo es el limitante.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2663190"/>
            <a:ext cx="4315968" cy="1115568"/>
          </a:xfrm>
          <a:prstGeom prst="rect">
            <a:avLst/>
          </a:prstGeom>
          <a:solidFill>
            <a:srgbClr val="1E4030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256032" y="2663190"/>
            <a:ext cx="475488" cy="11155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56032" y="2663190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960" y="277291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Improvement supera a Best Improvement en instancias grandes (limitadas por deadline): más iteraciones por segundo compensan la menor calidad del movimiento individual. En instancias pequeñas la diferencia es marginal.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36592" y="2663190"/>
            <a:ext cx="4315968" cy="1115568"/>
          </a:xfrm>
          <a:prstGeom prst="rect">
            <a:avLst/>
          </a:prstGeom>
          <a:solidFill>
            <a:srgbClr val="1E4030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736592" y="2663190"/>
            <a:ext cx="475488" cy="11155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736592" y="2663190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03520" y="277291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j1000_m1000, la FO cuesta ~250 ms/evaluación; con ~267 s por combo solo caben ~1,000 evaluaciones, suficientes para 1–28 iteraciones. Esto limita las mejoras posibles independientemente del vecindario elegido.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ortada T3">
    <p:bg>
      <p:bgPr>
        <a:solidFill>
          <a:srgbClr val="1A3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eenBar"/>
          <p:cNvSpPr/>
          <p:nvPr/>
        </p:nvSpPr>
        <p:spPr>
          <a:xfrm>
            <a:off x="0" y="1200000"/>
            <a:ext cx="9144000" cy="12700"/>
          </a:xfrm>
          <a:prstGeom prst="rect">
            <a:avLst/>
          </a:prstGeom>
          <a:solidFill>
            <a:srgbClr val="4CAF6F"/>
          </a:solidFill>
        </p:spPr>
        <p:txBody>
          <a:bodyPr/>
          <a:lstStyle/>
          <a:p>
            <a:endParaRPr lang="es-CO"/>
          </a:p>
        </p:txBody>
      </p:sp>
      <p:sp>
        <p:nvSpPr>
          <p:cNvPr id="3" name="MainTitle"/>
          <p:cNvSpPr/>
          <p:nvPr/>
        </p:nvSpPr>
        <p:spPr>
          <a:xfrm>
            <a:off x="456000" y="1300000"/>
            <a:ext cx="8232000" cy="7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s-CO" sz="5200" b="1" dirty="0">
                <a:solidFill>
                  <a:srgbClr val="FFFFFF"/>
                </a:solidFill>
                <a:latin typeface="Calibri" pitchFamily="34" charset="0"/>
              </a:rPr>
              <a:t>Metaheurísticos</a:t>
            </a:r>
          </a:p>
        </p:txBody>
      </p:sp>
      <p:sp>
        <p:nvSpPr>
          <p:cNvPr id="4" name="Sub1"/>
          <p:cNvSpPr/>
          <p:nvPr/>
        </p:nvSpPr>
        <p:spPr>
          <a:xfrm>
            <a:off x="456000" y="2050000"/>
            <a:ext cx="8232000" cy="3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s-CO" sz="1800" b="0" dirty="0">
                <a:solidFill>
                  <a:srgbClr val="A8D8B9"/>
                </a:solidFill>
                <a:latin typeface="Calibri" pitchFamily="34" charset="0"/>
              </a:rPr>
              <a:t>Heurística — Trabajo 3 · VND + ILS</a:t>
            </a:r>
          </a:p>
        </p:txBody>
      </p:sp>
      <p:sp>
        <p:nvSpPr>
          <p:cNvPr id="5" name="Author"/>
          <p:cNvSpPr/>
          <p:nvPr/>
        </p:nvSpPr>
        <p:spPr>
          <a:xfrm>
            <a:off x="456000" y="2500000"/>
            <a:ext cx="8232000" cy="3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s-CO" sz="1400" b="0" dirty="0">
                <a:solidFill>
                  <a:srgbClr val="A8D8B9"/>
                </a:solidFill>
                <a:latin typeface="Calibri" pitchFamily="34" charset="0"/>
              </a:rPr>
              <a:t>Nicolás Peña · Universidad EAFIT ·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ND Descripcion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A3020"/>
          </a:solidFill>
        </p:spPr>
        <p:txBody>
          <a:bodyPr/>
          <a:lstStyle/>
          <a:p>
            <a:endParaRPr lang="es-CO"/>
          </a:p>
        </p:txBody>
      </p:sp>
      <p:sp>
        <p:nvSpPr>
          <p:cNvPr id="3" name="HeaderText"/>
          <p:cNvSpPr/>
          <p:nvPr/>
        </p:nvSpPr>
        <p:spPr>
          <a:xfrm>
            <a:off x="320040" y="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D8B9"/>
                </a:solidFill>
                <a:latin typeface="Calibri" pitchFamily="34" charset="0"/>
              </a:rPr>
              <a:t>ALGORITMOS IMPLEMENTADOS</a:t>
            </a:r>
          </a:p>
        </p:txBody>
      </p:sp>
      <p:sp>
        <p:nvSpPr>
          <p:cNvPr id="4" name="Title"/>
          <p:cNvSpPr/>
          <p:nvPr/>
        </p:nvSpPr>
        <p:spPr>
          <a:xfrm>
            <a:off x="320040" y="431172"/>
            <a:ext cx="8503920" cy="5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CO" sz="3200" b="1" dirty="0">
                <a:solidFill>
                  <a:srgbClr val="1A2520"/>
                </a:solidFill>
                <a:latin typeface="Calibri" pitchFamily="34" charset="0"/>
              </a:rPr>
              <a:t>VND — Variable Neighborhood Descent</a:t>
            </a:r>
          </a:p>
        </p:txBody>
      </p:sp>
      <p:sp>
        <p:nvSpPr>
          <p:cNvPr id="5" name="TextBox5"/>
          <p:cNvSpPr/>
          <p:nvPr/>
        </p:nvSpPr>
        <p:spPr>
          <a:xfrm>
            <a:off x="320040" y="980000"/>
            <a:ext cx="4000000" cy="3800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s-CO" sz="1300" b="1" dirty="0">
                <a:solidFill>
                  <a:srgbClr val="1E6B3C"/>
                </a:solidFill>
                <a:latin typeface="Calibri" pitchFamily="34" charset="0"/>
              </a:rPr>
              <a:t>Definición</a:t>
            </a:r>
          </a:p>
          <a:p>
            <a:pPr marL="0" indent="0">
              <a:buNone/>
            </a:pPr>
            <a:r>
              <a:rPr lang="es-CO" sz="1100" b="0" dirty="0">
                <a:solidFill>
                  <a:srgbClr val="2C3E2D"/>
                </a:solidFill>
                <a:latin typeface="Calibri" pitchFamily="34" charset="0"/>
              </a:rPr>
              <a:t>Explota el hecho de que un óptimo local para N₁ no</a:t>
            </a:r>
          </a:p>
          <a:p>
            <a:pPr marL="0" indent="0">
              <a:buNone/>
            </a:pPr>
            <a:r>
              <a:rPr lang="es-CO" sz="1100" b="0" dirty="0">
                <a:solidFill>
                  <a:srgbClr val="2C3E2D"/>
                </a:solidFill>
                <a:latin typeface="Calibri" pitchFamily="34" charset="0"/>
              </a:rPr>
              <a:t>necesariamente lo es para N₂ o N₃.</a:t>
            </a:r>
          </a:p>
          <a:p>
            <a:pPr marL="0" indent="0">
              <a:buNone/>
            </a:pPr>
            <a:endParaRPr lang="es-CO" sz="1100" b="0" dirty="0">
              <a:solidFill>
                <a:srgbClr val="2C3E2D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s-CO" sz="1300" b="1" dirty="0">
                <a:solidFill>
                  <a:srgbClr val="1E6B3C"/>
                </a:solidFill>
                <a:latin typeface="Calibri" pitchFamily="34" charset="0"/>
              </a:rPr>
              <a:t>Vecindarios (en orden)</a:t>
            </a:r>
          </a:p>
          <a:p>
            <a:pPr marL="0" indent="0">
              <a:buNone/>
            </a:pPr>
            <a:r>
              <a:rPr lang="es-CO" sz="1100" b="0" dirty="0">
                <a:solidFill>
                  <a:srgbClr val="2C3E2D"/>
                </a:solidFill>
                <a:latin typeface="Calibri" pitchFamily="34" charset="0"/>
              </a:rPr>
              <a:t>N₁  swap        Intercambio de posiciones adyacentes</a:t>
            </a:r>
          </a:p>
          <a:p>
            <a:pPr marL="0" indent="0">
              <a:buNone/>
            </a:pPr>
            <a:r>
              <a:rPr lang="es-CO" sz="1100" b="0" dirty="0">
                <a:solidFill>
                  <a:srgbClr val="2C3E2D"/>
                </a:solidFill>
                <a:latin typeface="Calibri" pitchFamily="34" charset="0"/>
              </a:rPr>
              <a:t>N₂  insert     Reinserción en ventana k = 3</a:t>
            </a:r>
          </a:p>
          <a:p>
            <a:pPr marL="0" indent="0">
              <a:buNone/>
            </a:pPr>
            <a:r>
              <a:rPr lang="es-CO" sz="1100" b="0" dirty="0">
                <a:solidFill>
                  <a:srgbClr val="2C3E2D"/>
                </a:solidFill>
                <a:latin typeface="Calibri" pitchFamily="34" charset="0"/>
              </a:rPr>
              <a:t>N₃  2-opt     Inversión de segmento longitud = 3</a:t>
            </a:r>
          </a:p>
          <a:p>
            <a:pPr marL="0" indent="0">
              <a:buNone/>
            </a:pPr>
            <a:endParaRPr lang="es-CO" sz="1100" b="0" dirty="0">
              <a:solidFill>
                <a:srgbClr val="2C3E2D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s-CO" sz="1300" b="1" dirty="0">
                <a:solidFill>
                  <a:srgbClr val="1E6B3C"/>
                </a:solidFill>
                <a:latin typeface="Calibri" pitchFamily="34" charset="0"/>
              </a:rPr>
              <a:t>Criterio de exploración</a:t>
            </a:r>
          </a:p>
          <a:p>
            <a:pPr marL="0" indent="0">
              <a:buNone/>
            </a:pPr>
            <a:r>
              <a:rPr lang="es-CO" sz="1100" b="0" dirty="0">
                <a:solidFill>
                  <a:srgbClr val="2C3E2D"/>
                </a:solidFill>
                <a:latin typeface="Calibri" pitchFamily="34" charset="0"/>
              </a:rPr>
              <a:t>First Improvement (FI) en los 3 vecindarios.</a:t>
            </a:r>
          </a:p>
          <a:p>
            <a:pPr marL="0" indent="0">
              <a:buNone/>
            </a:pPr>
            <a:r>
              <a:rPr lang="es-CO" sz="1100" b="0" dirty="0">
                <a:solidFill>
                  <a:srgbClr val="2C3E2D"/>
                </a:solidFill>
                <a:latin typeface="Calibri" pitchFamily="34" charset="0"/>
              </a:rPr>
              <a:t>Justificación: resultados del Trabajo 2 muestran</a:t>
            </a:r>
          </a:p>
          <a:p>
            <a:pPr marL="0" indent="0">
              <a:buNone/>
            </a:pPr>
            <a:r>
              <a:rPr lang="es-CO" sz="1100" b="0" dirty="0">
                <a:solidFill>
                  <a:srgbClr val="2C3E2D"/>
                </a:solidFill>
                <a:latin typeface="Calibri" pitchFamily="34" charset="0"/>
              </a:rPr>
              <a:t>que FI supera a BI en instancias grandes.</a:t>
            </a:r>
          </a:p>
        </p:txBody>
      </p:sp>
      <p:sp>
        <p:nvSpPr>
          <p:cNvPr id="6" name="PseudoBox"/>
          <p:cNvSpPr/>
          <p:nvPr/>
        </p:nvSpPr>
        <p:spPr>
          <a:xfrm>
            <a:off x="4500000" y="980000"/>
            <a:ext cx="4323960" cy="3800000"/>
          </a:xfrm>
          <a:prstGeom prst="rect">
            <a:avLst/>
          </a:prstGeom>
          <a:solidFill>
            <a:srgbClr val="1A3020"/>
          </a:solidFill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A8D8B9"/>
                </a:solidFill>
                <a:latin typeface="Calibri" pitchFamily="34" charset="0"/>
              </a:rPr>
              <a:t>Pseudocódigo VND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FFFFFF"/>
                </a:solidFill>
                <a:latin typeface="Consolas" pitchFamily="49" charset="0"/>
              </a:rPr>
              <a:t>j = 1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FFFFFF"/>
                </a:solidFill>
                <a:latin typeface="Consolas" pitchFamily="49" charset="0"/>
              </a:rPr>
              <a:t>mientras j ≤ 3: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FFFFFF"/>
                </a:solidFill>
                <a:latin typeface="Consolas" pitchFamily="49" charset="0"/>
              </a:rPr>
              <a:t>  s’ = FI(s, N_j)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A8D8B9"/>
                </a:solidFill>
                <a:latin typeface="Consolas" pitchFamily="49" charset="0"/>
              </a:rPr>
              <a:t>  si f(s’) &lt; f(s):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FFFFFF"/>
                </a:solidFill>
                <a:latin typeface="Consolas" pitchFamily="49" charset="0"/>
              </a:rPr>
              <a:t>    s = s’; j = 1  ← volver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A8D8B9"/>
                </a:solidFill>
                <a:latin typeface="Consolas" pitchFamily="49" charset="0"/>
              </a:rPr>
              <a:t>  sino: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FFFFFF"/>
                </a:solidFill>
                <a:latin typeface="Consolas" pitchFamily="49" charset="0"/>
              </a:rPr>
              <a:t>    j = j + 1  ← avanzar</a:t>
            </a:r>
          </a:p>
          <a:p>
            <a:pPr marL="0" indent="0">
              <a:buNone/>
            </a:pPr>
            <a:r>
              <a:rPr lang="en-US" sz="950" b="0" dirty="0" err="1">
                <a:solidFill>
                  <a:srgbClr val="FFFFFF"/>
                </a:solidFill>
                <a:latin typeface="Consolas" pitchFamily="49" charset="0"/>
              </a:rPr>
              <a:t>retornar</a:t>
            </a:r>
            <a:r>
              <a:rPr lang="en-US" sz="950" b="0" dirty="0">
                <a:solidFill>
                  <a:srgbClr val="FFFFFF"/>
                </a:solidFill>
                <a:latin typeface="Consolas" pitchFamily="49" charset="0"/>
              </a:rPr>
              <a:t> 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LS Descripcion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A3020"/>
          </a:solidFill>
        </p:spPr>
        <p:txBody>
          <a:bodyPr/>
          <a:lstStyle/>
          <a:p>
            <a:endParaRPr lang="es-CO"/>
          </a:p>
        </p:txBody>
      </p:sp>
      <p:sp>
        <p:nvSpPr>
          <p:cNvPr id="3" name="HeaderText"/>
          <p:cNvSpPr/>
          <p:nvPr/>
        </p:nvSpPr>
        <p:spPr>
          <a:xfrm>
            <a:off x="320040" y="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D8B9"/>
                </a:solidFill>
                <a:latin typeface="Calibri" pitchFamily="34" charset="0"/>
              </a:rPr>
              <a:t>ALGORITMOS IMPLEMENTADOS</a:t>
            </a:r>
          </a:p>
        </p:txBody>
      </p:sp>
      <p:sp>
        <p:nvSpPr>
          <p:cNvPr id="4" name="Title"/>
          <p:cNvSpPr/>
          <p:nvPr/>
        </p:nvSpPr>
        <p:spPr>
          <a:xfrm>
            <a:off x="320040" y="431172"/>
            <a:ext cx="8503920" cy="5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CO" sz="3200" b="1" dirty="0">
                <a:solidFill>
                  <a:srgbClr val="1A2520"/>
                </a:solidFill>
                <a:latin typeface="Calibri" pitchFamily="34" charset="0"/>
              </a:rPr>
              <a:t>ILS — Iterated Local Search</a:t>
            </a:r>
          </a:p>
        </p:txBody>
      </p:sp>
      <p:sp>
        <p:nvSpPr>
          <p:cNvPr id="5" name="TextBox5"/>
          <p:cNvSpPr/>
          <p:nvPr/>
        </p:nvSpPr>
        <p:spPr>
          <a:xfrm>
            <a:off x="320040" y="980000"/>
            <a:ext cx="4000000" cy="3800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s-CO" sz="1300" b="1" dirty="0">
                <a:solidFill>
                  <a:srgbClr val="1E6B3C"/>
                </a:solidFill>
                <a:latin typeface="Calibri" pitchFamily="34" charset="0"/>
              </a:rPr>
              <a:t>Estructura del ILS</a:t>
            </a:r>
          </a:p>
          <a:p>
            <a:pPr marL="0" indent="0">
              <a:buNone/>
            </a:pPr>
            <a:r>
              <a:rPr lang="es-CO" sz="1100" b="0" dirty="0">
                <a:solidFill>
                  <a:srgbClr val="2C3E2D"/>
                </a:solidFill>
                <a:latin typeface="Calibri" pitchFamily="34" charset="0"/>
              </a:rPr>
              <a:t>Arranca desde el óptimo local del VND.</a:t>
            </a:r>
          </a:p>
          <a:p>
            <a:pPr marL="0" indent="0">
              <a:buNone/>
            </a:pPr>
            <a:r>
              <a:rPr lang="es-CO" sz="1100" b="0" dirty="0">
                <a:solidFill>
                  <a:srgbClr val="2C3E2D"/>
                </a:solidFill>
                <a:latin typeface="Calibri" pitchFamily="34" charset="0"/>
              </a:rPr>
              <a:t>Perturba iterativamente para escapar del mínimo.</a:t>
            </a:r>
          </a:p>
          <a:p>
            <a:pPr marL="0" indent="0">
              <a:buNone/>
            </a:pPr>
            <a:endParaRPr lang="es-CO" sz="1100" b="0" dirty="0">
              <a:solidFill>
                <a:srgbClr val="2C3E2D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s-CO" sz="1300" b="1" dirty="0">
                <a:solidFill>
                  <a:srgbClr val="1E6B3C"/>
                </a:solidFill>
                <a:latin typeface="Calibri" pitchFamily="34" charset="0"/>
              </a:rPr>
              <a:t>3 elementos del listado cumplidos</a:t>
            </a:r>
          </a:p>
          <a:p>
            <a:pPr marL="0" indent="0">
              <a:buNone/>
            </a:pPr>
            <a:r>
              <a:rPr lang="es-CO" sz="1100" b="0" dirty="0">
                <a:solidFill>
                  <a:srgbClr val="2C3E2D"/>
                </a:solidFill>
                <a:latin typeface="Calibri" pitchFamily="34" charset="0"/>
              </a:rPr>
              <a:t>✓  Perturbación / mutación (ILS)</a:t>
            </a:r>
          </a:p>
          <a:p>
            <a:pPr marL="0" indent="0">
              <a:buNone/>
            </a:pPr>
            <a:r>
              <a:rPr lang="es-CO" sz="1000" b="0" dirty="0">
                <a:solidFill>
                  <a:srgbClr val="2C3E2D"/>
                </a:solidFill>
                <a:latin typeface="Calibri" pitchFamily="34" charset="0"/>
              </a:rPr>
              <a:t>   k-reinsert aleatorio, orden superior a la BL</a:t>
            </a:r>
          </a:p>
          <a:p>
            <a:pPr marL="0" indent="0">
              <a:buNone/>
            </a:pPr>
            <a:r>
              <a:rPr lang="es-CO" sz="1100" b="0" dirty="0">
                <a:solidFill>
                  <a:srgbClr val="2C3E2D"/>
                </a:solidFill>
                <a:latin typeface="Calibri" pitchFamily="34" charset="0"/>
              </a:rPr>
              <a:t>✓  Múltiples soluciones iniciales</a:t>
            </a:r>
          </a:p>
          <a:p>
            <a:pPr marL="0" indent="0">
              <a:buNone/>
            </a:pPr>
            <a:r>
              <a:rPr lang="es-CO" sz="1000" b="0" dirty="0">
                <a:solidFill>
                  <a:srgbClr val="2C3E2D"/>
                </a:solidFill>
                <a:latin typeface="Calibri" pitchFamily="34" charset="0"/>
              </a:rPr>
              <a:t>   Cada perturbación explora una nueva región</a:t>
            </a:r>
          </a:p>
          <a:p>
            <a:pPr marL="0" indent="0">
              <a:buNone/>
            </a:pPr>
            <a:r>
              <a:rPr lang="es-CO" sz="1100" b="0" dirty="0">
                <a:solidFill>
                  <a:srgbClr val="2C3E2D"/>
                </a:solidFill>
                <a:latin typeface="Calibri" pitchFamily="34" charset="0"/>
              </a:rPr>
              <a:t>✓  Aceptación probabilística (SA)</a:t>
            </a:r>
          </a:p>
          <a:p>
            <a:pPr marL="0" indent="0">
              <a:buNone/>
            </a:pPr>
            <a:r>
              <a:rPr lang="es-CO" sz="1000" b="0" dirty="0">
                <a:solidFill>
                  <a:srgbClr val="2C3E2D"/>
                </a:solidFill>
                <a:latin typeface="Calibri" pitchFamily="34" charset="0"/>
              </a:rPr>
              <a:t>   exp(-delta/T) con enfriamiento lineal</a:t>
            </a:r>
          </a:p>
          <a:p>
            <a:pPr marL="0" indent="0">
              <a:buNone/>
            </a:pPr>
            <a:endParaRPr lang="es-CO" sz="1000" b="0" dirty="0">
              <a:solidFill>
                <a:srgbClr val="2C3E2D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s-CO" sz="1300" b="1" dirty="0">
                <a:solidFill>
                  <a:srgbClr val="1E6B3C"/>
                </a:solidFill>
                <a:latin typeface="Calibri" pitchFamily="34" charset="0"/>
              </a:rPr>
              <a:t>Parámetros</a:t>
            </a:r>
          </a:p>
          <a:p>
            <a:pPr marL="0" indent="0">
              <a:buNone/>
            </a:pPr>
            <a:r>
              <a:rPr lang="es-CO" sz="1100" b="0" dirty="0">
                <a:solidFill>
                  <a:srgbClr val="2C3E2D"/>
                </a:solidFill>
                <a:latin typeface="Calibri" pitchFamily="34" charset="0"/>
              </a:rPr>
              <a:t>k = 4     trabajos reubicados por perturbación</a:t>
            </a:r>
          </a:p>
          <a:p>
            <a:pPr marL="0" indent="0">
              <a:buNone/>
            </a:pPr>
            <a:r>
              <a:rPr lang="es-CO" sz="1100" b="0" dirty="0">
                <a:solidFill>
                  <a:srgbClr val="2C3E2D"/>
                </a:solidFill>
                <a:latin typeface="Calibri" pitchFamily="34" charset="0"/>
              </a:rPr>
              <a:t>T₀ = 0.02   temperatura inicial SA</a:t>
            </a:r>
          </a:p>
        </p:txBody>
      </p:sp>
      <p:sp>
        <p:nvSpPr>
          <p:cNvPr id="6" name="ILSPseudo"/>
          <p:cNvSpPr/>
          <p:nvPr/>
        </p:nvSpPr>
        <p:spPr>
          <a:xfrm>
            <a:off x="4500000" y="980000"/>
            <a:ext cx="4323960" cy="3800000"/>
          </a:xfrm>
          <a:prstGeom prst="rect">
            <a:avLst/>
          </a:prstGeom>
          <a:solidFill>
            <a:srgbClr val="1A3020"/>
          </a:solidFill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A8D8B9"/>
                </a:solidFill>
                <a:latin typeface="Calibri" pitchFamily="34" charset="0"/>
              </a:rPr>
              <a:t>Pseudocódigo ILS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FFFFFF"/>
                </a:solidFill>
                <a:latin typeface="Consolas" pitchFamily="49" charset="0"/>
              </a:rPr>
              <a:t>s* = VND(s₀)  ← inicio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FFFFFF"/>
                </a:solidFill>
                <a:latin typeface="Consolas" pitchFamily="49" charset="0"/>
              </a:rPr>
              <a:t>mientras tiempo &lt; límite: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A8D8B9"/>
                </a:solidFill>
                <a:latin typeface="Consolas" pitchFamily="49" charset="0"/>
              </a:rPr>
              <a:t>  s’ = perturbar(s*, k)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FFFFFF"/>
                </a:solidFill>
                <a:latin typeface="Consolas" pitchFamily="49" charset="0"/>
              </a:rPr>
              <a:t>  s’’ = VND(s’)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A8D8B9"/>
                </a:solidFill>
                <a:latin typeface="Consolas" pitchFamily="49" charset="0"/>
              </a:rPr>
              <a:t>  si f(s’’) &lt; f(s*): aceptar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A8D8B9"/>
                </a:solidFill>
                <a:latin typeface="Consolas" pitchFamily="49" charset="0"/>
              </a:rPr>
              <a:t>  sino prob SA: aceptar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FFFFFF"/>
                </a:solidFill>
                <a:latin typeface="Consolas" pitchFamily="49" charset="0"/>
              </a:rPr>
              <a:t>retornar s*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rams Pequenas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A3020"/>
          </a:solidFill>
        </p:spPr>
        <p:txBody>
          <a:bodyPr/>
          <a:lstStyle/>
          <a:p>
            <a:endParaRPr lang="es-CO"/>
          </a:p>
        </p:txBody>
      </p:sp>
      <p:sp>
        <p:nvSpPr>
          <p:cNvPr id="3" name="HeaderText"/>
          <p:cNvSpPr/>
          <p:nvPr/>
        </p:nvSpPr>
        <p:spPr>
          <a:xfrm>
            <a:off x="320040" y="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D8B9"/>
                </a:solidFill>
                <a:latin typeface="Calibri" pitchFamily="34" charset="0"/>
              </a:rPr>
              <a:t>COMPARACIÓN DE PARÁMETROS — INSTANCIAS PEQUEÑAS Y MEDIANAS</a:t>
            </a:r>
          </a:p>
        </p:txBody>
      </p:sp>
      <p:sp>
        <p:nvSpPr>
          <p:cNvPr id="4" name="Title"/>
          <p:cNvSpPr/>
          <p:nvPr/>
        </p:nvSpPr>
        <p:spPr>
          <a:xfrm>
            <a:off x="320040" y="431172"/>
            <a:ext cx="8503920" cy="5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CO" sz="2600" b="1" dirty="0">
                <a:solidFill>
                  <a:srgbClr val="1A2520"/>
                </a:solidFill>
                <a:latin typeface="Calibri" pitchFamily="34" charset="0"/>
              </a:rPr>
              <a:t>Mejora % ILS vs VND — Variación de parámetros 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049591"/>
              </p:ext>
            </p:extLst>
          </p:nvPr>
        </p:nvGraphicFramePr>
        <p:xfrm>
          <a:off x="595766" y="1104921"/>
          <a:ext cx="7952467" cy="3710047"/>
        </p:xfrm>
        <a:graphic>
          <a:graphicData uri="http://schemas.openxmlformats.org/drawingml/2006/table">
            <a:tbl>
              <a:tblPr/>
              <a:tblGrid>
                <a:gridCol w="2821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2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26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26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68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2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Instancia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74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BASE k=4,T=.02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74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CONSERVADOR k=2,T=.01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74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AGRESIVO k=6,T=.05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2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Mejor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E6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4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ft06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10.86%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10.86%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10.86%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BASE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4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ft06r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0.00%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0.00%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0.00%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BASE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4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ft10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9.09%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9.09%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9.09%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BASE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4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ft10r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5.47%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5.47%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5.47%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BASE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4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ft20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19.40%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19.40%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17.57%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BASE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4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ft20r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9.21%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9.73%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6.63%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CONS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4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j10_m10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5.86%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5.86%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5.86%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BASE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4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j10_m10r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10.94%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10.94%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10.94%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BASE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4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j100_m10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3.71%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5.88%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0.00%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CONS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4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j100_m10r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4.99%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8.29%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4.56%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CONS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82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2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PROMEDIO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A3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2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7.95%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A3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2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8.55%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A3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2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7.10%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A3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s-CO" sz="820" b="1" dirty="0">
                        <a:solidFill>
                          <a:srgbClr val="A8D8B9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A3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rams Grandes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A3020"/>
          </a:solidFill>
        </p:spPr>
        <p:txBody>
          <a:bodyPr/>
          <a:lstStyle/>
          <a:p>
            <a:endParaRPr lang="es-CO"/>
          </a:p>
        </p:txBody>
      </p:sp>
      <p:sp>
        <p:nvSpPr>
          <p:cNvPr id="3" name="HeaderText"/>
          <p:cNvSpPr/>
          <p:nvPr/>
        </p:nvSpPr>
        <p:spPr>
          <a:xfrm>
            <a:off x="320040" y="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D8B9"/>
                </a:solidFill>
                <a:latin typeface="Calibri" pitchFamily="34" charset="0"/>
              </a:rPr>
              <a:t>COMPARACIÓN DE PARÁMETROS — INSTANCIAS GRANDES</a:t>
            </a:r>
          </a:p>
        </p:txBody>
      </p:sp>
      <p:sp>
        <p:nvSpPr>
          <p:cNvPr id="4" name="Title"/>
          <p:cNvSpPr/>
          <p:nvPr/>
        </p:nvSpPr>
        <p:spPr>
          <a:xfrm>
            <a:off x="320040" y="431172"/>
            <a:ext cx="8503920" cy="5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CO" sz="2600" b="1" dirty="0">
                <a:solidFill>
                  <a:srgbClr val="1A2520"/>
                </a:solidFill>
                <a:latin typeface="Calibri" pitchFamily="34" charset="0"/>
              </a:rPr>
              <a:t>Mejora % ILS vs VND — Variación de parámetros 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644584"/>
              </p:ext>
            </p:extLst>
          </p:nvPr>
        </p:nvGraphicFramePr>
        <p:xfrm>
          <a:off x="494830" y="1097881"/>
          <a:ext cx="8154339" cy="3625298"/>
        </p:xfrm>
        <a:graphic>
          <a:graphicData uri="http://schemas.openxmlformats.org/drawingml/2006/table">
            <a:tbl>
              <a:tblPr/>
              <a:tblGrid>
                <a:gridCol w="289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5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52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52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8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2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Instancia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74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BASE k=4,T=.02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74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CONSERVADOR k=2,T=.01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74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AGRESIVO k=6,T=.05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2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Mejor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E6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j100_m100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0.93%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0.33%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0.00%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BASE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j100_m100r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0.35%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0.58%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0.00%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CONS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j1000_m10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1.28%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1.33%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0.22%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CONS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j1000_m10r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1.36%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1.25%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0.20%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BASE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j1000_m100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0.29%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0.34%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0.19%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CONS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j1000_m100r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0.36%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0.41%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0.12%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CONS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j1000_m1000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0.10%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0.05%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0.02%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BASE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j1000_m1000r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0.16%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0.11%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0.02%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BASE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8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2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PROMEDIO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A3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2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0.60%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A3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2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0.55%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A3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2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0.10%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A3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s-CO" sz="820" b="1" dirty="0">
                        <a:solidFill>
                          <a:srgbClr val="A8D8B9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A3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 Metodos Small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A3020"/>
          </a:solidFill>
        </p:spPr>
        <p:txBody>
          <a:bodyPr/>
          <a:lstStyle/>
          <a:p>
            <a:endParaRPr lang="es-CO"/>
          </a:p>
        </p:txBody>
      </p:sp>
      <p:sp>
        <p:nvSpPr>
          <p:cNvPr id="3" name="HeaderText"/>
          <p:cNvSpPr/>
          <p:nvPr/>
        </p:nvSpPr>
        <p:spPr>
          <a:xfrm>
            <a:off x="320040" y="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D8B9"/>
                </a:solidFill>
                <a:latin typeface="Calibri" pitchFamily="34" charset="0"/>
              </a:rPr>
              <a:t>COMPARACIÓN DE MÉTODOS — INSTANCIAS PEQUEÑAS Y MEDIANAS</a:t>
            </a:r>
          </a:p>
        </p:txBody>
      </p:sp>
      <p:sp>
        <p:nvSpPr>
          <p:cNvPr id="4" name="Title"/>
          <p:cNvSpPr/>
          <p:nvPr/>
        </p:nvSpPr>
        <p:spPr>
          <a:xfrm>
            <a:off x="320040" y="431172"/>
            <a:ext cx="8503920" cy="5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CO" sz="2600" b="1" dirty="0">
                <a:solidFill>
                  <a:srgbClr val="1A2520"/>
                </a:solidFill>
                <a:latin typeface="Calibri" pitchFamily="34" charset="0"/>
              </a:rPr>
              <a:t>Noise vs VND vs ILS — Gap% y Mejora relativa 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41811"/>
              </p:ext>
            </p:extLst>
          </p:nvPr>
        </p:nvGraphicFramePr>
        <p:xfrm>
          <a:off x="256031" y="1080000"/>
          <a:ext cx="8435294" cy="3555370"/>
        </p:xfrm>
        <a:graphic>
          <a:graphicData uri="http://schemas.openxmlformats.org/drawingml/2006/table">
            <a:tbl>
              <a:tblPr/>
              <a:tblGrid>
                <a:gridCol w="2477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61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1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1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77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03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52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2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Instancia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2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Brecha LB% Noise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2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Brecha LB% VND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2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Brecha LB% ILS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78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Mejora VND vs Noise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78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Mejora ILS vs VND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E6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4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ft06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106.2%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88.4%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68.0%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8.61%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10.86%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4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ft06r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84.8%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64.0%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64.0%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11.28%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0.00%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4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ft10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125.5%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103.2%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84.7%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9.88%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9.09%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4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ft10r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154.8%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128.2%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115.7%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10.43%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5.47%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4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ft20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109.2%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76.7%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42.4%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15.54%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19.40%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4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ft20r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137.0%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70.5%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54.8%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28.05%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9.21%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4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j10_m10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213.2%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185.8%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169.0%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8.75%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5.86%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4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j10_m10r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276.6%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217.7%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182.9%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15.64%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10.94%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4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j100_m10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488.4%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403.1%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384.4%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14.50%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3.71%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4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j100_m10r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552.4%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437.5%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410.6%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17.61%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4.99%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52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2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PROMEDIO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A3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s-CO" sz="820" b="1" dirty="0">
                        <a:solidFill>
                          <a:srgbClr val="FFFFFF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A3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s-CO" sz="820" b="1" dirty="0">
                        <a:solidFill>
                          <a:srgbClr val="FFFFFF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A3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s-CO" sz="820" b="1" dirty="0">
                        <a:solidFill>
                          <a:srgbClr val="A8D8B9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A3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20" b="1" dirty="0">
                          <a:solidFill>
                            <a:srgbClr val="A8D8B9"/>
                          </a:solidFill>
                          <a:latin typeface="Calibri" pitchFamily="34" charset="0"/>
                        </a:rPr>
                        <a:t>14.03%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A3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20" b="1" dirty="0">
                          <a:solidFill>
                            <a:srgbClr val="A8D8B9"/>
                          </a:solidFill>
                          <a:latin typeface="Calibri" pitchFamily="34" charset="0"/>
                        </a:rPr>
                        <a:t>7.95%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A3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 Metodos Large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A3020"/>
          </a:solidFill>
        </p:spPr>
        <p:txBody>
          <a:bodyPr/>
          <a:lstStyle/>
          <a:p>
            <a:endParaRPr lang="es-CO"/>
          </a:p>
        </p:txBody>
      </p:sp>
      <p:sp>
        <p:nvSpPr>
          <p:cNvPr id="3" name="HeaderText"/>
          <p:cNvSpPr/>
          <p:nvPr/>
        </p:nvSpPr>
        <p:spPr>
          <a:xfrm>
            <a:off x="320040" y="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A8D8B9"/>
                </a:solidFill>
                <a:latin typeface="Calibri" pitchFamily="34" charset="0"/>
              </a:rPr>
              <a:t>COMPARACIÓN DE MÉTODOS — INSTANCIAS GRANDES</a:t>
            </a:r>
          </a:p>
        </p:txBody>
      </p:sp>
      <p:sp>
        <p:nvSpPr>
          <p:cNvPr id="4" name="Title"/>
          <p:cNvSpPr/>
          <p:nvPr/>
        </p:nvSpPr>
        <p:spPr>
          <a:xfrm>
            <a:off x="320040" y="431172"/>
            <a:ext cx="8503920" cy="5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CO" sz="2600" b="1" dirty="0">
                <a:solidFill>
                  <a:srgbClr val="1A2520"/>
                </a:solidFill>
                <a:latin typeface="Calibri" pitchFamily="34" charset="0"/>
              </a:rPr>
              <a:t>Noise vs VND vs ILS — Gap% y Mejora relativa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225292"/>
              </p:ext>
            </p:extLst>
          </p:nvPr>
        </p:nvGraphicFramePr>
        <p:xfrm>
          <a:off x="256031" y="1079999"/>
          <a:ext cx="8503918" cy="3510110"/>
        </p:xfrm>
        <a:graphic>
          <a:graphicData uri="http://schemas.openxmlformats.org/drawingml/2006/table">
            <a:tbl>
              <a:tblPr/>
              <a:tblGrid>
                <a:gridCol w="2497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0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0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8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1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2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2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Instancia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2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Brecha LB% Noise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2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Brecha LB% VND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2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Brecha LB% ILS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78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Mejora VND vs Noise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78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Mejora ILS vs VND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E6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j100_m100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3866.2%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3591.2%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3557.1%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6.93%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0.93%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j100_m100r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3514.1%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3255.4%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3243.8%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7.16%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0.35%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j1000_m10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566.3%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548.4%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540.1%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2.69%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1.28%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j1000_m10r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572.6%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549.3%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540.5%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3.47%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1.36%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j1000_m100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7553.4%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7474.3%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7452.5%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1.03%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0.29%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j1000_m100r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7726.4%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7641.7%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7613.6%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1.08%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0.36%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j1000_m1000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45853.7%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45697.6%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45653.0%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0.34%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0.10%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j1000_m1000r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42996.0%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42880.8%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42813.2%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0.27%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1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0.16%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2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PROMEDIO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A3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s-CO" sz="820" b="1" dirty="0">
                        <a:solidFill>
                          <a:srgbClr val="FFFFFF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A3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s-CO" sz="820" b="1" dirty="0">
                        <a:solidFill>
                          <a:srgbClr val="FFFFFF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A3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s-CO" sz="820" b="1" dirty="0">
                        <a:solidFill>
                          <a:srgbClr val="A8D8B9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A3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20" b="1" dirty="0">
                          <a:solidFill>
                            <a:srgbClr val="A8D8B9"/>
                          </a:solidFill>
                          <a:latin typeface="Calibri" pitchFamily="34" charset="0"/>
                        </a:rPr>
                        <a:t>2.87%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A3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20" b="1" dirty="0">
                          <a:solidFill>
                            <a:srgbClr val="A8D8B9"/>
                          </a:solidFill>
                          <a:latin typeface="Calibri" pitchFamily="34" charset="0"/>
                        </a:rPr>
                        <a:t>0.60%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A3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empos Small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Text"/>
          <p:cNvSpPr/>
          <p:nvPr/>
        </p:nvSpPr>
        <p:spPr>
          <a:xfrm>
            <a:off x="320040" y="6617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b="1" kern="0" spc="250" dirty="0">
              <a:solidFill>
                <a:srgbClr val="A8D8B9"/>
              </a:solidFill>
              <a:latin typeface="Calibri" pitchFamily="34" charset="0"/>
            </a:endParaRPr>
          </a:p>
        </p:txBody>
      </p:sp>
      <p:sp>
        <p:nvSpPr>
          <p:cNvPr id="4" name="Title"/>
          <p:cNvSpPr/>
          <p:nvPr/>
        </p:nvSpPr>
        <p:spPr>
          <a:xfrm>
            <a:off x="320040" y="66178"/>
            <a:ext cx="8503920" cy="5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CO" sz="2600" b="1" dirty="0">
                <a:solidFill>
                  <a:srgbClr val="1A2520"/>
                </a:solidFill>
                <a:latin typeface="Calibri" pitchFamily="34" charset="0"/>
              </a:rPr>
              <a:t>Tiempos de ejecución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435199"/>
              </p:ext>
            </p:extLst>
          </p:nvPr>
        </p:nvGraphicFramePr>
        <p:xfrm>
          <a:off x="1622000" y="693956"/>
          <a:ext cx="5900000" cy="2393600"/>
        </p:xfrm>
        <a:graphic>
          <a:graphicData uri="http://schemas.openxmlformats.org/drawingml/2006/table">
            <a:tbl>
              <a:tblPr/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2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Instancia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2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n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2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m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76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T usado VND (ms)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76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T usado ILS (ms)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1E6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ft06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6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6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30,000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ft06r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6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6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30,000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ft10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5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30,000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ft10r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5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30,000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ft20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20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5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20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30,000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ft20r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20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5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24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30,000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j10_m10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30,000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j10_m10r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5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30,000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j100_m10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3,760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31,360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j100_m10r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3,680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31,370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1C74A5EA-4AFF-AEBB-A0F3-9F7D02546C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887223"/>
              </p:ext>
            </p:extLst>
          </p:nvPr>
        </p:nvGraphicFramePr>
        <p:xfrm>
          <a:off x="1622000" y="3087556"/>
          <a:ext cx="5900000" cy="1706880"/>
        </p:xfrm>
        <a:graphic>
          <a:graphicData uri="http://schemas.openxmlformats.org/drawingml/2006/table">
            <a:tbl>
              <a:tblPr/>
              <a:tblGrid>
                <a:gridCol w="2200000">
                  <a:extLst>
                    <a:ext uri="{9D8B030D-6E8A-4147-A177-3AD203B41FA5}">
                      <a16:colId xmlns:a16="http://schemas.microsoft.com/office/drawing/2014/main" val="2366116466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2630619542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1137762067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3785368583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295428717"/>
                    </a:ext>
                  </a:extLst>
                </a:gridCol>
              </a:tblGrid>
              <a:tr h="2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j100_m100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100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100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32,800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43,610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228627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j100_m100r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39,310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43,640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094403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j1000_m10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45,080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43,630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83429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j1000_m10r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45,070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43,630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014463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j1000_m100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180,510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166,520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594485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j1000_m100r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180,530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166,520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669527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j1000_m1000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1,535,030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1,395,150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solidFill>
                      <a:srgbClr val="ED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33776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j1000_m1000r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1000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2C3E2D"/>
                          </a:solidFill>
                          <a:latin typeface="Calibri" pitchFamily="34" charset="0"/>
                        </a:rPr>
                        <a:t>1,534,720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 cap="flat" cmpd="sng" algn="ctr">
                      <a:solidFill>
                        <a:srgbClr val="E2E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800" b="0" dirty="0">
                          <a:solidFill>
                            <a:srgbClr val="1E6B3C"/>
                          </a:solidFill>
                          <a:latin typeface="Calibri" pitchFamily="34" charset="0"/>
                        </a:rPr>
                        <a:t>1,394,530</a:t>
                      </a:r>
                    </a:p>
                  </a:txBody>
                  <a:tcPr anchor="ctr">
                    <a:lnL w="5080">
                      <a:solidFill>
                        <a:srgbClr val="E2E8E2"/>
                      </a:solidFill>
                      <a:prstDash val="solid"/>
                    </a:lnL>
                    <a:lnR w="5080">
                      <a:solidFill>
                        <a:srgbClr val="E2E8E2"/>
                      </a:solidFill>
                      <a:prstDash val="solid"/>
                    </a:lnR>
                    <a:lnT w="5080">
                      <a:solidFill>
                        <a:srgbClr val="E2E8E2"/>
                      </a:solidFill>
                      <a:prstDash val="solid"/>
                    </a:lnT>
                    <a:lnB w="5080">
                      <a:solidFill>
                        <a:srgbClr val="E2E8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80446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Label"/>
          <p:cNvSpPr/>
          <p:nvPr/>
        </p:nvSpPr>
        <p:spPr>
          <a:xfrm>
            <a:off x="365760" y="201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 dirty="0">
                <a:ln>
                  <a:noFill/>
                </a:ln>
                <a:solidFill>
                  <a:srgbClr val="A8D8B9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CONCLUSIONES</a:t>
            </a:r>
          </a:p>
        </p:txBody>
      </p:sp>
      <p:sp>
        <p:nvSpPr>
          <p:cNvPr id="3" name="MainTitle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Hallazgos principales</a:t>
            </a:r>
          </a:p>
        </p:txBody>
      </p:sp>
      <p:sp>
        <p:nvSpPr>
          <p:cNvPr id="4" name="Card1Bg"/>
          <p:cNvSpPr/>
          <p:nvPr/>
        </p:nvSpPr>
        <p:spPr>
          <a:xfrm>
            <a:off x="256032" y="1456182"/>
            <a:ext cx="4315968" cy="1115568"/>
          </a:xfrm>
          <a:prstGeom prst="rect">
            <a:avLst/>
          </a:prstGeom>
          <a:solidFill>
            <a:srgbClr val="1E4030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ard1Bar"/>
          <p:cNvSpPr/>
          <p:nvPr/>
        </p:nvSpPr>
        <p:spPr>
          <a:xfrm>
            <a:off x="256032" y="1456182"/>
            <a:ext cx="475488" cy="11155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ard1Num"/>
          <p:cNvSpPr/>
          <p:nvPr/>
        </p:nvSpPr>
        <p:spPr>
          <a:xfrm>
            <a:off x="256032" y="1456182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7" name="Card1Text"/>
          <p:cNvSpPr/>
          <p:nvPr/>
        </p:nvSpPr>
        <p:spPr>
          <a:xfrm>
            <a:off x="822960" y="1565910"/>
            <a:ext cx="3657600" cy="9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0" i="0" u="none" strike="noStrike" kern="1200" cap="none" spc="0" normalizeH="0" baseline="0" noProof="0" dirty="0">
                <a:ln>
                  <a:noFill/>
                </a:ln>
                <a:solidFill>
                  <a:srgbClr val="D4EDDA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El ILS siempre mejora o iguala al VND en todas las instancias. En instancias pequeñas y medianas (n≤100) la mejora promedio del ILS sobre VND es 7.95%, con picos de hasta 19.40% en ft20.</a:t>
            </a:r>
          </a:p>
        </p:txBody>
      </p:sp>
      <p:sp>
        <p:nvSpPr>
          <p:cNvPr id="8" name="Card2Bg"/>
          <p:cNvSpPr/>
          <p:nvPr/>
        </p:nvSpPr>
        <p:spPr>
          <a:xfrm>
            <a:off x="4736592" y="1456182"/>
            <a:ext cx="4315968" cy="1115568"/>
          </a:xfrm>
          <a:prstGeom prst="rect">
            <a:avLst/>
          </a:prstGeom>
          <a:solidFill>
            <a:srgbClr val="1E4030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ard2Bar"/>
          <p:cNvSpPr/>
          <p:nvPr/>
        </p:nvSpPr>
        <p:spPr>
          <a:xfrm>
            <a:off x="4736592" y="1456182"/>
            <a:ext cx="475488" cy="11155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ard2Num"/>
          <p:cNvSpPr/>
          <p:nvPr/>
        </p:nvSpPr>
        <p:spPr>
          <a:xfrm>
            <a:off x="4736592" y="1456182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11" name="Card2Text"/>
          <p:cNvSpPr/>
          <p:nvPr/>
        </p:nvSpPr>
        <p:spPr>
          <a:xfrm>
            <a:off x="5303520" y="1565910"/>
            <a:ext cx="3657600" cy="9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0" i="0" u="none" strike="noStrike" kern="1200" cap="none" spc="0" normalizeH="0" baseline="0" noProof="0" dirty="0">
                <a:ln>
                  <a:noFill/>
                </a:ln>
                <a:solidFill>
                  <a:srgbClr val="D4EDDA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El parámetro conservador (k=2, T=0.01) supera al BASE en instancias medianas: promedio 8.55% vs 7.95% de mejora sobre VND. La perturbación más pequeña permite más iteraciones y mayor exploración local.</a:t>
            </a:r>
          </a:p>
        </p:txBody>
      </p:sp>
      <p:sp>
        <p:nvSpPr>
          <p:cNvPr id="12" name="Card3Bg"/>
          <p:cNvSpPr/>
          <p:nvPr/>
        </p:nvSpPr>
        <p:spPr>
          <a:xfrm>
            <a:off x="256032" y="2700000"/>
            <a:ext cx="4315968" cy="1115568"/>
          </a:xfrm>
          <a:prstGeom prst="rect">
            <a:avLst/>
          </a:prstGeom>
          <a:solidFill>
            <a:srgbClr val="1E4030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ard3Bar"/>
          <p:cNvSpPr/>
          <p:nvPr/>
        </p:nvSpPr>
        <p:spPr>
          <a:xfrm>
            <a:off x="256032" y="2700000"/>
            <a:ext cx="475488" cy="11155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Card3Num"/>
          <p:cNvSpPr/>
          <p:nvPr/>
        </p:nvSpPr>
        <p:spPr>
          <a:xfrm>
            <a:off x="256032" y="2700000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15" name="Card3Text"/>
          <p:cNvSpPr/>
          <p:nvPr/>
        </p:nvSpPr>
        <p:spPr>
          <a:xfrm>
            <a:off x="822960" y="2809728"/>
            <a:ext cx="3657600" cy="9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0" i="0" u="none" strike="noStrike" kern="1200" cap="none" spc="0" normalizeH="0" baseline="0" noProof="0" dirty="0">
                <a:ln>
                  <a:noFill/>
                </a:ln>
                <a:solidFill>
                  <a:srgbClr val="D4EDDA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En instancias grandes (n=1000), el tiempo de convergencia del VND supera el presupuesto disponible, limitando las iteraciones ILS. La mejora promedio cae a 0.60%, mostrando que la escala del problema es el cuello de botella real.</a:t>
            </a:r>
          </a:p>
        </p:txBody>
      </p:sp>
      <p:sp>
        <p:nvSpPr>
          <p:cNvPr id="16" name="Card4Bg"/>
          <p:cNvSpPr/>
          <p:nvPr/>
        </p:nvSpPr>
        <p:spPr>
          <a:xfrm>
            <a:off x="4736592" y="2700000"/>
            <a:ext cx="4315968" cy="1115568"/>
          </a:xfrm>
          <a:prstGeom prst="rect">
            <a:avLst/>
          </a:prstGeom>
          <a:solidFill>
            <a:srgbClr val="1E4030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Card4Bar"/>
          <p:cNvSpPr/>
          <p:nvPr/>
        </p:nvSpPr>
        <p:spPr>
          <a:xfrm>
            <a:off x="4736592" y="2700000"/>
            <a:ext cx="475488" cy="11155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Card4Num"/>
          <p:cNvSpPr/>
          <p:nvPr/>
        </p:nvSpPr>
        <p:spPr>
          <a:xfrm>
            <a:off x="4736592" y="2700000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19" name="Card4Text"/>
          <p:cNvSpPr/>
          <p:nvPr/>
        </p:nvSpPr>
        <p:spPr>
          <a:xfrm>
            <a:off x="5303520" y="2809728"/>
            <a:ext cx="3657600" cy="9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0" i="0" u="none" strike="noStrike" kern="1200" cap="none" spc="0" normalizeH="0" baseline="0" noProof="0" dirty="0">
                <a:ln>
                  <a:noFill/>
                </a:ln>
                <a:solidFill>
                  <a:srgbClr val="D4EDDA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La aceptación probabilística SA (T₀=0.02) contribuye activamente en instancias pequeñas: ft06 registró más de 7,500 soluciones peores aceptadas, permitiendo escapar de óptimos locales que una búsqueda estrictamente greedy no abandona.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FF4EEC-93AA-CACA-4195-53A346BB7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B85D3F8-F758-8785-A1FC-CAEFB3E70EB2}"/>
              </a:ext>
            </a:extLst>
          </p:cNvPr>
          <p:cNvSpPr/>
          <p:nvPr/>
        </p:nvSpPr>
        <p:spPr>
          <a:xfrm>
            <a:off x="365760" y="227457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660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7894983D-A159-3866-8708-A6366DA48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1034" y="-104502"/>
            <a:ext cx="1123405" cy="540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217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3273</Words>
  <Application>Microsoft Office PowerPoint</Application>
  <PresentationFormat>Presentación en pantalla (16:9)</PresentationFormat>
  <Paragraphs>1050</Paragraphs>
  <Slides>23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Búsqueda Local — NWJSSP</dc:title>
  <dc:subject>PptxGenJS Presentation</dc:subject>
  <dc:creator>Nicolás Peña</dc:creator>
  <cp:lastModifiedBy>Nicolas Peña Jaramillo</cp:lastModifiedBy>
  <cp:revision>14</cp:revision>
  <dcterms:created xsi:type="dcterms:W3CDTF">2026-04-21T23:18:54Z</dcterms:created>
  <dcterms:modified xsi:type="dcterms:W3CDTF">2026-05-04T19:47:25Z</dcterms:modified>
</cp:coreProperties>
</file>